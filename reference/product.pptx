
<file path=[Content_Types].xml><?xml version="1.0" encoding="utf-8"?>
<Types xmlns="http://schemas.openxmlformats.org/package/2006/content-types">
  <Default ContentType="application/vnd.openxmlformats-officedocument.spreadsheetml.sheet" Extension="xlsx"/>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jGAoheN/EqsF9OVEvMaTo/7/M5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0F36C2E-0004-4DC9-A81D-5D709A412D0E}">
  <a:tblStyle styleId="{B0F36C2E-0004-4DC9-A81D-5D709A412D0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2B3038"/>
                </a:solidFill>
                <a:latin typeface="Calibri"/>
              </a:defRPr>
            </a:pPr>
            <a:r>
              <a:rPr sz="1150" b="0" i="0" u="none" strike="noStrike">
                <a:solidFill>
                  <a:srgbClr val="2B3038"/>
                </a:solidFill>
                <a:latin typeface="Calibri"/>
              </a:rPr>
              <a:t>Sample scan: manufacturing org, 190,842 records, full history</a:t>
            </a:r>
          </a:p>
        </c:rich>
      </c:tx>
      <c:layout/>
      <c:overlay val="0"/>
    </c:title>
    <c:autoTitleDeleted val="0"/>
    <c:plotArea>
      <c:layout/>
      <c:barChart>
        <c:barDir val="bar"/>
        <c:grouping val="clustered"/>
        <c:varyColors val="0"/>
        <c:ser>
          <c:idx val="0"/>
          <c:order val="0"/>
          <c:tx>
            <c:strRef>
              <c:f>Sheet1!$B$1</c:f>
              <c:strCache>
                <c:ptCount val="1"/>
                <c:pt idx="0">
                  <c:v>Domain score</c:v>
                </c:pt>
              </c:strCache>
            </c:strRef>
          </c:tx>
          <c:spPr>
            <a:solidFill>
              <a:srgbClr val="046B73"/>
            </a:solidFill>
            <a:effectLst/>
          </c:spPr>
          <c:invertIfNegative val="0"/>
          <c:dLbls>
            <c:numFmt formatCode="#,##0" sourceLinked="0"/>
            <c:txPr>
              <a:bodyPr/>
              <a:lstStyle/>
              <a:p>
                <a:pPr>
                  <a:defRPr b="0" i="0" strike="noStrike" sz="950" u="none">
                    <a:solidFill>
                      <a:srgbClr val="2B3038"/>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Automation health</c:v>
                  </c:pt>
                  <c:pt idx="1">
                    <c:v>PII and access</c:v>
                  </c:pt>
                  <c:pt idx="2">
                    <c:v>Config hygiene</c:v>
                  </c:pt>
                  <c:pt idx="3">
                    <c:v>Referential integrity</c:v>
                  </c:pt>
                  <c:pt idx="4">
                    <c:v>Freshness</c:v>
                  </c:pt>
                  <c:pt idx="5">
                    <c:v>Plausibility</c:v>
                  </c:pt>
                  <c:pt idx="6">
                    <c:v>Validity</c:v>
                  </c:pt>
                  <c:pt idx="7">
                    <c:v>Duplication</c:v>
                  </c:pt>
                  <c:pt idx="8">
                    <c:v>Completeness</c:v>
                  </c:pt>
                </c:lvl>
              </c:multiLvlStrCache>
            </c:multiLvlStrRef>
          </c:cat>
          <c:val>
            <c:numRef>
              <c:f>Sheet1!$B$2:$B$10</c:f>
              <c:numCache>
                <c:formatCode>General</c:formatCode>
                <c:ptCount val="9"/>
                <c:pt idx="0">
                  <c:v>71</c:v>
                </c:pt>
                <c:pt idx="1">
                  <c:v>44</c:v>
                </c:pt>
                <c:pt idx="2">
                  <c:v>38</c:v>
                </c:pt>
                <c:pt idx="3">
                  <c:v>66</c:v>
                </c:pt>
                <c:pt idx="4">
                  <c:v>41</c:v>
                </c:pt>
                <c:pt idx="5">
                  <c:v>57</c:v>
                </c:pt>
                <c:pt idx="6">
                  <c:v>78</c:v>
                </c:pt>
                <c:pt idx="7">
                  <c:v>34</c:v>
                </c:pt>
                <c:pt idx="8">
                  <c:v>58</c:v>
                </c:pt>
              </c:numCache>
            </c:numRef>
          </c:val>
        </c:ser>
        <c:dLbls>
          <c:numFmt formatCode="#,##0" sourceLinked="0"/>
          <c:txPr>
            <a:bodyPr/>
            <a:lstStyle/>
            <a:p>
              <a:pPr>
                <a:defRPr b="0" i="0" strike="noStrike" sz="950" u="none">
                  <a:solidFill>
                    <a:srgbClr val="2B3038"/>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2B3038"/>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EDEF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9AA3AD"/>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046B73"/>
              </a:solidFill>
              <a:ln w="9525" cap="flat">
                <a:solidFill>
                  <a:srgbClr val="FFFFFF"/>
                </a:solidFill>
                <a:prstDash val="solid"/>
                <a:round/>
              </a:ln>
              <a:effectLst/>
            </c:spPr>
          </c:dPt>
          <c:dPt>
            <c:idx val="1"/>
            <c:bubble3D val="0"/>
            <c:spPr>
              <a:solidFill>
                <a:srgbClr val="E8EBEE"/>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Gap</c:v>
                </c:pt>
              </c:strCache>
            </c:strRef>
          </c:cat>
          <c:val>
            <c:numRef>
              <c:f>Sheet1!$B$2:$B$3</c:f>
              <c:numCache>
                <c:ptCount val="2"/>
                <c:pt idx="0">
                  <c:v>53</c:v>
                </c:pt>
                <c:pt idx="1">
                  <c:v>47</c:v>
                </c:pt>
              </c:numCache>
            </c:numRef>
          </c:val>
        </c:ser>
        <c:firstSliceAng val="0"/>
        <c:holeSize val="68"/>
      </c:doughnutChart>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Created in month</c:v>
                </c:pt>
              </c:strCache>
            </c:strRef>
          </c:tx>
          <c:spPr>
            <a:solidFill>
              <a:srgbClr val="046B73"/>
            </a:solidFill>
            <a:ln w="31750" cap="flat">
              <a:solidFill>
                <a:srgbClr val="046B7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46B73"/>
              </a:solidFill>
              <a:ln w="9525" cap="flat">
                <a:solidFill>
                  <a:srgbClr val="046B73"/>
                </a:solidFill>
                <a:prstDash val="solid"/>
                <a:round/>
              </a:ln>
              <a:effectLst/>
            </c:spPr>
          </c:marker>
          <c:cat>
            <c:multiLvlStrRef>
              <c:f>Sheet1!$A$2:$A$9</c:f>
              <c:multiLvlStrCache>
                <c:ptCount val="8"/>
                <c:lvl>
                  <c:pt idx="0">
                    <c:v>Jan</c:v>
                  </c:pt>
                  <c:pt idx="1">
                    <c:v>Feb</c:v>
                  </c:pt>
                  <c:pt idx="2">
                    <c:v>Mar</c:v>
                  </c:pt>
                  <c:pt idx="3">
                    <c:v>Apr</c:v>
                  </c:pt>
                  <c:pt idx="4">
                    <c:v>May</c:v>
                  </c:pt>
                  <c:pt idx="5">
                    <c:v>Jun</c:v>
                  </c:pt>
                  <c:pt idx="6">
                    <c:v>Jul</c:v>
                  </c:pt>
                  <c:pt idx="7">
                    <c:v>Aug</c:v>
                  </c:pt>
                </c:lvl>
              </c:multiLvlStrCache>
            </c:multiLvlStrRef>
          </c:cat>
          <c:val>
            <c:numRef>
              <c:f>Sheet1!$B$2:$B$9</c:f>
              <c:numCache>
                <c:formatCode>General</c:formatCode>
                <c:ptCount val="8"/>
                <c:pt idx="0">
                  <c:v>39</c:v>
                </c:pt>
                <c:pt idx="1">
                  <c:v>42</c:v>
                </c:pt>
                <c:pt idx="2">
                  <c:v>41</c:v>
                </c:pt>
                <c:pt idx="3">
                  <c:v>47</c:v>
                </c:pt>
                <c:pt idx="4">
                  <c:v>44</c:v>
                </c:pt>
                <c:pt idx="5">
                  <c:v>51</c:v>
                </c:pt>
                <c:pt idx="6">
                  <c:v>58</c:v>
                </c:pt>
                <c:pt idx="7">
                  <c:v>61</c:v>
                </c:pt>
              </c:numCache>
            </c:numRef>
          </c:val>
          <c:smooth val="0"/>
        </c:ser>
        <c:ser>
          <c:idx val="1"/>
          <c:order val="1"/>
          <c:tx>
            <c:strRef>
              <c:f>Sheet1!$C$1</c:f>
              <c:strCache>
                <c:ptCount val="1"/>
                <c:pt idx="0">
                  <c:v>Modified in month</c:v>
                </c:pt>
              </c:strCache>
            </c:strRef>
          </c:tx>
          <c:spPr>
            <a:solidFill>
              <a:srgbClr val="D9A55B"/>
            </a:solidFill>
            <a:ln w="31750" cap="flat">
              <a:solidFill>
                <a:srgbClr val="D9A5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A55B"/>
              </a:solidFill>
              <a:ln w="9525" cap="flat">
                <a:solidFill>
                  <a:srgbClr val="D9A55B"/>
                </a:solidFill>
                <a:prstDash val="solid"/>
                <a:round/>
              </a:ln>
              <a:effectLst/>
            </c:spPr>
          </c:marker>
          <c:cat>
            <c:multiLvlStrRef>
              <c:f>Sheet1!$A$2:$A$9</c:f>
              <c:multiLvlStrCache>
                <c:ptCount val="8"/>
                <c:lvl>
                  <c:pt idx="0">
                    <c:v>Jan</c:v>
                  </c:pt>
                  <c:pt idx="1">
                    <c:v>Feb</c:v>
                  </c:pt>
                  <c:pt idx="2">
                    <c:v>Mar</c:v>
                  </c:pt>
                  <c:pt idx="3">
                    <c:v>Apr</c:v>
                  </c:pt>
                  <c:pt idx="4">
                    <c:v>May</c:v>
                  </c:pt>
                  <c:pt idx="5">
                    <c:v>Jun</c:v>
                  </c:pt>
                  <c:pt idx="6">
                    <c:v>Jul</c:v>
                  </c:pt>
                  <c:pt idx="7">
                    <c:v>Aug</c:v>
                  </c:pt>
                </c:lvl>
              </c:multiLvlStrCache>
            </c:multiLvlStrRef>
          </c:cat>
          <c:val>
            <c:numRef>
              <c:f>Sheet1!$C$2:$C$9</c:f>
              <c:numCache>
                <c:formatCode>General</c:formatCode>
                <c:ptCount val="8"/>
                <c:pt idx="0">
                  <c:v>46</c:v>
                </c:pt>
                <c:pt idx="1">
                  <c:v>47</c:v>
                </c:pt>
                <c:pt idx="2">
                  <c:v>48</c:v>
                </c:pt>
                <c:pt idx="3">
                  <c:v>49</c:v>
                </c:pt>
                <c:pt idx="4">
                  <c:v>51</c:v>
                </c:pt>
                <c:pt idx="5">
                  <c:v>53</c:v>
                </c:pt>
                <c:pt idx="6">
                  <c:v>55</c:v>
                </c:pt>
                <c:pt idx="7">
                  <c:v>57</c:v>
                </c:pt>
              </c:numCache>
            </c:numRef>
          </c:val>
          <c:smooth val="0"/>
        </c:ser>
        <c:ser>
          <c:idx val="2"/>
          <c:order val="2"/>
          <c:tx>
            <c:strRef>
              <c:f>Sheet1!$D$1</c:f>
              <c:strCache>
                <c:ptCount val="1"/>
                <c:pt idx="0">
                  <c:v>Whole org, all history</c:v>
                </c:pt>
              </c:strCache>
            </c:strRef>
          </c:tx>
          <c:spPr>
            <a:solidFill>
              <a:srgbClr val="AEB5BC"/>
            </a:solidFill>
            <a:ln w="31750" cap="flat">
              <a:solidFill>
                <a:srgbClr val="AEB5B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AEB5BC"/>
              </a:solidFill>
              <a:ln w="9525" cap="flat">
                <a:solidFill>
                  <a:srgbClr val="AEB5BC"/>
                </a:solidFill>
                <a:prstDash val="solid"/>
                <a:round/>
              </a:ln>
              <a:effectLst/>
            </c:spPr>
          </c:marker>
          <c:cat>
            <c:multiLvlStrRef>
              <c:f>Sheet1!$A$2:$A$9</c:f>
              <c:multiLvlStrCache>
                <c:ptCount val="8"/>
                <c:lvl>
                  <c:pt idx="0">
                    <c:v>Jan</c:v>
                  </c:pt>
                  <c:pt idx="1">
                    <c:v>Feb</c:v>
                  </c:pt>
                  <c:pt idx="2">
                    <c:v>Mar</c:v>
                  </c:pt>
                  <c:pt idx="3">
                    <c:v>Apr</c:v>
                  </c:pt>
                  <c:pt idx="4">
                    <c:v>May</c:v>
                  </c:pt>
                  <c:pt idx="5">
                    <c:v>Jun</c:v>
                  </c:pt>
                  <c:pt idx="6">
                    <c:v>Jul</c:v>
                  </c:pt>
                  <c:pt idx="7">
                    <c:v>Aug</c:v>
                  </c:pt>
                </c:lvl>
              </c:multiLvlStrCache>
            </c:multiLvlStrRef>
          </c:cat>
          <c:val>
            <c:numRef>
              <c:f>Sheet1!$D$2:$D$9</c:f>
              <c:numCache>
                <c:formatCode>General</c:formatCode>
                <c:ptCount val="8"/>
                <c:pt idx="0">
                  <c:v>48</c:v>
                </c:pt>
                <c:pt idx="1">
                  <c:v>48</c:v>
                </c:pt>
                <c:pt idx="2">
                  <c:v>49</c:v>
                </c:pt>
                <c:pt idx="3">
                  <c:v>49</c:v>
                </c:pt>
                <c:pt idx="4">
                  <c:v>50</c:v>
                </c:pt>
                <c:pt idx="5">
                  <c:v>51</c:v>
                </c:pt>
                <c:pt idx="6">
                  <c:v>51</c:v>
                </c:pt>
                <c:pt idx="7">
                  <c:v>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2B3038"/>
                </a:solidFill>
                <a:latin typeface="Calibri"/>
              </a:defRPr>
            </a:pPr>
            <a:endParaRPr lang="en-US"/>
          </a:p>
        </c:txPr>
        <c:crossAx val="2094734552"/>
        <c:crosses val="autoZero"/>
        <c:auto val="1"/>
        <c:lblAlgn val="ctr"/>
        <c:noMultiLvlLbl val="1"/>
      </c:catAx>
      <c:valAx>
        <c:axId val="2094734552"/>
        <c:scaling>
          <c:orientation val="minMax"/>
          <c:max val="80"/>
          <c:min val="20"/>
        </c:scaling>
        <c:delete val="0"/>
        <c:axPos val="l"/>
        <c:majorGridlines>
          <c:spPr>
            <a:ln w="9525" cap="flat">
              <a:solidFill>
                <a:srgbClr val="EDEF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50" b="0" i="0" u="none" strike="noStrike">
                <a:solidFill>
                  <a:srgbClr val="9AA3AD"/>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800">
              <a:solidFill>
                <a:srgbClr val="2B3038"/>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0" name="Google Shape;93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1" name="Google Shape;93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1" name="Google Shape;114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2" name="Google Shape;114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8" name="Google Shape;122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9" name="Google Shape;122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2" name="Google Shape;136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3" name="Google Shape;136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3" name="Google Shape;149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4" name="Google Shape;149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1" name="Google Shape;158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2" name="Google Shape;158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3" name="Google Shape;159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4" name="Google Shape;159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7" name="Google Shape;162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8" name="Google Shape;162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6" name="Shape 1666"/>
        <p:cNvGrpSpPr/>
        <p:nvPr/>
      </p:nvGrpSpPr>
      <p:grpSpPr>
        <a:xfrm>
          <a:off x="0" y="0"/>
          <a:ext cx="0" cy="0"/>
          <a:chOff x="0" y="0"/>
          <a:chExt cx="0" cy="0"/>
        </a:xfrm>
      </p:grpSpPr>
      <p:sp>
        <p:nvSpPr>
          <p:cNvPr id="1667" name="Google Shape;166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8" name="Google Shape;166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9" name="Google Shape;166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2" name="Shape 1712"/>
        <p:cNvGrpSpPr/>
        <p:nvPr/>
      </p:nvGrpSpPr>
      <p:grpSpPr>
        <a:xfrm>
          <a:off x="0" y="0"/>
          <a:ext cx="0" cy="0"/>
          <a:chOff x="0" y="0"/>
          <a:chExt cx="0" cy="0"/>
        </a:xfrm>
      </p:grpSpPr>
      <p:sp>
        <p:nvSpPr>
          <p:cNvPr id="1713" name="Google Shape;171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4" name="Google Shape;171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5" name="Google Shape;171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6" name="Google Shape;172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7" name="Google Shape;172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6" name="Shape 1746"/>
        <p:cNvGrpSpPr/>
        <p:nvPr/>
      </p:nvGrpSpPr>
      <p:grpSpPr>
        <a:xfrm>
          <a:off x="0" y="0"/>
          <a:ext cx="0" cy="0"/>
          <a:chOff x="0" y="0"/>
          <a:chExt cx="0" cy="0"/>
        </a:xfrm>
      </p:grpSpPr>
      <p:sp>
        <p:nvSpPr>
          <p:cNvPr id="1747" name="Google Shape;174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8" name="Google Shape;174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9" name="Google Shape;1749;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7" name="Shape 1797"/>
        <p:cNvGrpSpPr/>
        <p:nvPr/>
      </p:nvGrpSpPr>
      <p:grpSpPr>
        <a:xfrm>
          <a:off x="0" y="0"/>
          <a:ext cx="0" cy="0"/>
          <a:chOff x="0" y="0"/>
          <a:chExt cx="0" cy="0"/>
        </a:xfrm>
      </p:grpSpPr>
      <p:sp>
        <p:nvSpPr>
          <p:cNvPr id="1798" name="Google Shape;179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9" name="Google Shape;179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0" name="Google Shape;180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9" name="Shape 1839"/>
        <p:cNvGrpSpPr/>
        <p:nvPr/>
      </p:nvGrpSpPr>
      <p:grpSpPr>
        <a:xfrm>
          <a:off x="0" y="0"/>
          <a:ext cx="0" cy="0"/>
          <a:chOff x="0" y="0"/>
          <a:chExt cx="0" cy="0"/>
        </a:xfrm>
      </p:grpSpPr>
      <p:sp>
        <p:nvSpPr>
          <p:cNvPr id="1840" name="Google Shape;184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1" name="Google Shape;184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2" name="Google Shape;184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9" name="Shape 1849"/>
        <p:cNvGrpSpPr/>
        <p:nvPr/>
      </p:nvGrpSpPr>
      <p:grpSpPr>
        <a:xfrm>
          <a:off x="0" y="0"/>
          <a:ext cx="0" cy="0"/>
          <a:chOff x="0" y="0"/>
          <a:chExt cx="0" cy="0"/>
        </a:xfrm>
      </p:grpSpPr>
      <p:sp>
        <p:nvSpPr>
          <p:cNvPr id="1850" name="Google Shape;185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1" name="Google Shape;185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2" name="Google Shape;185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hart" Target="../charts/char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A30"/>
        </a:solidFill>
      </p:bgPr>
    </p:bg>
    <p:spTree>
      <p:nvGrpSpPr>
        <p:cNvPr id="15" name="Shape 15"/>
        <p:cNvGrpSpPr/>
        <p:nvPr/>
      </p:nvGrpSpPr>
      <p:grpSpPr>
        <a:xfrm>
          <a:off x="0" y="0"/>
          <a:ext cx="0" cy="0"/>
          <a:chOff x="0" y="0"/>
          <a:chExt cx="0" cy="0"/>
        </a:xfrm>
      </p:grpSpPr>
      <p:sp>
        <p:nvSpPr>
          <p:cNvPr id="16" name="Google Shape;16;p1"/>
          <p:cNvSpPr/>
          <p:nvPr/>
        </p:nvSpPr>
        <p:spPr>
          <a:xfrm>
            <a:off x="9692640" y="685800"/>
            <a:ext cx="1874520" cy="1874520"/>
          </a:xfrm>
          <a:prstGeom prst="roundRect">
            <a:avLst>
              <a:gd fmla="val 7805"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9692640" y="685800"/>
            <a:ext cx="1874520" cy="1874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5600"/>
              <a:buFont typeface="Cambria"/>
              <a:buNone/>
            </a:pPr>
            <a:r>
              <a:rPr b="1" i="0" lang="en-US" sz="5600" u="none" cap="none" strike="noStrike">
                <a:solidFill>
                  <a:srgbClr val="FFFFFF"/>
                </a:solidFill>
                <a:latin typeface="Cambria"/>
                <a:ea typeface="Cambria"/>
                <a:cs typeface="Cambria"/>
                <a:sym typeface="Cambria"/>
              </a:rPr>
              <a:t>01</a:t>
            </a:r>
            <a:endParaRPr b="0" i="0" sz="5600" u="none" cap="none" strike="noStrike">
              <a:solidFill>
                <a:schemeClr val="dk1"/>
              </a:solidFill>
              <a:latin typeface="Calibri"/>
              <a:ea typeface="Calibri"/>
              <a:cs typeface="Calibri"/>
              <a:sym typeface="Calibri"/>
            </a:endParaRPr>
          </a:p>
        </p:txBody>
      </p:sp>
      <p:sp>
        <p:nvSpPr>
          <p:cNvPr id="18" name="Google Shape;18;p1"/>
          <p:cNvSpPr/>
          <p:nvPr/>
        </p:nvSpPr>
        <p:spPr>
          <a:xfrm>
            <a:off x="9692640" y="2670048"/>
            <a:ext cx="18745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FE4E6"/>
              </a:buClr>
              <a:buSzPts val="1000"/>
              <a:buFont typeface="Calibri"/>
              <a:buNone/>
            </a:pPr>
            <a:r>
              <a:rPr b="0" i="0" lang="en-US" sz="1000" u="none" cap="none" strike="noStrike">
                <a:solidFill>
                  <a:srgbClr val="CFE4E6"/>
                </a:solidFill>
                <a:latin typeface="Calibri"/>
                <a:ea typeface="Calibri"/>
                <a:cs typeface="Calibri"/>
                <a:sym typeface="Calibri"/>
              </a:rPr>
              <a:t>ACCELERATOR  ·  v2</a:t>
            </a:r>
            <a:endParaRPr b="0" i="0" sz="1000" u="none" cap="none" strike="noStrike">
              <a:solidFill>
                <a:schemeClr val="dk1"/>
              </a:solidFill>
              <a:latin typeface="Calibri"/>
              <a:ea typeface="Calibri"/>
              <a:cs typeface="Calibri"/>
              <a:sym typeface="Calibri"/>
            </a:endParaRPr>
          </a:p>
        </p:txBody>
      </p:sp>
      <p:sp>
        <p:nvSpPr>
          <p:cNvPr id="19" name="Google Shape;19;p1"/>
          <p:cNvSpPr/>
          <p:nvPr/>
        </p:nvSpPr>
        <p:spPr>
          <a:xfrm>
            <a:off x="566928" y="914400"/>
            <a:ext cx="8595360"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B8BD"/>
              </a:buClr>
              <a:buSzPts val="1200"/>
              <a:buFont typeface="Calibri"/>
              <a:buNone/>
            </a:pPr>
            <a:r>
              <a:rPr b="1" i="0" lang="en-US" sz="1200" u="none" cap="none" strike="noStrike">
                <a:solidFill>
                  <a:srgbClr val="7FB8BD"/>
                </a:solidFill>
                <a:latin typeface="Calibri"/>
                <a:ea typeface="Calibri"/>
                <a:cs typeface="Calibri"/>
                <a:sym typeface="Calibri"/>
              </a:rPr>
              <a:t>FI DIGITAL  ·  DATA &amp; AI ACCELERATOR PROGRAMME</a:t>
            </a:r>
            <a:endParaRPr b="0" i="0" sz="1200" u="none" cap="none" strike="noStrike">
              <a:solidFill>
                <a:schemeClr val="dk1"/>
              </a:solidFill>
              <a:latin typeface="Calibri"/>
              <a:ea typeface="Calibri"/>
              <a:cs typeface="Calibri"/>
              <a:sym typeface="Calibri"/>
            </a:endParaRPr>
          </a:p>
        </p:txBody>
      </p:sp>
      <p:sp>
        <p:nvSpPr>
          <p:cNvPr id="20" name="Google Shape;20;p1"/>
          <p:cNvSpPr/>
          <p:nvPr/>
        </p:nvSpPr>
        <p:spPr>
          <a:xfrm>
            <a:off x="566928" y="1325880"/>
            <a:ext cx="877824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Zoho Data Health</a:t>
            </a:r>
            <a:endParaRPr b="0" i="0" sz="4400" u="none" cap="none" strike="noStrike">
              <a:solidFill>
                <a:schemeClr val="dk1"/>
              </a:solidFill>
              <a:latin typeface="Calibri"/>
              <a:ea typeface="Calibri"/>
              <a:cs typeface="Calibri"/>
              <a:sym typeface="Calibri"/>
            </a:endParaRPr>
          </a:p>
          <a:p>
            <a:pPr indent="0" lvl="0" marL="0" marR="0" rtl="0" algn="l">
              <a:lnSpc>
                <a:spcPct val="95000"/>
              </a:lnSpc>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Scanner</a:t>
            </a:r>
            <a:endParaRPr b="0" i="0" sz="4400" u="none" cap="none" strike="noStrike">
              <a:solidFill>
                <a:schemeClr val="dk1"/>
              </a:solidFill>
              <a:latin typeface="Calibri"/>
              <a:ea typeface="Calibri"/>
              <a:cs typeface="Calibri"/>
              <a:sym typeface="Calibri"/>
            </a:endParaRPr>
          </a:p>
        </p:txBody>
      </p:sp>
      <p:sp>
        <p:nvSpPr>
          <p:cNvPr id="21" name="Google Shape;21;p1"/>
          <p:cNvSpPr/>
          <p:nvPr/>
        </p:nvSpPr>
        <p:spPr>
          <a:xfrm>
            <a:off x="566928" y="2834640"/>
            <a:ext cx="8595360" cy="100584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CFE4E6"/>
              </a:buClr>
              <a:buSzPts val="1550"/>
              <a:buFont typeface="Calibri"/>
              <a:buNone/>
            </a:pPr>
            <a:r>
              <a:rPr b="0" i="0" lang="en-US" sz="1550" u="none" cap="none" strike="noStrike">
                <a:solidFill>
                  <a:srgbClr val="CFE4E6"/>
                </a:solidFill>
                <a:latin typeface="Calibri"/>
                <a:ea typeface="Calibri"/>
                <a:cs typeface="Calibri"/>
                <a:sym typeface="Calibri"/>
              </a:rPr>
              <a:t>Scores any client Zoho org across three lenses at once. Which module is failing, which user is</a:t>
            </a:r>
            <a:endParaRPr b="0" i="0" sz="155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CFE4E6"/>
              </a:buClr>
              <a:buSzPts val="1550"/>
              <a:buFont typeface="Calibri"/>
              <a:buNone/>
            </a:pPr>
            <a:r>
              <a:rPr b="0" i="0" lang="en-US" sz="1550" u="none" cap="none" strike="noStrike">
                <a:solidFill>
                  <a:srgbClr val="CFE4E6"/>
                </a:solidFill>
                <a:latin typeface="Calibri"/>
                <a:ea typeface="Calibri"/>
                <a:cs typeface="Calibri"/>
                <a:sym typeface="Calibri"/>
              </a:rPr>
              <a:t>causing it, and whether the data being created this month is better or worse than last month.</a:t>
            </a:r>
            <a:endParaRPr b="0" i="0" sz="1550" u="none" cap="none" strike="noStrike">
              <a:solidFill>
                <a:schemeClr val="dk1"/>
              </a:solidFill>
              <a:latin typeface="Calibri"/>
              <a:ea typeface="Calibri"/>
              <a:cs typeface="Calibri"/>
              <a:sym typeface="Calibri"/>
            </a:endParaRPr>
          </a:p>
        </p:txBody>
      </p:sp>
      <p:sp>
        <p:nvSpPr>
          <p:cNvPr id="22" name="Google Shape;22;p1"/>
          <p:cNvSpPr/>
          <p:nvPr/>
        </p:nvSpPr>
        <p:spPr>
          <a:xfrm>
            <a:off x="566928" y="5989320"/>
            <a:ext cx="11057839"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B8BD"/>
              </a:buClr>
              <a:buSzPts val="1100"/>
              <a:buFont typeface="Calibri"/>
              <a:buNone/>
            </a:pPr>
            <a:r>
              <a:rPr b="0" i="0" lang="en-US" sz="1100" u="none" cap="none" strike="noStrike">
                <a:solidFill>
                  <a:srgbClr val="7FB8BD"/>
                </a:solidFill>
                <a:latin typeface="Calibri"/>
                <a:ea typeface="Calibri"/>
                <a:cs typeface="Calibri"/>
                <a:sym typeface="Calibri"/>
              </a:rPr>
              <a:t>Prepared for internal build approval  ·  Owner: Platform &amp; DevOps  ·  Review gate: CTO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2"/>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What is new in this version</a:t>
            </a:r>
            <a:endParaRPr b="0" i="0" sz="3000" u="none" cap="none" strike="noStrike">
              <a:solidFill>
                <a:schemeClr val="dk1"/>
              </a:solidFill>
              <a:latin typeface="Calibri"/>
              <a:ea typeface="Calibri"/>
              <a:cs typeface="Calibri"/>
              <a:sym typeface="Calibri"/>
            </a:endParaRPr>
          </a:p>
        </p:txBody>
      </p:sp>
      <p:sp>
        <p:nvSpPr>
          <p:cNvPr id="29" name="Google Shape;29;p2"/>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Version one produced an org score. Version two produces accountability, which is what actually gets things fixed.</a:t>
            </a:r>
            <a:endParaRPr b="0" i="0" sz="1350" u="none" cap="none" strike="noStrike">
              <a:solidFill>
                <a:schemeClr val="dk1"/>
              </a:solidFill>
              <a:latin typeface="Calibri"/>
              <a:ea typeface="Calibri"/>
              <a:cs typeface="Calibri"/>
              <a:sym typeface="Calibri"/>
            </a:endParaRPr>
          </a:p>
        </p:txBody>
      </p:sp>
      <p:sp>
        <p:nvSpPr>
          <p:cNvPr id="30" name="Google Shape;30;p2"/>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31" name="Google Shape;31;p2"/>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2</a:t>
            </a:r>
            <a:endParaRPr b="0" i="0" sz="950" u="none" cap="none" strike="noStrike">
              <a:solidFill>
                <a:schemeClr val="dk1"/>
              </a:solidFill>
              <a:latin typeface="Calibri"/>
              <a:ea typeface="Calibri"/>
              <a:cs typeface="Calibri"/>
              <a:sym typeface="Calibri"/>
            </a:endParaRPr>
          </a:p>
        </p:txBody>
      </p:sp>
      <p:sp>
        <p:nvSpPr>
          <p:cNvPr id="32" name="Google Shape;32;p2"/>
          <p:cNvSpPr/>
          <p:nvPr/>
        </p:nvSpPr>
        <p:spPr>
          <a:xfrm>
            <a:off x="566928" y="1481328"/>
            <a:ext cx="3539642" cy="2011680"/>
          </a:xfrm>
          <a:prstGeom prst="roundRect">
            <a:avLst>
              <a:gd fmla="val 4091"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786384" y="1664208"/>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786384" y="1664208"/>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35" name="Google Shape;35;p2"/>
          <p:cNvSpPr/>
          <p:nvPr/>
        </p:nvSpPr>
        <p:spPr>
          <a:xfrm>
            <a:off x="786384" y="2176272"/>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Record state model</a:t>
            </a:r>
            <a:endParaRPr b="0" i="0" sz="1500" u="none" cap="none" strike="noStrike">
              <a:solidFill>
                <a:schemeClr val="dk1"/>
              </a:solidFill>
              <a:latin typeface="Calibri"/>
              <a:ea typeface="Calibri"/>
              <a:cs typeface="Calibri"/>
              <a:sym typeface="Calibri"/>
            </a:endParaRPr>
          </a:p>
        </p:txBody>
      </p:sp>
      <p:sp>
        <p:nvSpPr>
          <p:cNvPr id="36" name="Google Shape;36;p2"/>
          <p:cNvSpPr/>
          <p:nvPr/>
        </p:nvSpPr>
        <p:spPr>
          <a:xfrm>
            <a:off x="786384" y="2670048"/>
            <a:ext cx="3100730"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Every record classified into one of six states rather than counted against a rule. The whole product is built on this one idea.</a:t>
            </a:r>
            <a:endParaRPr b="0" i="0" sz="1150" u="none" cap="none" strike="noStrike">
              <a:solidFill>
                <a:schemeClr val="dk1"/>
              </a:solidFill>
              <a:latin typeface="Calibri"/>
              <a:ea typeface="Calibri"/>
              <a:cs typeface="Calibri"/>
              <a:sym typeface="Calibri"/>
            </a:endParaRPr>
          </a:p>
        </p:txBody>
      </p:sp>
      <p:sp>
        <p:nvSpPr>
          <p:cNvPr id="37" name="Google Shape;37;p2"/>
          <p:cNvSpPr/>
          <p:nvPr/>
        </p:nvSpPr>
        <p:spPr>
          <a:xfrm>
            <a:off x="4326026" y="1481328"/>
            <a:ext cx="3539642" cy="2011680"/>
          </a:xfrm>
          <a:prstGeom prst="roundRect">
            <a:avLst>
              <a:gd fmla="val 4091"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4545482" y="1664208"/>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4545482" y="1664208"/>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40" name="Google Shape;40;p2"/>
          <p:cNvSpPr/>
          <p:nvPr/>
        </p:nvSpPr>
        <p:spPr>
          <a:xfrm>
            <a:off x="4545482" y="2176272"/>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User lens</a:t>
            </a:r>
            <a:endParaRPr b="0" i="0" sz="1500" u="none" cap="none" strike="noStrike">
              <a:solidFill>
                <a:schemeClr val="dk1"/>
              </a:solidFill>
              <a:latin typeface="Calibri"/>
              <a:ea typeface="Calibri"/>
              <a:cs typeface="Calibri"/>
              <a:sym typeface="Calibri"/>
            </a:endParaRPr>
          </a:p>
        </p:txBody>
      </p:sp>
      <p:sp>
        <p:nvSpPr>
          <p:cNvPr id="41" name="Google Shape;41;p2"/>
          <p:cNvSpPr/>
          <p:nvPr/>
        </p:nvSpPr>
        <p:spPr>
          <a:xfrm>
            <a:off x="4545482" y="2670048"/>
            <a:ext cx="3100730"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Quality attributed to who created a record, who last touched it and who owns it now. Coaching bands rather than a blunt rank order.</a:t>
            </a:r>
            <a:endParaRPr b="0" i="0" sz="1150" u="none" cap="none" strike="noStrike">
              <a:solidFill>
                <a:schemeClr val="dk1"/>
              </a:solidFill>
              <a:latin typeface="Calibri"/>
              <a:ea typeface="Calibri"/>
              <a:cs typeface="Calibri"/>
              <a:sym typeface="Calibri"/>
            </a:endParaRPr>
          </a:p>
        </p:txBody>
      </p:sp>
      <p:sp>
        <p:nvSpPr>
          <p:cNvPr id="42" name="Google Shape;42;p2"/>
          <p:cNvSpPr/>
          <p:nvPr/>
        </p:nvSpPr>
        <p:spPr>
          <a:xfrm>
            <a:off x="8085125" y="1481328"/>
            <a:ext cx="3539642" cy="2011680"/>
          </a:xfrm>
          <a:prstGeom prst="roundRect">
            <a:avLst>
              <a:gd fmla="val 4091"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8304581" y="1664208"/>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8304581" y="1664208"/>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45" name="Google Shape;45;p2"/>
          <p:cNvSpPr/>
          <p:nvPr/>
        </p:nvSpPr>
        <p:spPr>
          <a:xfrm>
            <a:off x="8304581" y="2176272"/>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Module and stage lens</a:t>
            </a:r>
            <a:endParaRPr b="0" i="0" sz="1500" u="none" cap="none" strike="noStrike">
              <a:solidFill>
                <a:schemeClr val="dk1"/>
              </a:solidFill>
              <a:latin typeface="Calibri"/>
              <a:ea typeface="Calibri"/>
              <a:cs typeface="Calibri"/>
              <a:sym typeface="Calibri"/>
            </a:endParaRPr>
          </a:p>
        </p:txBody>
      </p:sp>
      <p:sp>
        <p:nvSpPr>
          <p:cNvPr id="46" name="Google Shape;46;p2"/>
          <p:cNvSpPr/>
          <p:nvPr/>
        </p:nvSpPr>
        <p:spPr>
          <a:xfrm>
            <a:off x="8304581" y="2670048"/>
            <a:ext cx="3100730"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Every module against every domain as a matrix. Rules are stage aware, so a Lead at New is not judged by the bar set for a Lead at Qualified.</a:t>
            </a:r>
            <a:endParaRPr b="0" i="0" sz="1150" u="none" cap="none" strike="noStrike">
              <a:solidFill>
                <a:schemeClr val="dk1"/>
              </a:solidFill>
              <a:latin typeface="Calibri"/>
              <a:ea typeface="Calibri"/>
              <a:cs typeface="Calibri"/>
              <a:sym typeface="Calibri"/>
            </a:endParaRPr>
          </a:p>
        </p:txBody>
      </p:sp>
      <p:sp>
        <p:nvSpPr>
          <p:cNvPr id="47" name="Google Shape;47;p2"/>
          <p:cNvSpPr/>
          <p:nvPr/>
        </p:nvSpPr>
        <p:spPr>
          <a:xfrm>
            <a:off x="566928" y="3712464"/>
            <a:ext cx="3539642" cy="2011680"/>
          </a:xfrm>
          <a:prstGeom prst="roundRect">
            <a:avLst>
              <a:gd fmla="val 4091"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786384" y="3895344"/>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786384" y="3895344"/>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50" name="Google Shape;50;p2"/>
          <p:cNvSpPr/>
          <p:nvPr/>
        </p:nvSpPr>
        <p:spPr>
          <a:xfrm>
            <a:off x="786384" y="4407408"/>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Time lens</a:t>
            </a:r>
            <a:endParaRPr b="0" i="0" sz="1500" u="none" cap="none" strike="noStrike">
              <a:solidFill>
                <a:schemeClr val="dk1"/>
              </a:solidFill>
              <a:latin typeface="Calibri"/>
              <a:ea typeface="Calibri"/>
              <a:cs typeface="Calibri"/>
              <a:sym typeface="Calibri"/>
            </a:endParaRPr>
          </a:p>
        </p:txBody>
      </p:sp>
      <p:sp>
        <p:nvSpPr>
          <p:cNvPr id="51" name="Google Shape;51;p2"/>
          <p:cNvSpPr/>
          <p:nvPr/>
        </p:nvSpPr>
        <p:spPr>
          <a:xfrm>
            <a:off x="786384" y="4901184"/>
            <a:ext cx="3100730"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Any date range. Score only records created inside it, or only those modified inside it, against the prior period.</a:t>
            </a:r>
            <a:endParaRPr b="0" i="0" sz="1150" u="none" cap="none" strike="noStrike">
              <a:solidFill>
                <a:schemeClr val="dk1"/>
              </a:solidFill>
              <a:latin typeface="Calibri"/>
              <a:ea typeface="Calibri"/>
              <a:cs typeface="Calibri"/>
              <a:sym typeface="Calibri"/>
            </a:endParaRPr>
          </a:p>
        </p:txBody>
      </p:sp>
      <p:sp>
        <p:nvSpPr>
          <p:cNvPr id="52" name="Google Shape;52;p2"/>
          <p:cNvSpPr/>
          <p:nvPr/>
        </p:nvSpPr>
        <p:spPr>
          <a:xfrm>
            <a:off x="4326026" y="3712464"/>
            <a:ext cx="3539642" cy="2011680"/>
          </a:xfrm>
          <a:prstGeom prst="roundRect">
            <a:avLst>
              <a:gd fmla="val 4091"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4545482" y="3895344"/>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4545482" y="3895344"/>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55" name="Google Shape;55;p2"/>
          <p:cNvSpPr/>
          <p:nvPr/>
        </p:nvSpPr>
        <p:spPr>
          <a:xfrm>
            <a:off x="4545482" y="4407408"/>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Fix guidance</a:t>
            </a:r>
            <a:endParaRPr b="0" i="0" sz="1500" u="none" cap="none" strike="noStrike">
              <a:solidFill>
                <a:schemeClr val="dk1"/>
              </a:solidFill>
              <a:latin typeface="Calibri"/>
              <a:ea typeface="Calibri"/>
              <a:cs typeface="Calibri"/>
              <a:sym typeface="Calibri"/>
            </a:endParaRPr>
          </a:p>
        </p:txBody>
      </p:sp>
      <p:sp>
        <p:nvSpPr>
          <p:cNvPr id="56" name="Google Shape;56;p2"/>
          <p:cNvSpPr/>
          <p:nvPr/>
        </p:nvSpPr>
        <p:spPr>
          <a:xfrm>
            <a:off x="4545482" y="4901184"/>
            <a:ext cx="3100730"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Every finding carries a named fix, an effort, an owner, a projected score gain and the prevention rule that stops it recurring.</a:t>
            </a:r>
            <a:endParaRPr b="0" i="0" sz="1150" u="none" cap="none" strike="noStrike">
              <a:solidFill>
                <a:schemeClr val="dk1"/>
              </a:solidFill>
              <a:latin typeface="Calibri"/>
              <a:ea typeface="Calibri"/>
              <a:cs typeface="Calibri"/>
              <a:sym typeface="Calibri"/>
            </a:endParaRPr>
          </a:p>
        </p:txBody>
      </p:sp>
      <p:sp>
        <p:nvSpPr>
          <p:cNvPr id="57" name="Google Shape;57;p2"/>
          <p:cNvSpPr/>
          <p:nvPr/>
        </p:nvSpPr>
        <p:spPr>
          <a:xfrm>
            <a:off x="8085125" y="3712464"/>
            <a:ext cx="3539642" cy="2011680"/>
          </a:xfrm>
          <a:prstGeom prst="roundRect">
            <a:avLst>
              <a:gd fmla="val 4091"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8304581" y="3895344"/>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8304581" y="3895344"/>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60" name="Google Shape;60;p2"/>
          <p:cNvSpPr/>
          <p:nvPr/>
        </p:nvSpPr>
        <p:spPr>
          <a:xfrm>
            <a:off x="8304581" y="4407408"/>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Action centre</a:t>
            </a:r>
            <a:endParaRPr b="0" i="0" sz="1500" u="none" cap="none" strike="noStrike">
              <a:solidFill>
                <a:schemeClr val="dk1"/>
              </a:solidFill>
              <a:latin typeface="Calibri"/>
              <a:ea typeface="Calibri"/>
              <a:cs typeface="Calibri"/>
              <a:sym typeface="Calibri"/>
            </a:endParaRPr>
          </a:p>
        </p:txBody>
      </p:sp>
      <p:sp>
        <p:nvSpPr>
          <p:cNvPr id="61" name="Google Shape;61;p2"/>
          <p:cNvSpPr/>
          <p:nvPr/>
        </p:nvSpPr>
        <p:spPr>
          <a:xfrm>
            <a:off x="8304581" y="4901184"/>
            <a:ext cx="3100730"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Mechanical fixes run from inside the tool with a preview and a rollback. The scanner becomes something a consultant works in.</a:t>
            </a:r>
            <a:endParaRPr b="0" i="0" sz="1150" u="none" cap="none" strike="noStrike">
              <a:solidFill>
                <a:schemeClr val="dk1"/>
              </a:solidFill>
              <a:latin typeface="Calibri"/>
              <a:ea typeface="Calibri"/>
              <a:cs typeface="Calibri"/>
              <a:sym typeface="Calibri"/>
            </a:endParaRPr>
          </a:p>
        </p:txBody>
      </p:sp>
      <p:sp>
        <p:nvSpPr>
          <p:cNvPr id="62" name="Google Shape;62;p2"/>
          <p:cNvSpPr/>
          <p:nvPr/>
        </p:nvSpPr>
        <p:spPr>
          <a:xfrm>
            <a:off x="566928" y="5815584"/>
            <a:ext cx="11057839" cy="457200"/>
          </a:xfrm>
          <a:prstGeom prst="roundRect">
            <a:avLst>
              <a:gd fmla="val 12000"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658368" y="5815584"/>
            <a:ext cx="1087495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The change that matters: an org score of 52 is interesting. Knowing that four users created 61 percent of the bad records last quarter is something a sales director can act on before lunch.</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 name="Shape 68"/>
        <p:cNvGrpSpPr/>
        <p:nvPr/>
      </p:nvGrpSpPr>
      <p:grpSpPr>
        <a:xfrm>
          <a:off x="0" y="0"/>
          <a:ext cx="0" cy="0"/>
          <a:chOff x="0" y="0"/>
          <a:chExt cx="0" cy="0"/>
        </a:xfrm>
      </p:grpSpPr>
      <p:sp>
        <p:nvSpPr>
          <p:cNvPr id="69" name="Google Shape;69;p4"/>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The problems it finds, in plain language</a:t>
            </a:r>
            <a:endParaRPr b="0" i="0" sz="3000" u="none" cap="none" strike="noStrike">
              <a:solidFill>
                <a:schemeClr val="dk1"/>
              </a:solidFill>
              <a:latin typeface="Calibri"/>
              <a:ea typeface="Calibri"/>
              <a:cs typeface="Calibri"/>
              <a:sym typeface="Calibri"/>
            </a:endParaRPr>
          </a:p>
        </p:txBody>
      </p:sp>
      <p:sp>
        <p:nvSpPr>
          <p:cNvPr id="70" name="Google Shape;70;p4"/>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Every one of these is something a client feels weekly but cannot name or size.</a:t>
            </a:r>
            <a:endParaRPr b="0" i="0" sz="1350" u="none" cap="none" strike="noStrike">
              <a:solidFill>
                <a:schemeClr val="dk1"/>
              </a:solidFill>
              <a:latin typeface="Calibri"/>
              <a:ea typeface="Calibri"/>
              <a:cs typeface="Calibri"/>
              <a:sym typeface="Calibri"/>
            </a:endParaRPr>
          </a:p>
        </p:txBody>
      </p:sp>
      <p:sp>
        <p:nvSpPr>
          <p:cNvPr id="71" name="Google Shape;71;p4"/>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72" name="Google Shape;72;p4"/>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4</a:t>
            </a:r>
            <a:endParaRPr b="0" i="0" sz="950" u="none" cap="none" strike="noStrike">
              <a:solidFill>
                <a:schemeClr val="dk1"/>
              </a:solidFill>
              <a:latin typeface="Calibri"/>
              <a:ea typeface="Calibri"/>
              <a:cs typeface="Calibri"/>
              <a:sym typeface="Calibri"/>
            </a:endParaRPr>
          </a:p>
        </p:txBody>
      </p:sp>
      <p:sp>
        <p:nvSpPr>
          <p:cNvPr id="73" name="Google Shape;73;p4"/>
          <p:cNvSpPr/>
          <p:nvPr/>
        </p:nvSpPr>
        <p:spPr>
          <a:xfrm>
            <a:off x="566928" y="1517904"/>
            <a:ext cx="3539642" cy="2103120"/>
          </a:xfrm>
          <a:prstGeom prst="roundRect">
            <a:avLst>
              <a:gd fmla="val 3913"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786384" y="1700784"/>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786384" y="1700784"/>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76" name="Google Shape;76;p4"/>
          <p:cNvSpPr/>
          <p:nvPr/>
        </p:nvSpPr>
        <p:spPr>
          <a:xfrm>
            <a:off x="786384" y="2212848"/>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Records that are half filled</a:t>
            </a:r>
            <a:endParaRPr b="0" i="0" sz="1500" u="none" cap="none" strike="noStrike">
              <a:solidFill>
                <a:schemeClr val="dk1"/>
              </a:solidFill>
              <a:latin typeface="Calibri"/>
              <a:ea typeface="Calibri"/>
              <a:cs typeface="Calibri"/>
              <a:sym typeface="Calibri"/>
            </a:endParaRPr>
          </a:p>
        </p:txBody>
      </p:sp>
      <p:sp>
        <p:nvSpPr>
          <p:cNvPr id="77" name="Google Shape;77;p4"/>
          <p:cNvSpPr/>
          <p:nvPr/>
        </p:nvSpPr>
        <p:spPr>
          <a:xfrm>
            <a:off x="786384" y="2706624"/>
            <a:ext cx="3100730" cy="7498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Industry, source, owner and region blank on a third of accounts. Every report built on those fields is quietly wrong.</a:t>
            </a:r>
            <a:endParaRPr b="0" i="0" sz="1150" u="none" cap="none" strike="noStrike">
              <a:solidFill>
                <a:schemeClr val="dk1"/>
              </a:solidFill>
              <a:latin typeface="Calibri"/>
              <a:ea typeface="Calibri"/>
              <a:cs typeface="Calibri"/>
              <a:sym typeface="Calibri"/>
            </a:endParaRPr>
          </a:p>
        </p:txBody>
      </p:sp>
      <p:sp>
        <p:nvSpPr>
          <p:cNvPr id="78" name="Google Shape;78;p4"/>
          <p:cNvSpPr/>
          <p:nvPr/>
        </p:nvSpPr>
        <p:spPr>
          <a:xfrm>
            <a:off x="4326026" y="1517904"/>
            <a:ext cx="3539642" cy="2103120"/>
          </a:xfrm>
          <a:prstGeom prst="roundRect">
            <a:avLst>
              <a:gd fmla="val 3913"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4545482" y="1700784"/>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4545482" y="1700784"/>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81" name="Google Shape;81;p4"/>
          <p:cNvSpPr/>
          <p:nvPr/>
        </p:nvSpPr>
        <p:spPr>
          <a:xfrm>
            <a:off x="4545482" y="2212848"/>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Duplicates nobody can see</a:t>
            </a:r>
            <a:endParaRPr b="0" i="0" sz="1500" u="none" cap="none" strike="noStrike">
              <a:solidFill>
                <a:schemeClr val="dk1"/>
              </a:solidFill>
              <a:latin typeface="Calibri"/>
              <a:ea typeface="Calibri"/>
              <a:cs typeface="Calibri"/>
              <a:sym typeface="Calibri"/>
            </a:endParaRPr>
          </a:p>
        </p:txBody>
      </p:sp>
      <p:sp>
        <p:nvSpPr>
          <p:cNvPr id="82" name="Google Shape;82;p4"/>
          <p:cNvSpPr/>
          <p:nvPr/>
        </p:nvSpPr>
        <p:spPr>
          <a:xfrm>
            <a:off x="4545482" y="2706624"/>
            <a:ext cx="3100730" cy="7498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Same customer as three records with three owners. Forecast double counts, two reps call the same buyer in a week.</a:t>
            </a:r>
            <a:endParaRPr b="0" i="0" sz="1150" u="none" cap="none" strike="noStrike">
              <a:solidFill>
                <a:schemeClr val="dk1"/>
              </a:solidFill>
              <a:latin typeface="Calibri"/>
              <a:ea typeface="Calibri"/>
              <a:cs typeface="Calibri"/>
              <a:sym typeface="Calibri"/>
            </a:endParaRPr>
          </a:p>
        </p:txBody>
      </p:sp>
      <p:sp>
        <p:nvSpPr>
          <p:cNvPr id="83" name="Google Shape;83;p4"/>
          <p:cNvSpPr/>
          <p:nvPr/>
        </p:nvSpPr>
        <p:spPr>
          <a:xfrm>
            <a:off x="8085125" y="1517904"/>
            <a:ext cx="3539642" cy="2103120"/>
          </a:xfrm>
          <a:prstGeom prst="roundRect">
            <a:avLst>
              <a:gd fmla="val 3913"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8304581" y="1700784"/>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8304581" y="1700784"/>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86" name="Google Shape;86;p4"/>
          <p:cNvSpPr/>
          <p:nvPr/>
        </p:nvSpPr>
        <p:spPr>
          <a:xfrm>
            <a:off x="8304581" y="2212848"/>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A pipeline full of ghosts</a:t>
            </a:r>
            <a:endParaRPr b="0" i="0" sz="1500" u="none" cap="none" strike="noStrike">
              <a:solidFill>
                <a:schemeClr val="dk1"/>
              </a:solidFill>
              <a:latin typeface="Calibri"/>
              <a:ea typeface="Calibri"/>
              <a:cs typeface="Calibri"/>
              <a:sym typeface="Calibri"/>
            </a:endParaRPr>
          </a:p>
        </p:txBody>
      </p:sp>
      <p:sp>
        <p:nvSpPr>
          <p:cNvPr id="87" name="Google Shape;87;p4"/>
          <p:cNvSpPr/>
          <p:nvPr/>
        </p:nvSpPr>
        <p:spPr>
          <a:xfrm>
            <a:off x="8304581" y="2706624"/>
            <a:ext cx="3100730" cy="7498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Deals with close dates eighteen months in the past, still open. The forecast number the board sees is fiction.</a:t>
            </a:r>
            <a:endParaRPr b="0" i="0" sz="1150" u="none" cap="none" strike="noStrike">
              <a:solidFill>
                <a:schemeClr val="dk1"/>
              </a:solidFill>
              <a:latin typeface="Calibri"/>
              <a:ea typeface="Calibri"/>
              <a:cs typeface="Calibri"/>
              <a:sym typeface="Calibri"/>
            </a:endParaRPr>
          </a:p>
        </p:txBody>
      </p:sp>
      <p:sp>
        <p:nvSpPr>
          <p:cNvPr id="88" name="Google Shape;88;p4"/>
          <p:cNvSpPr/>
          <p:nvPr/>
        </p:nvSpPr>
        <p:spPr>
          <a:xfrm>
            <a:off x="566928" y="3840480"/>
            <a:ext cx="3539642" cy="2103120"/>
          </a:xfrm>
          <a:prstGeom prst="roundRect">
            <a:avLst>
              <a:gd fmla="val 3913"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786384" y="4023360"/>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786384" y="40233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91" name="Google Shape;91;p4"/>
          <p:cNvSpPr/>
          <p:nvPr/>
        </p:nvSpPr>
        <p:spPr>
          <a:xfrm>
            <a:off x="786384" y="4535424"/>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Data that will not send</a:t>
            </a:r>
            <a:endParaRPr b="0" i="0" sz="1500" u="none" cap="none" strike="noStrike">
              <a:solidFill>
                <a:schemeClr val="dk1"/>
              </a:solidFill>
              <a:latin typeface="Calibri"/>
              <a:ea typeface="Calibri"/>
              <a:cs typeface="Calibri"/>
              <a:sym typeface="Calibri"/>
            </a:endParaRPr>
          </a:p>
        </p:txBody>
      </p:sp>
      <p:sp>
        <p:nvSpPr>
          <p:cNvPr id="92" name="Google Shape;92;p4"/>
          <p:cNvSpPr/>
          <p:nvPr/>
        </p:nvSpPr>
        <p:spPr>
          <a:xfrm>
            <a:off x="786384" y="5029200"/>
            <a:ext cx="3100730" cy="7498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Malformed emails, phone numbers with no country code, invalid GST and PAN. Campaigns bounce, invoices get rejected.</a:t>
            </a:r>
            <a:endParaRPr b="0" i="0" sz="1150" u="none" cap="none" strike="noStrike">
              <a:solidFill>
                <a:schemeClr val="dk1"/>
              </a:solidFill>
              <a:latin typeface="Calibri"/>
              <a:ea typeface="Calibri"/>
              <a:cs typeface="Calibri"/>
              <a:sym typeface="Calibri"/>
            </a:endParaRPr>
          </a:p>
        </p:txBody>
      </p:sp>
      <p:sp>
        <p:nvSpPr>
          <p:cNvPr id="93" name="Google Shape;93;p4"/>
          <p:cNvSpPr/>
          <p:nvPr/>
        </p:nvSpPr>
        <p:spPr>
          <a:xfrm>
            <a:off x="4326026" y="3840480"/>
            <a:ext cx="3539642" cy="2103120"/>
          </a:xfrm>
          <a:prstGeom prst="roundRect">
            <a:avLst>
              <a:gd fmla="val 3913"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4545482" y="4023360"/>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4545482" y="40233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96" name="Google Shape;96;p4"/>
          <p:cNvSpPr/>
          <p:nvPr/>
        </p:nvSpPr>
        <p:spPr>
          <a:xfrm>
            <a:off x="4545482" y="4535424"/>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Records created to satisfy a target</a:t>
            </a:r>
            <a:endParaRPr b="0" i="0" sz="1500" u="none" cap="none" strike="noStrike">
              <a:solidFill>
                <a:schemeClr val="dk1"/>
              </a:solidFill>
              <a:latin typeface="Calibri"/>
              <a:ea typeface="Calibri"/>
              <a:cs typeface="Calibri"/>
              <a:sym typeface="Calibri"/>
            </a:endParaRPr>
          </a:p>
        </p:txBody>
      </p:sp>
      <p:sp>
        <p:nvSpPr>
          <p:cNvPr id="97" name="Google Shape;97;p4"/>
          <p:cNvSpPr/>
          <p:nvPr/>
        </p:nvSpPr>
        <p:spPr>
          <a:xfrm>
            <a:off x="4545482" y="5029200"/>
            <a:ext cx="3100730" cy="7498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Forty leads entered in four minutes with the same phone number. Format valid, entirely fictional. Nobody looks for these.</a:t>
            </a:r>
            <a:endParaRPr b="0" i="0" sz="1150" u="none" cap="none" strike="noStrike">
              <a:solidFill>
                <a:schemeClr val="dk1"/>
              </a:solidFill>
              <a:latin typeface="Calibri"/>
              <a:ea typeface="Calibri"/>
              <a:cs typeface="Calibri"/>
              <a:sym typeface="Calibri"/>
            </a:endParaRPr>
          </a:p>
        </p:txBody>
      </p:sp>
      <p:sp>
        <p:nvSpPr>
          <p:cNvPr id="98" name="Google Shape;98;p4"/>
          <p:cNvSpPr/>
          <p:nvPr/>
        </p:nvSpPr>
        <p:spPr>
          <a:xfrm>
            <a:off x="8085125" y="3840480"/>
            <a:ext cx="3539642" cy="2103120"/>
          </a:xfrm>
          <a:prstGeom prst="roundRect">
            <a:avLst>
              <a:gd fmla="val 3913"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8304581" y="4023360"/>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8304581" y="40233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101" name="Google Shape;101;p4"/>
          <p:cNvSpPr/>
          <p:nvPr/>
        </p:nvSpPr>
        <p:spPr>
          <a:xfrm>
            <a:off x="8304581" y="4535424"/>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Configuration debt</a:t>
            </a:r>
            <a:endParaRPr b="0" i="0" sz="1500" u="none" cap="none" strike="noStrike">
              <a:solidFill>
                <a:schemeClr val="dk1"/>
              </a:solidFill>
              <a:latin typeface="Calibri"/>
              <a:ea typeface="Calibri"/>
              <a:cs typeface="Calibri"/>
              <a:sym typeface="Calibri"/>
            </a:endParaRPr>
          </a:p>
        </p:txBody>
      </p:sp>
      <p:sp>
        <p:nvSpPr>
          <p:cNvPr id="102" name="Google Shape;102;p4"/>
          <p:cNvSpPr/>
          <p:nvPr/>
        </p:nvSpPr>
        <p:spPr>
          <a:xfrm>
            <a:off x="8304581" y="5029200"/>
            <a:ext cx="3100730" cy="7498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Two hundred fields, forty in use. Workflows pointing at deleted users. New joiners cannot find anything.</a:t>
            </a:r>
            <a:endParaRPr b="0" i="0" sz="1150" u="none" cap="none" strike="noStrike">
              <a:solidFill>
                <a:schemeClr val="dk1"/>
              </a:solidFill>
              <a:latin typeface="Calibri"/>
              <a:ea typeface="Calibri"/>
              <a:cs typeface="Calibri"/>
              <a:sym typeface="Calibri"/>
            </a:endParaRPr>
          </a:p>
        </p:txBody>
      </p:sp>
      <p:sp>
        <p:nvSpPr>
          <p:cNvPr id="103" name="Google Shape;103;p4"/>
          <p:cNvSpPr/>
          <p:nvPr/>
        </p:nvSpPr>
        <p:spPr>
          <a:xfrm>
            <a:off x="566928" y="5870448"/>
            <a:ext cx="11057839" cy="457200"/>
          </a:xfrm>
          <a:prstGeom prst="roundRect">
            <a:avLst>
              <a:gd fmla="val 12000"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658368" y="5870448"/>
            <a:ext cx="1087495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The fifth one is the finding that changes a meeting. It is invisible to every native report, it is uncomfortable, and it is always there in an org where CRM entry is tied to a target.</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A30"/>
        </a:solidFill>
      </p:bgPr>
    </p:bg>
    <p:spTree>
      <p:nvGrpSpPr>
        <p:cNvPr id="109" name="Shape 109"/>
        <p:cNvGrpSpPr/>
        <p:nvPr/>
      </p:nvGrpSpPr>
      <p:grpSpPr>
        <a:xfrm>
          <a:off x="0" y="0"/>
          <a:ext cx="0" cy="0"/>
          <a:chOff x="0" y="0"/>
          <a:chExt cx="0" cy="0"/>
        </a:xfrm>
      </p:grpSpPr>
      <p:sp>
        <p:nvSpPr>
          <p:cNvPr id="110" name="Google Shape;110;p5"/>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Three lenses over one record set</a:t>
            </a:r>
            <a:endParaRPr b="0" i="0" sz="3000" u="none" cap="none" strike="noStrike">
              <a:solidFill>
                <a:schemeClr val="dk1"/>
              </a:solidFill>
              <a:latin typeface="Calibri"/>
              <a:ea typeface="Calibri"/>
              <a:cs typeface="Calibri"/>
              <a:sym typeface="Calibri"/>
            </a:endParaRPr>
          </a:p>
        </p:txBody>
      </p:sp>
      <p:sp>
        <p:nvSpPr>
          <p:cNvPr id="111" name="Google Shape;111;p5"/>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4E6"/>
              </a:buClr>
              <a:buSzPts val="1350"/>
              <a:buFont typeface="Calibri"/>
              <a:buNone/>
            </a:pPr>
            <a:r>
              <a:rPr b="0" i="1" lang="en-US" sz="1350" u="none" cap="none" strike="noStrike">
                <a:solidFill>
                  <a:srgbClr val="CFE4E6"/>
                </a:solidFill>
                <a:latin typeface="Calibri"/>
                <a:ea typeface="Calibri"/>
                <a:cs typeface="Calibri"/>
                <a:sym typeface="Calibri"/>
              </a:rPr>
              <a:t>Same scan, same records, three ways of cutting them. This is the core of version two.</a:t>
            </a:r>
            <a:endParaRPr b="0" i="0" sz="1350" u="none" cap="none" strike="noStrike">
              <a:solidFill>
                <a:schemeClr val="dk1"/>
              </a:solidFill>
              <a:latin typeface="Calibri"/>
              <a:ea typeface="Calibri"/>
              <a:cs typeface="Calibri"/>
              <a:sym typeface="Calibri"/>
            </a:endParaRPr>
          </a:p>
        </p:txBody>
      </p:sp>
      <p:sp>
        <p:nvSpPr>
          <p:cNvPr id="112" name="Google Shape;112;p5"/>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B8BD"/>
              </a:buClr>
              <a:buSzPts val="950"/>
              <a:buFont typeface="Calibri"/>
              <a:buNone/>
            </a:pPr>
            <a:r>
              <a:rPr b="0" i="0" lang="en-US" sz="950" u="none" cap="none" strike="noStrike">
                <a:solidFill>
                  <a:srgbClr val="7FB8BD"/>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13" name="Google Shape;113;p5"/>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FB8BD"/>
              </a:buClr>
              <a:buSzPts val="950"/>
              <a:buFont typeface="Calibri"/>
              <a:buNone/>
            </a:pPr>
            <a:r>
              <a:rPr b="0" i="0" lang="en-US" sz="950" u="none" cap="none" strike="noStrike">
                <a:solidFill>
                  <a:srgbClr val="7FB8BD"/>
                </a:solidFill>
                <a:latin typeface="Calibri"/>
                <a:ea typeface="Calibri"/>
                <a:cs typeface="Calibri"/>
                <a:sym typeface="Calibri"/>
              </a:rPr>
              <a:t>5</a:t>
            </a:r>
            <a:endParaRPr b="0" i="0" sz="950" u="none" cap="none" strike="noStrike">
              <a:solidFill>
                <a:schemeClr val="dk1"/>
              </a:solidFill>
              <a:latin typeface="Calibri"/>
              <a:ea typeface="Calibri"/>
              <a:cs typeface="Calibri"/>
              <a:sym typeface="Calibri"/>
            </a:endParaRPr>
          </a:p>
        </p:txBody>
      </p:sp>
      <p:sp>
        <p:nvSpPr>
          <p:cNvPr id="114" name="Google Shape;114;p5"/>
          <p:cNvSpPr/>
          <p:nvPr/>
        </p:nvSpPr>
        <p:spPr>
          <a:xfrm>
            <a:off x="566928" y="1572768"/>
            <a:ext cx="3478682" cy="3977640"/>
          </a:xfrm>
          <a:prstGeom prst="roundRect">
            <a:avLst>
              <a:gd fmla="val 2366" name="adj"/>
            </a:avLst>
          </a:prstGeom>
          <a:solidFill>
            <a:srgbClr val="0E3C44"/>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804672" y="1773936"/>
            <a:ext cx="420624" cy="420624"/>
          </a:xfrm>
          <a:prstGeom prst="ellipse">
            <a:avLst/>
          </a:prstGeom>
          <a:solidFill>
            <a:srgbClr val="3FC1A9"/>
          </a:solidFill>
          <a:ln cap="flat" cmpd="sng" w="12700">
            <a:solidFill>
              <a:srgbClr val="3FC1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804672" y="177393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2A30"/>
              </a:buClr>
              <a:buSzPts val="1400"/>
              <a:buFont typeface="Calibri"/>
              <a:buNone/>
            </a:pPr>
            <a:r>
              <a:rPr b="1" i="0" lang="en-US" sz="1400" u="none" cap="none" strike="noStrike">
                <a:solidFill>
                  <a:srgbClr val="062A30"/>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117" name="Google Shape;117;p5"/>
          <p:cNvSpPr/>
          <p:nvPr/>
        </p:nvSpPr>
        <p:spPr>
          <a:xfrm>
            <a:off x="1335024" y="1773936"/>
            <a:ext cx="247284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i="0" lang="en-US" sz="1700" u="none" cap="none" strike="noStrike">
                <a:solidFill>
                  <a:srgbClr val="FFFFFF"/>
                </a:solidFill>
                <a:latin typeface="Cambria"/>
                <a:ea typeface="Cambria"/>
                <a:cs typeface="Cambria"/>
                <a:sym typeface="Cambria"/>
              </a:rPr>
              <a:t>Module lens</a:t>
            </a:r>
            <a:endParaRPr b="0" i="0" sz="1700" u="none" cap="none" strike="noStrike">
              <a:solidFill>
                <a:schemeClr val="dk1"/>
              </a:solidFill>
              <a:latin typeface="Calibri"/>
              <a:ea typeface="Calibri"/>
              <a:cs typeface="Calibri"/>
              <a:sym typeface="Calibri"/>
            </a:endParaRPr>
          </a:p>
        </p:txBody>
      </p:sp>
      <p:sp>
        <p:nvSpPr>
          <p:cNvPr id="118" name="Google Shape;118;p5"/>
          <p:cNvSpPr/>
          <p:nvPr/>
        </p:nvSpPr>
        <p:spPr>
          <a:xfrm>
            <a:off x="804672" y="2304288"/>
            <a:ext cx="3003194" cy="310896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FE4E6"/>
              </a:buClr>
              <a:buSzPts val="1080"/>
              <a:buFont typeface="Calibri"/>
              <a:buNone/>
            </a:pPr>
            <a:r>
              <a:rPr b="0" i="0" lang="en-US" sz="1080" u="none" cap="none" strike="noStrike">
                <a:solidFill>
                  <a:srgbClr val="CFE4E6"/>
                </a:solidFill>
                <a:latin typeface="Calibri"/>
                <a:ea typeface="Calibri"/>
                <a:cs typeface="Calibri"/>
                <a:sym typeface="Calibri"/>
              </a:rPr>
              <a:t>Which parts of the system are failing.</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chemeClr val="dk1"/>
              </a:buClr>
              <a:buSzPts val="1080"/>
              <a:buFont typeface="Calibri"/>
              <a:buNone/>
            </a:pPr>
            <a:r>
              <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CFE4E6"/>
              </a:buClr>
              <a:buSzPts val="1080"/>
              <a:buFont typeface="Calibri"/>
              <a:buNone/>
            </a:pPr>
            <a:r>
              <a:rPr b="0" i="0" lang="en-US" sz="1080" u="none" cap="none" strike="noStrike">
                <a:solidFill>
                  <a:srgbClr val="CFE4E6"/>
                </a:solidFill>
                <a:latin typeface="Calibri"/>
                <a:ea typeface="Calibri"/>
                <a:cs typeface="Calibri"/>
                <a:sym typeface="Calibri"/>
              </a:rPr>
              <a:t>Every module against every domain as a matrix. Leads, Contacts, Accounts, Deals, Vendors, Desk tickets, Books invoices, Creator apps.</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chemeClr val="dk1"/>
              </a:buClr>
              <a:buSzPts val="1080"/>
              <a:buFont typeface="Calibri"/>
              <a:buNone/>
            </a:pPr>
            <a:r>
              <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CFE4E6"/>
              </a:buClr>
              <a:buSzPts val="1080"/>
              <a:buFont typeface="Calibri"/>
              <a:buNone/>
            </a:pPr>
            <a:r>
              <a:rPr b="0" i="0" lang="en-US" sz="1080" u="none" cap="none" strike="noStrike">
                <a:solidFill>
                  <a:srgbClr val="CFE4E6"/>
                </a:solidFill>
                <a:latin typeface="Calibri"/>
                <a:ea typeface="Calibri"/>
                <a:cs typeface="Calibri"/>
                <a:sym typeface="Calibri"/>
              </a:rPr>
              <a:t>Rules are stage aware. A Lead at New is not judged by the bar set for a Lead at Qualified, and a closed Deal is not judged by the bar for an open one.</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chemeClr val="dk1"/>
              </a:buClr>
              <a:buSzPts val="1080"/>
              <a:buFont typeface="Calibri"/>
              <a:buNone/>
            </a:pPr>
            <a:r>
              <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CFE4E6"/>
              </a:buClr>
              <a:buSzPts val="1080"/>
              <a:buFont typeface="Calibri"/>
              <a:buNone/>
            </a:pPr>
            <a:r>
              <a:rPr b="0" i="0" lang="en-US" sz="1080" u="none" cap="none" strike="noStrike">
                <a:solidFill>
                  <a:srgbClr val="CFE4E6"/>
                </a:solidFill>
                <a:latin typeface="Calibri"/>
                <a:ea typeface="Calibri"/>
                <a:cs typeface="Calibri"/>
                <a:sym typeface="Calibri"/>
              </a:rPr>
              <a:t>Answers: where do we start.</a:t>
            </a:r>
            <a:endParaRPr b="0" i="0" sz="1080" u="none" cap="none" strike="noStrike">
              <a:solidFill>
                <a:schemeClr val="dk1"/>
              </a:solidFill>
              <a:latin typeface="Calibri"/>
              <a:ea typeface="Calibri"/>
              <a:cs typeface="Calibri"/>
              <a:sym typeface="Calibri"/>
            </a:endParaRPr>
          </a:p>
        </p:txBody>
      </p:sp>
      <p:sp>
        <p:nvSpPr>
          <p:cNvPr id="119" name="Google Shape;119;p5"/>
          <p:cNvSpPr/>
          <p:nvPr/>
        </p:nvSpPr>
        <p:spPr>
          <a:xfrm>
            <a:off x="4356506" y="1572768"/>
            <a:ext cx="3478682" cy="3977640"/>
          </a:xfrm>
          <a:prstGeom prst="roundRect">
            <a:avLst>
              <a:gd fmla="val 2366" name="adj"/>
            </a:avLst>
          </a:prstGeom>
          <a:solidFill>
            <a:srgbClr val="0E3C44"/>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4594250" y="1773936"/>
            <a:ext cx="420624" cy="420624"/>
          </a:xfrm>
          <a:prstGeom prst="ellipse">
            <a:avLst/>
          </a:prstGeom>
          <a:solidFill>
            <a:srgbClr val="3FC1A9"/>
          </a:solidFill>
          <a:ln cap="flat" cmpd="sng" w="12700">
            <a:solidFill>
              <a:srgbClr val="3FC1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4594250" y="177393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2A30"/>
              </a:buClr>
              <a:buSzPts val="1400"/>
              <a:buFont typeface="Calibri"/>
              <a:buNone/>
            </a:pPr>
            <a:r>
              <a:rPr b="1" i="0" lang="en-US" sz="1400" u="none" cap="none" strike="noStrike">
                <a:solidFill>
                  <a:srgbClr val="062A30"/>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122" name="Google Shape;122;p5"/>
          <p:cNvSpPr/>
          <p:nvPr/>
        </p:nvSpPr>
        <p:spPr>
          <a:xfrm>
            <a:off x="5124602" y="1773936"/>
            <a:ext cx="247284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i="0" lang="en-US" sz="1700" u="none" cap="none" strike="noStrike">
                <a:solidFill>
                  <a:srgbClr val="FFFFFF"/>
                </a:solidFill>
                <a:latin typeface="Cambria"/>
                <a:ea typeface="Cambria"/>
                <a:cs typeface="Cambria"/>
                <a:sym typeface="Cambria"/>
              </a:rPr>
              <a:t>User lens</a:t>
            </a:r>
            <a:endParaRPr b="0" i="0" sz="1700" u="none" cap="none" strike="noStrike">
              <a:solidFill>
                <a:schemeClr val="dk1"/>
              </a:solidFill>
              <a:latin typeface="Calibri"/>
              <a:ea typeface="Calibri"/>
              <a:cs typeface="Calibri"/>
              <a:sym typeface="Calibri"/>
            </a:endParaRPr>
          </a:p>
        </p:txBody>
      </p:sp>
      <p:sp>
        <p:nvSpPr>
          <p:cNvPr id="123" name="Google Shape;123;p5"/>
          <p:cNvSpPr/>
          <p:nvPr/>
        </p:nvSpPr>
        <p:spPr>
          <a:xfrm>
            <a:off x="4594250" y="2304288"/>
            <a:ext cx="3003194" cy="310896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FE4E6"/>
              </a:buClr>
              <a:buSzPts val="1080"/>
              <a:buFont typeface="Calibri"/>
              <a:buNone/>
            </a:pPr>
            <a:r>
              <a:rPr b="0" i="0" lang="en-US" sz="1080" u="none" cap="none" strike="noStrike">
                <a:solidFill>
                  <a:srgbClr val="CFE4E6"/>
                </a:solidFill>
                <a:latin typeface="Calibri"/>
                <a:ea typeface="Calibri"/>
                <a:cs typeface="Calibri"/>
                <a:sym typeface="Calibri"/>
              </a:rPr>
              <a:t>Who is creating the problem.</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chemeClr val="dk1"/>
              </a:buClr>
              <a:buSzPts val="1080"/>
              <a:buFont typeface="Calibri"/>
              <a:buNone/>
            </a:pPr>
            <a:r>
              <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CFE4E6"/>
              </a:buClr>
              <a:buSzPts val="1080"/>
              <a:buFont typeface="Calibri"/>
              <a:buNone/>
            </a:pPr>
            <a:r>
              <a:rPr b="0" i="0" lang="en-US" sz="1080" u="none" cap="none" strike="noStrike">
                <a:solidFill>
                  <a:srgbClr val="CFE4E6"/>
                </a:solidFill>
                <a:latin typeface="Calibri"/>
                <a:ea typeface="Calibri"/>
                <a:cs typeface="Calibri"/>
                <a:sym typeface="Calibri"/>
              </a:rPr>
              <a:t>Every record attributed three ways. Who created it, who last modified it, who owns it now.</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chemeClr val="dk1"/>
              </a:buClr>
              <a:buSzPts val="1080"/>
              <a:buFont typeface="Calibri"/>
              <a:buNone/>
            </a:pPr>
            <a:r>
              <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CFE4E6"/>
              </a:buClr>
              <a:buSzPts val="1080"/>
              <a:buFont typeface="Calibri"/>
              <a:buNone/>
            </a:pPr>
            <a:r>
              <a:rPr b="0" i="0" lang="en-US" sz="1080" u="none" cap="none" strike="noStrike">
                <a:solidFill>
                  <a:srgbClr val="CFE4E6"/>
                </a:solidFill>
                <a:latin typeface="Calibri"/>
                <a:ea typeface="Calibri"/>
                <a:cs typeface="Calibri"/>
                <a:sym typeface="Calibri"/>
              </a:rPr>
              <a:t>A quality score per user, volume adjusted so a rep with forty records is not compared naively with one who has four thousand. Rolled up by team, role and manager.</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chemeClr val="dk1"/>
              </a:buClr>
              <a:buSzPts val="1080"/>
              <a:buFont typeface="Calibri"/>
              <a:buNone/>
            </a:pPr>
            <a:r>
              <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CFE4E6"/>
              </a:buClr>
              <a:buSzPts val="1080"/>
              <a:buFont typeface="Calibri"/>
              <a:buNone/>
            </a:pPr>
            <a:r>
              <a:rPr b="0" i="0" lang="en-US" sz="1080" u="none" cap="none" strike="noStrike">
                <a:solidFill>
                  <a:srgbClr val="CFE4E6"/>
                </a:solidFill>
                <a:latin typeface="Calibri"/>
                <a:ea typeface="Calibri"/>
                <a:cs typeface="Calibri"/>
                <a:sym typeface="Calibri"/>
              </a:rPr>
              <a:t>Answers: who owns the fix.</a:t>
            </a:r>
            <a:endParaRPr b="0" i="0" sz="1080" u="none" cap="none" strike="noStrike">
              <a:solidFill>
                <a:schemeClr val="dk1"/>
              </a:solidFill>
              <a:latin typeface="Calibri"/>
              <a:ea typeface="Calibri"/>
              <a:cs typeface="Calibri"/>
              <a:sym typeface="Calibri"/>
            </a:endParaRPr>
          </a:p>
        </p:txBody>
      </p:sp>
      <p:sp>
        <p:nvSpPr>
          <p:cNvPr id="124" name="Google Shape;124;p5"/>
          <p:cNvSpPr/>
          <p:nvPr/>
        </p:nvSpPr>
        <p:spPr>
          <a:xfrm>
            <a:off x="8146085" y="1572768"/>
            <a:ext cx="3478682" cy="3977640"/>
          </a:xfrm>
          <a:prstGeom prst="roundRect">
            <a:avLst>
              <a:gd fmla="val 2366" name="adj"/>
            </a:avLst>
          </a:prstGeom>
          <a:solidFill>
            <a:srgbClr val="0E3C44"/>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8383829" y="1773936"/>
            <a:ext cx="420624" cy="420624"/>
          </a:xfrm>
          <a:prstGeom prst="ellipse">
            <a:avLst/>
          </a:prstGeom>
          <a:solidFill>
            <a:srgbClr val="3FC1A9"/>
          </a:solidFill>
          <a:ln cap="flat" cmpd="sng" w="12700">
            <a:solidFill>
              <a:srgbClr val="3FC1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8383829" y="177393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2A30"/>
              </a:buClr>
              <a:buSzPts val="1400"/>
              <a:buFont typeface="Calibri"/>
              <a:buNone/>
            </a:pPr>
            <a:r>
              <a:rPr b="1" i="0" lang="en-US" sz="1400" u="none" cap="none" strike="noStrike">
                <a:solidFill>
                  <a:srgbClr val="062A30"/>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127" name="Google Shape;127;p5"/>
          <p:cNvSpPr/>
          <p:nvPr/>
        </p:nvSpPr>
        <p:spPr>
          <a:xfrm>
            <a:off x="8914181" y="1773936"/>
            <a:ext cx="247284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i="0" lang="en-US" sz="1700" u="none" cap="none" strike="noStrike">
                <a:solidFill>
                  <a:srgbClr val="FFFFFF"/>
                </a:solidFill>
                <a:latin typeface="Cambria"/>
                <a:ea typeface="Cambria"/>
                <a:cs typeface="Cambria"/>
                <a:sym typeface="Cambria"/>
              </a:rPr>
              <a:t>Time lens</a:t>
            </a:r>
            <a:endParaRPr b="0" i="0" sz="1700" u="none" cap="none" strike="noStrike">
              <a:solidFill>
                <a:schemeClr val="dk1"/>
              </a:solidFill>
              <a:latin typeface="Calibri"/>
              <a:ea typeface="Calibri"/>
              <a:cs typeface="Calibri"/>
              <a:sym typeface="Calibri"/>
            </a:endParaRPr>
          </a:p>
        </p:txBody>
      </p:sp>
      <p:sp>
        <p:nvSpPr>
          <p:cNvPr id="128" name="Google Shape;128;p5"/>
          <p:cNvSpPr/>
          <p:nvPr/>
        </p:nvSpPr>
        <p:spPr>
          <a:xfrm>
            <a:off x="8383829" y="2304288"/>
            <a:ext cx="3003194" cy="310896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FE4E6"/>
              </a:buClr>
              <a:buSzPts val="1080"/>
              <a:buFont typeface="Calibri"/>
              <a:buNone/>
            </a:pPr>
            <a:r>
              <a:rPr b="0" i="0" lang="en-US" sz="1080" u="none" cap="none" strike="noStrike">
                <a:solidFill>
                  <a:srgbClr val="CFE4E6"/>
                </a:solidFill>
                <a:latin typeface="Calibri"/>
                <a:ea typeface="Calibri"/>
                <a:cs typeface="Calibri"/>
                <a:sym typeface="Calibri"/>
              </a:rPr>
              <a:t>Whether it is getting better or worse.</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chemeClr val="dk1"/>
              </a:buClr>
              <a:buSzPts val="1080"/>
              <a:buFont typeface="Calibri"/>
              <a:buNone/>
            </a:pPr>
            <a:r>
              <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CFE4E6"/>
              </a:buClr>
              <a:buSzPts val="1080"/>
              <a:buFont typeface="Calibri"/>
              <a:buNone/>
            </a:pPr>
            <a:r>
              <a:rPr b="0" i="0" lang="en-US" sz="1080" u="none" cap="none" strike="noStrike">
                <a:solidFill>
                  <a:srgbClr val="CFE4E6"/>
                </a:solidFill>
                <a:latin typeface="Calibri"/>
                <a:ea typeface="Calibri"/>
                <a:cs typeface="Calibri"/>
                <a:sym typeface="Calibri"/>
              </a:rPr>
              <a:t>Any date range. Score only records created inside the window, or only those modified inside it, and compare against the prior period.</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chemeClr val="dk1"/>
              </a:buClr>
              <a:buSzPts val="1080"/>
              <a:buFont typeface="Calibri"/>
              <a:buNone/>
            </a:pPr>
            <a:r>
              <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CFE4E6"/>
              </a:buClr>
              <a:buSzPts val="1080"/>
              <a:buFont typeface="Calibri"/>
              <a:buNone/>
            </a:pPr>
            <a:r>
              <a:rPr b="0" i="0" lang="en-US" sz="1080" u="none" cap="none" strike="noStrike">
                <a:solidFill>
                  <a:srgbClr val="CFE4E6"/>
                </a:solidFill>
                <a:latin typeface="Calibri"/>
                <a:ea typeface="Calibri"/>
                <a:cs typeface="Calibri"/>
                <a:sym typeface="Calibri"/>
              </a:rPr>
              <a:t>Cohort decay shows how a month of records ages after creation.</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chemeClr val="dk1"/>
              </a:buClr>
              <a:buSzPts val="1080"/>
              <a:buFont typeface="Calibri"/>
              <a:buNone/>
            </a:pPr>
            <a:r>
              <a:t/>
            </a:r>
            <a:endParaRPr b="0" i="0" sz="108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CFE4E6"/>
              </a:buClr>
              <a:buSzPts val="1080"/>
              <a:buFont typeface="Calibri"/>
              <a:buNone/>
            </a:pPr>
            <a:r>
              <a:rPr b="0" i="0" lang="en-US" sz="1080" u="none" cap="none" strike="noStrike">
                <a:solidFill>
                  <a:srgbClr val="CFE4E6"/>
                </a:solidFill>
                <a:latin typeface="Calibri"/>
                <a:ea typeface="Calibri"/>
                <a:cs typeface="Calibri"/>
                <a:sym typeface="Calibri"/>
              </a:rPr>
              <a:t>Answers: is the process working now, or only the cleanup we did last year.</a:t>
            </a:r>
            <a:endParaRPr b="0" i="0" sz="1080" u="none" cap="none" strike="noStrike">
              <a:solidFill>
                <a:schemeClr val="dk1"/>
              </a:solidFill>
              <a:latin typeface="Calibri"/>
              <a:ea typeface="Calibri"/>
              <a:cs typeface="Calibri"/>
              <a:sym typeface="Calibri"/>
            </a:endParaRPr>
          </a:p>
        </p:txBody>
      </p:sp>
      <p:sp>
        <p:nvSpPr>
          <p:cNvPr id="129" name="Google Shape;129;p5"/>
          <p:cNvSpPr/>
          <p:nvPr/>
        </p:nvSpPr>
        <p:spPr>
          <a:xfrm>
            <a:off x="566928" y="5669280"/>
            <a:ext cx="11057839" cy="548640"/>
          </a:xfrm>
          <a:prstGeom prst="roundRect">
            <a:avLst>
              <a:gd fmla="val 11667"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749808" y="5669280"/>
            <a:ext cx="10692079"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The three combine. Deals module, created by the Mumbai team, in Q2. That single filter is the sentence a client acts on.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6"/>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Every record lands in one of six states</a:t>
            </a:r>
            <a:endParaRPr b="0" i="0" sz="3000" u="none" cap="none" strike="noStrike">
              <a:solidFill>
                <a:schemeClr val="dk1"/>
              </a:solidFill>
              <a:latin typeface="Calibri"/>
              <a:ea typeface="Calibri"/>
              <a:cs typeface="Calibri"/>
              <a:sym typeface="Calibri"/>
            </a:endParaRPr>
          </a:p>
        </p:txBody>
      </p:sp>
      <p:sp>
        <p:nvSpPr>
          <p:cNvPr id="137" name="Google Shape;137;p6"/>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This classification is what makes the user view and the time view possible. It is the foundation of the whole product.</a:t>
            </a:r>
            <a:endParaRPr b="0" i="0" sz="1350" u="none" cap="none" strike="noStrike">
              <a:solidFill>
                <a:schemeClr val="dk1"/>
              </a:solidFill>
              <a:latin typeface="Calibri"/>
              <a:ea typeface="Calibri"/>
              <a:cs typeface="Calibri"/>
              <a:sym typeface="Calibri"/>
            </a:endParaRPr>
          </a:p>
        </p:txBody>
      </p:sp>
      <p:sp>
        <p:nvSpPr>
          <p:cNvPr id="138" name="Google Shape;138;p6"/>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39" name="Google Shape;139;p6"/>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6</a:t>
            </a:r>
            <a:endParaRPr b="0" i="0" sz="950" u="none" cap="none" strike="noStrike">
              <a:solidFill>
                <a:schemeClr val="dk1"/>
              </a:solidFill>
              <a:latin typeface="Calibri"/>
              <a:ea typeface="Calibri"/>
              <a:cs typeface="Calibri"/>
              <a:sym typeface="Calibri"/>
            </a:endParaRPr>
          </a:p>
        </p:txBody>
      </p:sp>
      <p:sp>
        <p:nvSpPr>
          <p:cNvPr id="140" name="Google Shape;140;p6"/>
          <p:cNvSpPr/>
          <p:nvPr/>
        </p:nvSpPr>
        <p:spPr>
          <a:xfrm>
            <a:off x="566928" y="1517904"/>
            <a:ext cx="3539642" cy="2011680"/>
          </a:xfrm>
          <a:prstGeom prst="roundRect">
            <a:avLst>
              <a:gd fmla="val 4091" name="adj"/>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786384" y="1719072"/>
            <a:ext cx="384048" cy="384048"/>
          </a:xfrm>
          <a:prstGeom prst="roundRect">
            <a:avLst>
              <a:gd fmla="val 16667" name="adj"/>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1298448" y="1700784"/>
            <a:ext cx="2588666"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57"/>
              </a:buClr>
              <a:buSzPts val="1500"/>
              <a:buFont typeface="Cambria"/>
              <a:buNone/>
            </a:pPr>
            <a:r>
              <a:rPr b="1" i="0" lang="en-US" sz="1500" u="none" cap="none" strike="noStrike">
                <a:solidFill>
                  <a:srgbClr val="2E8B57"/>
                </a:solidFill>
                <a:latin typeface="Cambria"/>
                <a:ea typeface="Cambria"/>
                <a:cs typeface="Cambria"/>
                <a:sym typeface="Cambria"/>
              </a:rPr>
              <a:t>Proper</a:t>
            </a:r>
            <a:endParaRPr b="0" i="0" sz="1500" u="none" cap="none" strike="noStrike">
              <a:solidFill>
                <a:schemeClr val="dk1"/>
              </a:solidFill>
              <a:latin typeface="Calibri"/>
              <a:ea typeface="Calibri"/>
              <a:cs typeface="Calibri"/>
              <a:sym typeface="Calibri"/>
            </a:endParaRPr>
          </a:p>
        </p:txBody>
      </p:sp>
      <p:sp>
        <p:nvSpPr>
          <p:cNvPr id="143" name="Google Shape;143;p6"/>
          <p:cNvSpPr/>
          <p:nvPr/>
        </p:nvSpPr>
        <p:spPr>
          <a:xfrm>
            <a:off x="786384" y="2194560"/>
            <a:ext cx="3100730" cy="12070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060"/>
              <a:buFont typeface="Calibri"/>
              <a:buNone/>
            </a:pPr>
            <a:r>
              <a:rPr b="0" i="0" lang="en-US" sz="1060" u="none" cap="none" strike="noStrike">
                <a:solidFill>
                  <a:srgbClr val="6B7280"/>
                </a:solidFill>
                <a:latin typeface="Calibri"/>
                <a:ea typeface="Calibri"/>
                <a:cs typeface="Calibri"/>
                <a:sym typeface="Calibri"/>
              </a:rPr>
              <a:t>Passes every rule in scope for its module and its stage. No missing required field, no invalid value, no duplicate signal, no plausibility flag. This is the number the client wants to grow.</a:t>
            </a:r>
            <a:endParaRPr b="0" i="0" sz="1060" u="none" cap="none" strike="noStrike">
              <a:solidFill>
                <a:schemeClr val="dk1"/>
              </a:solidFill>
              <a:latin typeface="Calibri"/>
              <a:ea typeface="Calibri"/>
              <a:cs typeface="Calibri"/>
              <a:sym typeface="Calibri"/>
            </a:endParaRPr>
          </a:p>
        </p:txBody>
      </p:sp>
      <p:sp>
        <p:nvSpPr>
          <p:cNvPr id="144" name="Google Shape;144;p6"/>
          <p:cNvSpPr/>
          <p:nvPr/>
        </p:nvSpPr>
        <p:spPr>
          <a:xfrm>
            <a:off x="4326026" y="1517904"/>
            <a:ext cx="3539642" cy="2011680"/>
          </a:xfrm>
          <a:prstGeom prst="roundRect">
            <a:avLst>
              <a:gd fmla="val 4091" name="adj"/>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4545482" y="1719072"/>
            <a:ext cx="384048" cy="384048"/>
          </a:xfrm>
          <a:prstGeom prst="roundRect">
            <a:avLst>
              <a:gd fmla="val 16667" name="adj"/>
            </a:avLst>
          </a:prstGeom>
          <a:solidFill>
            <a:srgbClr val="E0A33C"/>
          </a:solidFill>
          <a:ln cap="flat" cmpd="sng" w="12700">
            <a:solidFill>
              <a:srgbClr val="E0A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5057546" y="1700784"/>
            <a:ext cx="2588666"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A33C"/>
              </a:buClr>
              <a:buSzPts val="1500"/>
              <a:buFont typeface="Cambria"/>
              <a:buNone/>
            </a:pPr>
            <a:r>
              <a:rPr b="1" i="0" lang="en-US" sz="1500" u="none" cap="none" strike="noStrike">
                <a:solidFill>
                  <a:srgbClr val="E0A33C"/>
                </a:solidFill>
                <a:latin typeface="Cambria"/>
                <a:ea typeface="Cambria"/>
                <a:cs typeface="Cambria"/>
                <a:sym typeface="Cambria"/>
              </a:rPr>
              <a:t>Incomplete</a:t>
            </a:r>
            <a:endParaRPr b="0" i="0" sz="1500" u="none" cap="none" strike="noStrike">
              <a:solidFill>
                <a:schemeClr val="dk1"/>
              </a:solidFill>
              <a:latin typeface="Calibri"/>
              <a:ea typeface="Calibri"/>
              <a:cs typeface="Calibri"/>
              <a:sym typeface="Calibri"/>
            </a:endParaRPr>
          </a:p>
        </p:txBody>
      </p:sp>
      <p:sp>
        <p:nvSpPr>
          <p:cNvPr id="147" name="Google Shape;147;p6"/>
          <p:cNvSpPr/>
          <p:nvPr/>
        </p:nvSpPr>
        <p:spPr>
          <a:xfrm>
            <a:off x="4545482" y="2194560"/>
            <a:ext cx="3100730" cy="12070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060"/>
              <a:buFont typeface="Calibri"/>
              <a:buNone/>
            </a:pPr>
            <a:r>
              <a:rPr b="0" i="0" lang="en-US" sz="1060" u="none" cap="none" strike="noStrike">
                <a:solidFill>
                  <a:srgbClr val="6B7280"/>
                </a:solidFill>
                <a:latin typeface="Calibri"/>
                <a:ea typeface="Calibri"/>
                <a:cs typeface="Calibri"/>
                <a:sym typeface="Calibri"/>
              </a:rPr>
              <a:t>Structurally valid but missing information. Required or report critical fields empty for the stage the record has reached. The most common state and the easiest to fix.</a:t>
            </a:r>
            <a:endParaRPr b="0" i="0" sz="1060" u="none" cap="none" strike="noStrike">
              <a:solidFill>
                <a:schemeClr val="dk1"/>
              </a:solidFill>
              <a:latin typeface="Calibri"/>
              <a:ea typeface="Calibri"/>
              <a:cs typeface="Calibri"/>
              <a:sym typeface="Calibri"/>
            </a:endParaRPr>
          </a:p>
        </p:txBody>
      </p:sp>
      <p:sp>
        <p:nvSpPr>
          <p:cNvPr id="148" name="Google Shape;148;p6"/>
          <p:cNvSpPr/>
          <p:nvPr/>
        </p:nvSpPr>
        <p:spPr>
          <a:xfrm>
            <a:off x="8085125" y="1517904"/>
            <a:ext cx="3539642" cy="2011680"/>
          </a:xfrm>
          <a:prstGeom prst="roundRect">
            <a:avLst>
              <a:gd fmla="val 4091" name="adj"/>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8304581" y="1719072"/>
            <a:ext cx="384048" cy="384048"/>
          </a:xfrm>
          <a:prstGeom prst="roundRect">
            <a:avLst>
              <a:gd fmla="val 16667" name="adj"/>
            </a:avLst>
          </a:prstGeom>
          <a:solidFill>
            <a:srgbClr val="D1603D"/>
          </a:solidFill>
          <a:ln cap="flat" cmpd="sng" w="12700">
            <a:solidFill>
              <a:srgbClr val="D16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8816645" y="1700784"/>
            <a:ext cx="2588666"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603D"/>
              </a:buClr>
              <a:buSzPts val="1500"/>
              <a:buFont typeface="Cambria"/>
              <a:buNone/>
            </a:pPr>
            <a:r>
              <a:rPr b="1" i="0" lang="en-US" sz="1500" u="none" cap="none" strike="noStrike">
                <a:solidFill>
                  <a:srgbClr val="D1603D"/>
                </a:solidFill>
                <a:latin typeface="Cambria"/>
                <a:ea typeface="Cambria"/>
                <a:cs typeface="Cambria"/>
                <a:sym typeface="Cambria"/>
              </a:rPr>
              <a:t>Inaccurate</a:t>
            </a:r>
            <a:endParaRPr b="0" i="0" sz="1500" u="none" cap="none" strike="noStrike">
              <a:solidFill>
                <a:schemeClr val="dk1"/>
              </a:solidFill>
              <a:latin typeface="Calibri"/>
              <a:ea typeface="Calibri"/>
              <a:cs typeface="Calibri"/>
              <a:sym typeface="Calibri"/>
            </a:endParaRPr>
          </a:p>
        </p:txBody>
      </p:sp>
      <p:sp>
        <p:nvSpPr>
          <p:cNvPr id="151" name="Google Shape;151;p6"/>
          <p:cNvSpPr/>
          <p:nvPr/>
        </p:nvSpPr>
        <p:spPr>
          <a:xfrm>
            <a:off x="8304581" y="2194560"/>
            <a:ext cx="3100730" cy="12070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060"/>
              <a:buFont typeface="Calibri"/>
              <a:buNone/>
            </a:pPr>
            <a:r>
              <a:rPr b="0" i="0" lang="en-US" sz="1060" u="none" cap="none" strike="noStrike">
                <a:solidFill>
                  <a:srgbClr val="6B7280"/>
                </a:solidFill>
                <a:latin typeface="Calibri"/>
                <a:ea typeface="Calibri"/>
                <a:cs typeface="Calibri"/>
                <a:sym typeface="Calibri"/>
              </a:rPr>
              <a:t>A value is present and it is wrong. Malformed email, phone with no country code, GST failing checksum, picklist value off the list, close date in the past on an open deal, negative amount.</a:t>
            </a:r>
            <a:endParaRPr b="0" i="0" sz="1060" u="none" cap="none" strike="noStrike">
              <a:solidFill>
                <a:schemeClr val="dk1"/>
              </a:solidFill>
              <a:latin typeface="Calibri"/>
              <a:ea typeface="Calibri"/>
              <a:cs typeface="Calibri"/>
              <a:sym typeface="Calibri"/>
            </a:endParaRPr>
          </a:p>
        </p:txBody>
      </p:sp>
      <p:sp>
        <p:nvSpPr>
          <p:cNvPr id="152" name="Google Shape;152;p6"/>
          <p:cNvSpPr/>
          <p:nvPr/>
        </p:nvSpPr>
        <p:spPr>
          <a:xfrm>
            <a:off x="566928" y="3749040"/>
            <a:ext cx="3539642" cy="2011680"/>
          </a:xfrm>
          <a:prstGeom prst="roundRect">
            <a:avLst>
              <a:gd fmla="val 4091" name="adj"/>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786384" y="3950208"/>
            <a:ext cx="384048" cy="384048"/>
          </a:xfrm>
          <a:prstGeom prst="roundRect">
            <a:avLst>
              <a:gd fmla="val 16667" name="adj"/>
            </a:avLst>
          </a:prstGeom>
          <a:solidFill>
            <a:srgbClr val="7A5AA6"/>
          </a:solidFill>
          <a:ln cap="flat" cmpd="sng" w="12700">
            <a:solidFill>
              <a:srgbClr val="7A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1298448" y="3931920"/>
            <a:ext cx="2588666"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5AA6"/>
              </a:buClr>
              <a:buSzPts val="1500"/>
              <a:buFont typeface="Cambria"/>
              <a:buNone/>
            </a:pPr>
            <a:r>
              <a:rPr b="1" i="0" lang="en-US" sz="1500" u="none" cap="none" strike="noStrike">
                <a:solidFill>
                  <a:srgbClr val="7A5AA6"/>
                </a:solidFill>
                <a:latin typeface="Cambria"/>
                <a:ea typeface="Cambria"/>
                <a:cs typeface="Cambria"/>
                <a:sym typeface="Cambria"/>
              </a:rPr>
              <a:t>Suspicious</a:t>
            </a:r>
            <a:endParaRPr b="0" i="0" sz="1500" u="none" cap="none" strike="noStrike">
              <a:solidFill>
                <a:schemeClr val="dk1"/>
              </a:solidFill>
              <a:latin typeface="Calibri"/>
              <a:ea typeface="Calibri"/>
              <a:cs typeface="Calibri"/>
              <a:sym typeface="Calibri"/>
            </a:endParaRPr>
          </a:p>
        </p:txBody>
      </p:sp>
      <p:sp>
        <p:nvSpPr>
          <p:cNvPr id="155" name="Google Shape;155;p6"/>
          <p:cNvSpPr/>
          <p:nvPr/>
        </p:nvSpPr>
        <p:spPr>
          <a:xfrm>
            <a:off x="786384" y="4425696"/>
            <a:ext cx="3100730" cy="12070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060"/>
              <a:buFont typeface="Calibri"/>
              <a:buNone/>
            </a:pPr>
            <a:r>
              <a:rPr b="0" i="0" lang="en-US" sz="1060" u="none" cap="none" strike="noStrike">
                <a:solidFill>
                  <a:srgbClr val="6B7280"/>
                </a:solidFill>
                <a:latin typeface="Calibri"/>
                <a:ea typeface="Calibri"/>
                <a:cs typeface="Calibri"/>
                <a:sym typeface="Calibri"/>
              </a:rPr>
              <a:t>Passes every format check and fails plausibility. Test and dummy values, one phone number across forty leads, records created and closed in the same minute, keyboard mash in a name field.</a:t>
            </a:r>
            <a:endParaRPr b="0" i="0" sz="1060" u="none" cap="none" strike="noStrike">
              <a:solidFill>
                <a:schemeClr val="dk1"/>
              </a:solidFill>
              <a:latin typeface="Calibri"/>
              <a:ea typeface="Calibri"/>
              <a:cs typeface="Calibri"/>
              <a:sym typeface="Calibri"/>
            </a:endParaRPr>
          </a:p>
        </p:txBody>
      </p:sp>
      <p:sp>
        <p:nvSpPr>
          <p:cNvPr id="156" name="Google Shape;156;p6"/>
          <p:cNvSpPr/>
          <p:nvPr/>
        </p:nvSpPr>
        <p:spPr>
          <a:xfrm>
            <a:off x="4326026" y="3749040"/>
            <a:ext cx="3539642" cy="2011680"/>
          </a:xfrm>
          <a:prstGeom prst="roundRect">
            <a:avLst>
              <a:gd fmla="val 4091" name="adj"/>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4545482" y="3950208"/>
            <a:ext cx="384048" cy="384048"/>
          </a:xfrm>
          <a:prstGeom prst="roundRect">
            <a:avLst>
              <a:gd fmla="val 16667" name="adj"/>
            </a:avLst>
          </a:prstGeom>
          <a:solidFill>
            <a:srgbClr val="4A87A8"/>
          </a:solidFill>
          <a:ln cap="flat" cmpd="sng" w="12700">
            <a:solidFill>
              <a:srgbClr val="4A8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5057546" y="3931920"/>
            <a:ext cx="2588666"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87A8"/>
              </a:buClr>
              <a:buSzPts val="1500"/>
              <a:buFont typeface="Cambria"/>
              <a:buNone/>
            </a:pPr>
            <a:r>
              <a:rPr b="1" i="0" lang="en-US" sz="1500" u="none" cap="none" strike="noStrike">
                <a:solidFill>
                  <a:srgbClr val="4A87A8"/>
                </a:solidFill>
                <a:latin typeface="Cambria"/>
                <a:ea typeface="Cambria"/>
                <a:cs typeface="Cambria"/>
                <a:sym typeface="Cambria"/>
              </a:rPr>
              <a:t>Suspected duplicate</a:t>
            </a:r>
            <a:endParaRPr b="0" i="0" sz="1500" u="none" cap="none" strike="noStrike">
              <a:solidFill>
                <a:schemeClr val="dk1"/>
              </a:solidFill>
              <a:latin typeface="Calibri"/>
              <a:ea typeface="Calibri"/>
              <a:cs typeface="Calibri"/>
              <a:sym typeface="Calibri"/>
            </a:endParaRPr>
          </a:p>
        </p:txBody>
      </p:sp>
      <p:sp>
        <p:nvSpPr>
          <p:cNvPr id="159" name="Google Shape;159;p6"/>
          <p:cNvSpPr/>
          <p:nvPr/>
        </p:nvSpPr>
        <p:spPr>
          <a:xfrm>
            <a:off x="4545482" y="4425696"/>
            <a:ext cx="3100730" cy="12070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060"/>
              <a:buFont typeface="Calibri"/>
              <a:buNone/>
            </a:pPr>
            <a:r>
              <a:rPr b="0" i="0" lang="en-US" sz="1060" u="none" cap="none" strike="noStrike">
                <a:solidFill>
                  <a:srgbClr val="6B7280"/>
                </a:solidFill>
                <a:latin typeface="Calibri"/>
                <a:ea typeface="Calibri"/>
                <a:cs typeface="Calibri"/>
                <a:sym typeface="Calibri"/>
              </a:rPr>
              <a:t>Fuzzy match confidence between 0.70 and 0.90 against another record. Needs a person to decide. Feeds directly into the review queue in Accelerator 02.</a:t>
            </a:r>
            <a:endParaRPr b="0" i="0" sz="1060" u="none" cap="none" strike="noStrike">
              <a:solidFill>
                <a:schemeClr val="dk1"/>
              </a:solidFill>
              <a:latin typeface="Calibri"/>
              <a:ea typeface="Calibri"/>
              <a:cs typeface="Calibri"/>
              <a:sym typeface="Calibri"/>
            </a:endParaRPr>
          </a:p>
        </p:txBody>
      </p:sp>
      <p:sp>
        <p:nvSpPr>
          <p:cNvPr id="160" name="Google Shape;160;p6"/>
          <p:cNvSpPr/>
          <p:nvPr/>
        </p:nvSpPr>
        <p:spPr>
          <a:xfrm>
            <a:off x="8085125" y="3749040"/>
            <a:ext cx="3539642" cy="2011680"/>
          </a:xfrm>
          <a:prstGeom prst="roundRect">
            <a:avLst>
              <a:gd fmla="val 4091" name="adj"/>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
          <p:cNvSpPr/>
          <p:nvPr/>
        </p:nvSpPr>
        <p:spPr>
          <a:xfrm>
            <a:off x="8304581" y="3950208"/>
            <a:ext cx="384048" cy="384048"/>
          </a:xfrm>
          <a:prstGeom prst="roundRect">
            <a:avLst>
              <a:gd fmla="val 16667" name="adj"/>
            </a:avLst>
          </a:prstGeom>
          <a:solidFill>
            <a:srgbClr val="A8352B"/>
          </a:solidFill>
          <a:ln cap="flat" cmpd="sng" w="12700">
            <a:solidFill>
              <a:srgbClr val="A835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8816645" y="3931920"/>
            <a:ext cx="2588666"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52B"/>
              </a:buClr>
              <a:buSzPts val="1500"/>
              <a:buFont typeface="Cambria"/>
              <a:buNone/>
            </a:pPr>
            <a:r>
              <a:rPr b="1" i="0" lang="en-US" sz="1500" u="none" cap="none" strike="noStrike">
                <a:solidFill>
                  <a:srgbClr val="A8352B"/>
                </a:solidFill>
                <a:latin typeface="Cambria"/>
                <a:ea typeface="Cambria"/>
                <a:cs typeface="Cambria"/>
                <a:sym typeface="Cambria"/>
              </a:rPr>
              <a:t>Confirmed duplicate</a:t>
            </a:r>
            <a:endParaRPr b="0" i="0" sz="1500" u="none" cap="none" strike="noStrike">
              <a:solidFill>
                <a:schemeClr val="dk1"/>
              </a:solidFill>
              <a:latin typeface="Calibri"/>
              <a:ea typeface="Calibri"/>
              <a:cs typeface="Calibri"/>
              <a:sym typeface="Calibri"/>
            </a:endParaRPr>
          </a:p>
        </p:txBody>
      </p:sp>
      <p:sp>
        <p:nvSpPr>
          <p:cNvPr id="163" name="Google Shape;163;p6"/>
          <p:cNvSpPr/>
          <p:nvPr/>
        </p:nvSpPr>
        <p:spPr>
          <a:xfrm>
            <a:off x="8304581" y="4425696"/>
            <a:ext cx="3100730" cy="12070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060"/>
              <a:buFont typeface="Calibri"/>
              <a:buNone/>
            </a:pPr>
            <a:r>
              <a:rPr b="0" i="0" lang="en-US" sz="1060" u="none" cap="none" strike="noStrike">
                <a:solidFill>
                  <a:srgbClr val="6B7280"/>
                </a:solidFill>
                <a:latin typeface="Calibri"/>
                <a:ea typeface="Calibri"/>
                <a:cs typeface="Calibri"/>
                <a:sym typeface="Calibri"/>
              </a:rPr>
              <a:t>Exact match on a strong identifier, or a fuzzy score above 0.90 with two strong fields agreeing. Safe to merge under an agreed policy.</a:t>
            </a:r>
            <a:endParaRPr b="0" i="0" sz="1060" u="none" cap="none" strike="noStrike">
              <a:solidFill>
                <a:schemeClr val="dk1"/>
              </a:solidFill>
              <a:latin typeface="Calibri"/>
              <a:ea typeface="Calibri"/>
              <a:cs typeface="Calibri"/>
              <a:sym typeface="Calibri"/>
            </a:endParaRPr>
          </a:p>
        </p:txBody>
      </p:sp>
      <p:sp>
        <p:nvSpPr>
          <p:cNvPr id="164" name="Google Shape;164;p6"/>
          <p:cNvSpPr/>
          <p:nvPr/>
        </p:nvSpPr>
        <p:spPr>
          <a:xfrm>
            <a:off x="566928" y="5907024"/>
            <a:ext cx="27432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50"/>
              <a:buFont typeface="Calibri"/>
              <a:buNone/>
            </a:pPr>
            <a:r>
              <a:rPr b="1" i="0" lang="en-US" sz="850" u="none" cap="none" strike="noStrike">
                <a:solidFill>
                  <a:srgbClr val="6B7280"/>
                </a:solidFill>
                <a:latin typeface="Calibri"/>
                <a:ea typeface="Calibri"/>
                <a:cs typeface="Calibri"/>
                <a:sym typeface="Calibri"/>
              </a:rPr>
              <a:t>A TYPICAL ORG LOOKS LIKE THIS</a:t>
            </a:r>
            <a:endParaRPr b="0" i="0" sz="850" u="none" cap="none" strike="noStrike">
              <a:solidFill>
                <a:schemeClr val="dk1"/>
              </a:solidFill>
              <a:latin typeface="Calibri"/>
              <a:ea typeface="Calibri"/>
              <a:cs typeface="Calibri"/>
              <a:sym typeface="Calibri"/>
            </a:endParaRPr>
          </a:p>
        </p:txBody>
      </p:sp>
      <p:sp>
        <p:nvSpPr>
          <p:cNvPr id="165" name="Google Shape;165;p6"/>
          <p:cNvSpPr/>
          <p:nvPr/>
        </p:nvSpPr>
        <p:spPr>
          <a:xfrm>
            <a:off x="3401568" y="5888736"/>
            <a:ext cx="5016152" cy="219456"/>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a:off x="3401568" y="5888736"/>
            <a:ext cx="501615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61%</a:t>
            </a:r>
            <a:endParaRPr b="0" i="0" sz="760" u="none" cap="none" strike="noStrike">
              <a:solidFill>
                <a:schemeClr val="dk1"/>
              </a:solidFill>
              <a:latin typeface="Calibri"/>
              <a:ea typeface="Calibri"/>
              <a:cs typeface="Calibri"/>
              <a:sym typeface="Calibri"/>
            </a:endParaRPr>
          </a:p>
        </p:txBody>
      </p:sp>
      <p:sp>
        <p:nvSpPr>
          <p:cNvPr id="167" name="Google Shape;167;p6"/>
          <p:cNvSpPr/>
          <p:nvPr/>
        </p:nvSpPr>
        <p:spPr>
          <a:xfrm>
            <a:off x="8417720" y="5888736"/>
            <a:ext cx="1397944" cy="219456"/>
          </a:xfrm>
          <a:prstGeom prst="rect">
            <a:avLst/>
          </a:prstGeom>
          <a:solidFill>
            <a:srgbClr val="E0A33C"/>
          </a:solidFill>
          <a:ln cap="flat" cmpd="sng" w="12700">
            <a:solidFill>
              <a:srgbClr val="E0A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8417720" y="5888736"/>
            <a:ext cx="139794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17%</a:t>
            </a:r>
            <a:endParaRPr b="0" i="0" sz="760" u="none" cap="none" strike="noStrike">
              <a:solidFill>
                <a:schemeClr val="dk1"/>
              </a:solidFill>
              <a:latin typeface="Calibri"/>
              <a:ea typeface="Calibri"/>
              <a:cs typeface="Calibri"/>
              <a:sym typeface="Calibri"/>
            </a:endParaRPr>
          </a:p>
        </p:txBody>
      </p:sp>
      <p:sp>
        <p:nvSpPr>
          <p:cNvPr id="169" name="Google Shape;169;p6"/>
          <p:cNvSpPr/>
          <p:nvPr/>
        </p:nvSpPr>
        <p:spPr>
          <a:xfrm>
            <a:off x="9815663" y="5888736"/>
            <a:ext cx="740088" cy="219456"/>
          </a:xfrm>
          <a:prstGeom prst="rect">
            <a:avLst/>
          </a:prstGeom>
          <a:solidFill>
            <a:srgbClr val="D1603D"/>
          </a:solidFill>
          <a:ln cap="flat" cmpd="sng" w="12700">
            <a:solidFill>
              <a:srgbClr val="D16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10555751" y="5888736"/>
            <a:ext cx="328928" cy="219456"/>
          </a:xfrm>
          <a:prstGeom prst="rect">
            <a:avLst/>
          </a:prstGeom>
          <a:solidFill>
            <a:srgbClr val="7A5AA6"/>
          </a:solidFill>
          <a:ln cap="flat" cmpd="sng" w="12700">
            <a:solidFill>
              <a:srgbClr val="7A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10884679" y="5888736"/>
            <a:ext cx="493392" cy="219456"/>
          </a:xfrm>
          <a:prstGeom prst="rect">
            <a:avLst/>
          </a:prstGeom>
          <a:solidFill>
            <a:srgbClr val="4A87A8"/>
          </a:solidFill>
          <a:ln cap="flat" cmpd="sng" w="12700">
            <a:solidFill>
              <a:srgbClr val="4A8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11378071" y="5888736"/>
            <a:ext cx="246696" cy="219456"/>
          </a:xfrm>
          <a:prstGeom prst="rect">
            <a:avLst/>
          </a:prstGeom>
          <a:solidFill>
            <a:srgbClr val="A8352B"/>
          </a:solidFill>
          <a:ln cap="flat" cmpd="sng" w="12700">
            <a:solidFill>
              <a:srgbClr val="A835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3401568" y="5888736"/>
            <a:ext cx="8223199" cy="219456"/>
          </a:xfrm>
          <a:prstGeom prst="rect">
            <a:avLst/>
          </a:prstGeom>
          <a:solidFill>
            <a:srgbClr val="FFFFFF">
              <a:alpha val="0"/>
            </a:srgbClr>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7"/>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How each state is detected</a:t>
            </a:r>
            <a:endParaRPr b="0" i="0" sz="3000" u="none" cap="none" strike="noStrike">
              <a:solidFill>
                <a:schemeClr val="dk1"/>
              </a:solidFill>
              <a:latin typeface="Calibri"/>
              <a:ea typeface="Calibri"/>
              <a:cs typeface="Calibri"/>
              <a:sym typeface="Calibri"/>
            </a:endParaRPr>
          </a:p>
        </p:txBody>
      </p:sp>
      <p:sp>
        <p:nvSpPr>
          <p:cNvPr id="180" name="Google Shape;180;p7"/>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The suspicious state is the one nobody else looks for, and it is the one that changes the meeting.</a:t>
            </a:r>
            <a:endParaRPr b="0" i="0" sz="1350" u="none" cap="none" strike="noStrike">
              <a:solidFill>
                <a:schemeClr val="dk1"/>
              </a:solidFill>
              <a:latin typeface="Calibri"/>
              <a:ea typeface="Calibri"/>
              <a:cs typeface="Calibri"/>
              <a:sym typeface="Calibri"/>
            </a:endParaRPr>
          </a:p>
        </p:txBody>
      </p:sp>
      <p:sp>
        <p:nvSpPr>
          <p:cNvPr id="181" name="Google Shape;181;p7"/>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82" name="Google Shape;182;p7"/>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7</a:t>
            </a:r>
            <a:endParaRPr b="0" i="0" sz="950" u="none" cap="none" strike="noStrike">
              <a:solidFill>
                <a:schemeClr val="dk1"/>
              </a:solidFill>
              <a:latin typeface="Calibri"/>
              <a:ea typeface="Calibri"/>
              <a:cs typeface="Calibri"/>
              <a:sym typeface="Calibri"/>
            </a:endParaRPr>
          </a:p>
        </p:txBody>
      </p:sp>
      <p:graphicFrame>
        <p:nvGraphicFramePr>
          <p:cNvPr id="183" name="Google Shape;183;p7"/>
          <p:cNvGraphicFramePr/>
          <p:nvPr/>
        </p:nvGraphicFramePr>
        <p:xfrm>
          <a:off x="566928" y="1517904"/>
          <a:ext cx="3000000" cy="3000000"/>
        </p:xfrm>
        <a:graphic>
          <a:graphicData uri="http://schemas.openxmlformats.org/drawingml/2006/table">
            <a:tbl>
              <a:tblPr>
                <a:noFill/>
                <a:tableStyleId>{B0F36C2E-0004-4DC9-A81D-5D709A412D0E}</a:tableStyleId>
              </a:tblPr>
              <a:tblGrid>
                <a:gridCol w="1874525"/>
                <a:gridCol w="3291850"/>
                <a:gridCol w="5888725"/>
              </a:tblGrid>
              <a:tr h="47550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State</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Detection method</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Concrete examples of what it catches</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r>
              <a:tr h="4755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Proper</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Passes every rule applicable to its module and stage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Nothing to report. Counted, tracked over time and used as the growth measure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4755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Incomplete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Fill rate against a stage aware required field profile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Qualified lead with no source. Won deal with no close reason. Account with no industry or region</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4755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Inaccurate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Format validators, checksum validators, cross field logic rules</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Email without a domain. Ten digit phone stored with a country prefix twice. GSTIN failing checksum. Open deal with a close date fourteen months ago. Contact older than their own account</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4755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Suspicious</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Plausibility and pattern rules over sets of records, not single records</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Forty leads created in four minutes by one user. Same mobile across thirty contacts. Names like asdf, test, aaa. Deal created and marked won in the same minute. Round number amounts repeated across a territory. Bulk edits touching thousands of records at 2am</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4755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Suspected duplicate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Blocking key generation then weighted fuzzy scoring, 0.70 to 0.90</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Ramesh Kulkarni against Kulkarni Ramesh at the same company with the same mobile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4755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Confirmed duplicate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Exact match on a strong identifier, or above 0.90 with two strong fields</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Identical GSTIN on two vendor records. Identical email on two contacts under one account</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bl>
          </a:graphicData>
        </a:graphic>
      </p:graphicFrame>
      <p:sp>
        <p:nvSpPr>
          <p:cNvPr id="184" name="Google Shape;184;p7"/>
          <p:cNvSpPr/>
          <p:nvPr/>
        </p:nvSpPr>
        <p:spPr>
          <a:xfrm>
            <a:off x="566928" y="5577840"/>
            <a:ext cx="11057839" cy="457200"/>
          </a:xfrm>
          <a:prstGeom prst="roundRect">
            <a:avLst>
              <a:gd fmla="val 12000"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p:nvPr/>
        </p:nvSpPr>
        <p:spPr>
          <a:xfrm>
            <a:off x="658368" y="5577840"/>
            <a:ext cx="1087495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Suspicious is a set level judgement, not a record level one. It needs the whole extract in memory, which is exactly why the rule engine runs outside Zoho rather than as a Deluge function.</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8"/>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Eight domains, one hundred points</a:t>
            </a:r>
            <a:endParaRPr b="0" i="0" sz="3000" u="none" cap="none" strike="noStrike">
              <a:solidFill>
                <a:schemeClr val="dk1"/>
              </a:solidFill>
              <a:latin typeface="Calibri"/>
              <a:ea typeface="Calibri"/>
              <a:cs typeface="Calibri"/>
              <a:sym typeface="Calibri"/>
            </a:endParaRPr>
          </a:p>
        </p:txBody>
      </p:sp>
      <p:sp>
        <p:nvSpPr>
          <p:cNvPr id="192" name="Google Shape;192;p8"/>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Weights reflect business impact, not how hard the check is to write. Stored per client and tunable.</a:t>
            </a:r>
            <a:endParaRPr b="0" i="0" sz="1350" u="none" cap="none" strike="noStrike">
              <a:solidFill>
                <a:schemeClr val="dk1"/>
              </a:solidFill>
              <a:latin typeface="Calibri"/>
              <a:ea typeface="Calibri"/>
              <a:cs typeface="Calibri"/>
              <a:sym typeface="Calibri"/>
            </a:endParaRPr>
          </a:p>
        </p:txBody>
      </p:sp>
      <p:sp>
        <p:nvSpPr>
          <p:cNvPr id="193" name="Google Shape;193;p8"/>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94" name="Google Shape;194;p8"/>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8</a:t>
            </a:r>
            <a:endParaRPr b="0" i="0" sz="950" u="none" cap="none" strike="noStrike">
              <a:solidFill>
                <a:schemeClr val="dk1"/>
              </a:solidFill>
              <a:latin typeface="Calibri"/>
              <a:ea typeface="Calibri"/>
              <a:cs typeface="Calibri"/>
              <a:sym typeface="Calibri"/>
            </a:endParaRPr>
          </a:p>
        </p:txBody>
      </p:sp>
      <p:graphicFrame>
        <p:nvGraphicFramePr>
          <p:cNvPr id="195" name="Google Shape;195;p8"/>
          <p:cNvGraphicFramePr/>
          <p:nvPr/>
        </p:nvGraphicFramePr>
        <p:xfrm>
          <a:off x="566928" y="1517904"/>
          <a:ext cx="3000000" cy="3000000"/>
        </p:xfrm>
        <a:graphic>
          <a:graphicData uri="http://schemas.openxmlformats.org/drawingml/2006/table">
            <a:tbl>
              <a:tblPr>
                <a:noFill/>
                <a:tableStyleId>{B0F36C2E-0004-4DC9-A81D-5D709A412D0E}</a:tableStyleId>
              </a:tblPr>
              <a:tblGrid>
                <a:gridCol w="1920250"/>
                <a:gridCol w="457200"/>
                <a:gridCol w="5751575"/>
                <a:gridCol w="2926075"/>
              </a:tblGrid>
              <a:tr h="38405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Domain</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Wt</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What is checked</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Feeds which state</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r>
              <a:tr h="384050">
                <a:tc>
                  <a:txBody>
                    <a:bodyPr/>
                    <a:lstStyle/>
                    <a:p>
                      <a:pPr indent="0" lvl="0" marL="0" marR="0" rtl="0" algn="l">
                        <a:spcBef>
                          <a:spcPts val="0"/>
                        </a:spcBef>
                        <a:spcAft>
                          <a:spcPts val="0"/>
                        </a:spcAft>
                        <a:buClr>
                          <a:srgbClr val="1B1F24"/>
                        </a:buClr>
                        <a:buSzPts val="980"/>
                        <a:buFont typeface="Calibri"/>
                        <a:buNone/>
                      </a:pPr>
                      <a:r>
                        <a:rPr b="1" lang="en-US" sz="980" u="none" cap="none" strike="noStrike">
                          <a:solidFill>
                            <a:srgbClr val="1B1F24"/>
                          </a:solidFill>
                          <a:latin typeface="Calibri"/>
                          <a:ea typeface="Calibri"/>
                          <a:cs typeface="Calibri"/>
                          <a:sym typeface="Calibri"/>
                        </a:rPr>
                        <a:t>Completeness</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20</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Stage aware fill rate on required and report critical fields, by module and by owner</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Incomplete</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384050">
                <a:tc>
                  <a:txBody>
                    <a:bodyPr/>
                    <a:lstStyle/>
                    <a:p>
                      <a:pPr indent="0" lvl="0" marL="0" marR="0" rtl="0" algn="l">
                        <a:spcBef>
                          <a:spcPts val="0"/>
                        </a:spcBef>
                        <a:spcAft>
                          <a:spcPts val="0"/>
                        </a:spcAft>
                        <a:buClr>
                          <a:srgbClr val="1B1F24"/>
                        </a:buClr>
                        <a:buSzPts val="980"/>
                        <a:buFont typeface="Calibri"/>
                        <a:buNone/>
                      </a:pPr>
                      <a:r>
                        <a:rPr b="1" lang="en-US" sz="980" u="none" cap="none" strike="noStrike">
                          <a:solidFill>
                            <a:srgbClr val="1B1F24"/>
                          </a:solidFill>
                          <a:latin typeface="Calibri"/>
                          <a:ea typeface="Calibri"/>
                          <a:cs typeface="Calibri"/>
                          <a:sym typeface="Calibri"/>
                        </a:rPr>
                        <a:t>Duplication</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20</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Fuzzy match clusters within and across Leads, Contacts, Accounts, Vendors</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Suspected and confirmed duplicate</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B1F24"/>
                        </a:buClr>
                        <a:buSzPts val="980"/>
                        <a:buFont typeface="Calibri"/>
                        <a:buNone/>
                      </a:pPr>
                      <a:r>
                        <a:rPr b="1" lang="en-US" sz="980" u="none" cap="none" strike="noStrike">
                          <a:solidFill>
                            <a:srgbClr val="1B1F24"/>
                          </a:solidFill>
                          <a:latin typeface="Calibri"/>
                          <a:ea typeface="Calibri"/>
                          <a:cs typeface="Calibri"/>
                          <a:sym typeface="Calibri"/>
                        </a:rPr>
                        <a:t>Validity</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15</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Email, phone, GST, PAN, IFSC, pincode, picklist values off list, cross field logic</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Inaccurate</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384050">
                <a:tc>
                  <a:txBody>
                    <a:bodyPr/>
                    <a:lstStyle/>
                    <a:p>
                      <a:pPr indent="0" lvl="0" marL="0" marR="0" rtl="0" algn="l">
                        <a:spcBef>
                          <a:spcPts val="0"/>
                        </a:spcBef>
                        <a:spcAft>
                          <a:spcPts val="0"/>
                        </a:spcAft>
                        <a:buClr>
                          <a:srgbClr val="1B1F24"/>
                        </a:buClr>
                        <a:buSzPts val="980"/>
                        <a:buFont typeface="Calibri"/>
                        <a:buNone/>
                      </a:pPr>
                      <a:r>
                        <a:rPr b="1" lang="en-US" sz="980" u="none" cap="none" strike="noStrike">
                          <a:solidFill>
                            <a:srgbClr val="1B1F24"/>
                          </a:solidFill>
                          <a:latin typeface="Calibri"/>
                          <a:ea typeface="Calibri"/>
                          <a:cs typeface="Calibri"/>
                          <a:sym typeface="Calibri"/>
                        </a:rPr>
                        <a:t>Plausibility</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10</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Entry velocity, repeated values, test and dummy patterns, impossible sequences</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Suspicious</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B1F24"/>
                        </a:buClr>
                        <a:buSzPts val="980"/>
                        <a:buFont typeface="Calibri"/>
                        <a:buNone/>
                      </a:pPr>
                      <a:r>
                        <a:rPr b="1" lang="en-US" sz="980" u="none" cap="none" strike="noStrike">
                          <a:solidFill>
                            <a:srgbClr val="1B1F24"/>
                          </a:solidFill>
                          <a:latin typeface="Calibri"/>
                          <a:ea typeface="Calibri"/>
                          <a:cs typeface="Calibri"/>
                          <a:sym typeface="Calibri"/>
                        </a:rPr>
                        <a:t>Freshness</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10</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Records untouched beyond threshold, overdue close dates, stale open tickets</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Incomplete and inaccurate</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384050">
                <a:tc>
                  <a:txBody>
                    <a:bodyPr/>
                    <a:lstStyle/>
                    <a:p>
                      <a:pPr indent="0" lvl="0" marL="0" marR="0" rtl="0" algn="l">
                        <a:spcBef>
                          <a:spcPts val="0"/>
                        </a:spcBef>
                        <a:spcAft>
                          <a:spcPts val="0"/>
                        </a:spcAft>
                        <a:buClr>
                          <a:srgbClr val="1B1F24"/>
                        </a:buClr>
                        <a:buSzPts val="980"/>
                        <a:buFont typeface="Calibri"/>
                        <a:buNone/>
                      </a:pPr>
                      <a:r>
                        <a:rPr b="1" lang="en-US" sz="980" u="none" cap="none" strike="noStrike">
                          <a:solidFill>
                            <a:srgbClr val="1B1F24"/>
                          </a:solidFill>
                          <a:latin typeface="Calibri"/>
                          <a:ea typeface="Calibri"/>
                          <a:cs typeface="Calibri"/>
                          <a:sym typeface="Calibri"/>
                        </a:rPr>
                        <a:t>Referential integrity</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10</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Orphan child records, broken lookups, missing owner, inactive user assignments</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Inaccurate</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B1F24"/>
                        </a:buClr>
                        <a:buSzPts val="980"/>
                        <a:buFont typeface="Calibri"/>
                        <a:buNone/>
                      </a:pPr>
                      <a:r>
                        <a:rPr b="1" lang="en-US" sz="980" u="none" cap="none" strike="noStrike">
                          <a:solidFill>
                            <a:srgbClr val="1B1F24"/>
                          </a:solidFill>
                          <a:latin typeface="Calibri"/>
                          <a:ea typeface="Calibri"/>
                          <a:cs typeface="Calibri"/>
                          <a:sym typeface="Calibri"/>
                        </a:rPr>
                        <a:t>Configuration hygiene</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8</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Unused fields and modules, dead workflows, layout sprawl, duplicate picklists</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Org level only</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384050">
                <a:tc>
                  <a:txBody>
                    <a:bodyPr/>
                    <a:lstStyle/>
                    <a:p>
                      <a:pPr indent="0" lvl="0" marL="0" marR="0" rtl="0" algn="l">
                        <a:spcBef>
                          <a:spcPts val="0"/>
                        </a:spcBef>
                        <a:spcAft>
                          <a:spcPts val="0"/>
                        </a:spcAft>
                        <a:buClr>
                          <a:srgbClr val="1B1F24"/>
                        </a:buClr>
                        <a:buSzPts val="980"/>
                        <a:buFont typeface="Calibri"/>
                        <a:buNone/>
                      </a:pPr>
                      <a:r>
                        <a:rPr b="1" lang="en-US" sz="980" u="none" cap="none" strike="noStrike">
                          <a:solidFill>
                            <a:srgbClr val="1B1F24"/>
                          </a:solidFill>
                          <a:latin typeface="Calibri"/>
                          <a:ea typeface="Calibri"/>
                          <a:cs typeface="Calibri"/>
                          <a:sym typeface="Calibri"/>
                        </a:rPr>
                        <a:t>PII and access</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4</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Unclassified personal data, over broad profiles, export rights, missing masking</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Org level only</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1B1F24"/>
                        </a:buClr>
                        <a:buSzPts val="980"/>
                        <a:buFont typeface="Calibri"/>
                        <a:buNone/>
                      </a:pPr>
                      <a:r>
                        <a:rPr b="1" lang="en-US" sz="980" u="none" cap="none" strike="noStrike">
                          <a:solidFill>
                            <a:srgbClr val="1B1F24"/>
                          </a:solidFill>
                          <a:latin typeface="Calibri"/>
                          <a:ea typeface="Calibri"/>
                          <a:cs typeface="Calibri"/>
                          <a:sym typeface="Calibri"/>
                        </a:rPr>
                        <a:t>Automation health</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3</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Failing functions, throttled schedulers, workflows never triggered, API error rate</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80"/>
                        <a:buFont typeface="Calibri"/>
                        <a:buNone/>
                      </a:pPr>
                      <a:r>
                        <a:rPr lang="en-US" sz="980" u="none" cap="none" strike="noStrike">
                          <a:solidFill>
                            <a:srgbClr val="1B1F24"/>
                          </a:solidFill>
                          <a:latin typeface="Calibri"/>
                          <a:ea typeface="Calibri"/>
                          <a:cs typeface="Calibri"/>
                          <a:sym typeface="Calibri"/>
                        </a:rPr>
                        <a:t>Org level only</a:t>
                      </a:r>
                      <a:endParaRPr sz="98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bl>
          </a:graphicData>
        </a:graphic>
      </p:graphicFrame>
      <p:sp>
        <p:nvSpPr>
          <p:cNvPr id="196" name="Google Shape;196;p8"/>
          <p:cNvSpPr/>
          <p:nvPr/>
        </p:nvSpPr>
        <p:spPr>
          <a:xfrm>
            <a:off x="566928" y="5577840"/>
            <a:ext cx="11057839" cy="457200"/>
          </a:xfrm>
          <a:prstGeom prst="roundRect">
            <a:avLst>
              <a:gd fmla="val 12000"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p:nvPr/>
        </p:nvSpPr>
        <p:spPr>
          <a:xfrm>
            <a:off x="658368" y="5577840"/>
            <a:ext cx="1087495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Plausibility is new in version two and carries ten points. It is the domain that produces the suspicious state, and it is the only one on this list that a client has never been shown before.</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sp>
        <p:nvSpPr>
          <p:cNvPr id="203" name="Google Shape;203;p9"/>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How the score is produced</a:t>
            </a:r>
            <a:endParaRPr b="0" i="0" sz="3000" u="none" cap="none" strike="noStrike">
              <a:solidFill>
                <a:schemeClr val="dk1"/>
              </a:solidFill>
              <a:latin typeface="Calibri"/>
              <a:ea typeface="Calibri"/>
              <a:cs typeface="Calibri"/>
              <a:sym typeface="Calibri"/>
            </a:endParaRPr>
          </a:p>
        </p:txBody>
      </p:sp>
      <p:sp>
        <p:nvSpPr>
          <p:cNvPr id="204" name="Google Shape;204;p9"/>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Four levels of roll up. The same maths runs for the whole org, one module, one user or one date range.</a:t>
            </a:r>
            <a:endParaRPr b="0" i="0" sz="1350" u="none" cap="none" strike="noStrike">
              <a:solidFill>
                <a:schemeClr val="dk1"/>
              </a:solidFill>
              <a:latin typeface="Calibri"/>
              <a:ea typeface="Calibri"/>
              <a:cs typeface="Calibri"/>
              <a:sym typeface="Calibri"/>
            </a:endParaRPr>
          </a:p>
        </p:txBody>
      </p:sp>
      <p:sp>
        <p:nvSpPr>
          <p:cNvPr id="205" name="Google Shape;205;p9"/>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206" name="Google Shape;206;p9"/>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9</a:t>
            </a:r>
            <a:endParaRPr b="0" i="0" sz="950" u="none" cap="none" strike="noStrike">
              <a:solidFill>
                <a:schemeClr val="dk1"/>
              </a:solidFill>
              <a:latin typeface="Calibri"/>
              <a:ea typeface="Calibri"/>
              <a:cs typeface="Calibri"/>
              <a:sym typeface="Calibri"/>
            </a:endParaRPr>
          </a:p>
        </p:txBody>
      </p:sp>
      <p:graphicFrame>
        <p:nvGraphicFramePr>
          <p:cNvPr id="207" name="Google Shape;207;p9"/>
          <p:cNvGraphicFramePr/>
          <p:nvPr/>
        </p:nvGraphicFramePr>
        <p:xfrm>
          <a:off x="566928" y="1572768"/>
          <a:ext cx="5943600" cy="3977640"/>
        </p:xfrm>
        <a:graphic>
          <a:graphicData uri="http://schemas.openxmlformats.org/drawingml/2006/chart">
            <c:chart r:id="rId3"/>
          </a:graphicData>
        </a:graphic>
      </p:graphicFrame>
      <p:sp>
        <p:nvSpPr>
          <p:cNvPr id="208" name="Google Shape;208;p9"/>
          <p:cNvSpPr/>
          <p:nvPr/>
        </p:nvSpPr>
        <p:spPr>
          <a:xfrm>
            <a:off x="6830568" y="1673352"/>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p:nvPr/>
        </p:nvSpPr>
        <p:spPr>
          <a:xfrm>
            <a:off x="6830568" y="1673352"/>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1</a:t>
            </a:r>
            <a:endParaRPr b="0" i="0" sz="800" u="none" cap="none" strike="noStrike">
              <a:solidFill>
                <a:schemeClr val="dk1"/>
              </a:solidFill>
              <a:latin typeface="Calibri"/>
              <a:ea typeface="Calibri"/>
              <a:cs typeface="Calibri"/>
              <a:sym typeface="Calibri"/>
            </a:endParaRPr>
          </a:p>
        </p:txBody>
      </p:sp>
      <p:sp>
        <p:nvSpPr>
          <p:cNvPr id="210" name="Google Shape;210;p9"/>
          <p:cNvSpPr/>
          <p:nvPr/>
        </p:nvSpPr>
        <p:spPr>
          <a:xfrm>
            <a:off x="7104888" y="1645920"/>
            <a:ext cx="451987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Record level</a:t>
            </a:r>
            <a:endParaRPr b="0" i="0" sz="1150" u="none" cap="none" strike="noStrike">
              <a:solidFill>
                <a:schemeClr val="dk1"/>
              </a:solidFill>
              <a:latin typeface="Calibri"/>
              <a:ea typeface="Calibri"/>
              <a:cs typeface="Calibri"/>
              <a:sym typeface="Calibri"/>
            </a:endParaRPr>
          </a:p>
        </p:txBody>
      </p:sp>
      <p:sp>
        <p:nvSpPr>
          <p:cNvPr id="211" name="Google Shape;211;p9"/>
          <p:cNvSpPr/>
          <p:nvPr/>
        </p:nvSpPr>
        <p:spPr>
          <a:xfrm>
            <a:off x="7104888" y="1883664"/>
            <a:ext cx="4519879" cy="53035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Evaluated against every rule in scope for its module and stage, then assigned a single state.</a:t>
            </a:r>
            <a:endParaRPr b="0" i="0" sz="1000" u="none" cap="none" strike="noStrike">
              <a:solidFill>
                <a:schemeClr val="dk1"/>
              </a:solidFill>
              <a:latin typeface="Calibri"/>
              <a:ea typeface="Calibri"/>
              <a:cs typeface="Calibri"/>
              <a:sym typeface="Calibri"/>
            </a:endParaRPr>
          </a:p>
        </p:txBody>
      </p:sp>
      <p:sp>
        <p:nvSpPr>
          <p:cNvPr id="212" name="Google Shape;212;p9"/>
          <p:cNvSpPr/>
          <p:nvPr/>
        </p:nvSpPr>
        <p:spPr>
          <a:xfrm>
            <a:off x="6830568" y="2587752"/>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p:nvPr/>
        </p:nvSpPr>
        <p:spPr>
          <a:xfrm>
            <a:off x="6830568" y="2587752"/>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
        <p:nvSpPr>
          <p:cNvPr id="214" name="Google Shape;214;p9"/>
          <p:cNvSpPr/>
          <p:nvPr/>
        </p:nvSpPr>
        <p:spPr>
          <a:xfrm>
            <a:off x="7104888" y="2560320"/>
            <a:ext cx="451987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Rule and domain level</a:t>
            </a:r>
            <a:endParaRPr b="0" i="0" sz="1150" u="none" cap="none" strike="noStrike">
              <a:solidFill>
                <a:schemeClr val="dk1"/>
              </a:solidFill>
              <a:latin typeface="Calibri"/>
              <a:ea typeface="Calibri"/>
              <a:cs typeface="Calibri"/>
              <a:sym typeface="Calibri"/>
            </a:endParaRPr>
          </a:p>
        </p:txBody>
      </p:sp>
      <p:sp>
        <p:nvSpPr>
          <p:cNvPr id="215" name="Google Shape;215;p9"/>
          <p:cNvSpPr/>
          <p:nvPr/>
        </p:nvSpPr>
        <p:spPr>
          <a:xfrm>
            <a:off x="7104888" y="2798064"/>
            <a:ext cx="4519879" cy="53035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Offending over eligible records per rule, averaged inside a domain and weighted by severity.</a:t>
            </a:r>
            <a:endParaRPr b="0" i="0" sz="1000" u="none" cap="none" strike="noStrike">
              <a:solidFill>
                <a:schemeClr val="dk1"/>
              </a:solidFill>
              <a:latin typeface="Calibri"/>
              <a:ea typeface="Calibri"/>
              <a:cs typeface="Calibri"/>
              <a:sym typeface="Calibri"/>
            </a:endParaRPr>
          </a:p>
        </p:txBody>
      </p:sp>
      <p:sp>
        <p:nvSpPr>
          <p:cNvPr id="216" name="Google Shape;216;p9"/>
          <p:cNvSpPr/>
          <p:nvPr/>
        </p:nvSpPr>
        <p:spPr>
          <a:xfrm>
            <a:off x="6830568" y="3502152"/>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6830568" y="3502152"/>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
        <p:nvSpPr>
          <p:cNvPr id="218" name="Google Shape;218;p9"/>
          <p:cNvSpPr/>
          <p:nvPr/>
        </p:nvSpPr>
        <p:spPr>
          <a:xfrm>
            <a:off x="7104888" y="3474720"/>
            <a:ext cx="451987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Slice level</a:t>
            </a:r>
            <a:endParaRPr b="0" i="0" sz="1150" u="none" cap="none" strike="noStrike">
              <a:solidFill>
                <a:schemeClr val="dk1"/>
              </a:solidFill>
              <a:latin typeface="Calibri"/>
              <a:ea typeface="Calibri"/>
              <a:cs typeface="Calibri"/>
              <a:sym typeface="Calibri"/>
            </a:endParaRPr>
          </a:p>
        </p:txBody>
      </p:sp>
      <p:sp>
        <p:nvSpPr>
          <p:cNvPr id="219" name="Google Shape;219;p9"/>
          <p:cNvSpPr/>
          <p:nvPr/>
        </p:nvSpPr>
        <p:spPr>
          <a:xfrm>
            <a:off x="7104888" y="3712464"/>
            <a:ext cx="4519879"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The same roll up recomputed for any filter. One module, one user, one team, one date range, or any combination.</a:t>
            </a:r>
            <a:endParaRPr b="0" i="0" sz="1000" u="none" cap="none" strike="noStrike">
              <a:solidFill>
                <a:schemeClr val="dk1"/>
              </a:solidFill>
              <a:latin typeface="Calibri"/>
              <a:ea typeface="Calibri"/>
              <a:cs typeface="Calibri"/>
              <a:sym typeface="Calibri"/>
            </a:endParaRPr>
          </a:p>
        </p:txBody>
      </p:sp>
      <p:sp>
        <p:nvSpPr>
          <p:cNvPr id="220" name="Google Shape;220;p9"/>
          <p:cNvSpPr/>
          <p:nvPr/>
        </p:nvSpPr>
        <p:spPr>
          <a:xfrm>
            <a:off x="6830568" y="4526280"/>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
          <p:cNvSpPr/>
          <p:nvPr/>
        </p:nvSpPr>
        <p:spPr>
          <a:xfrm>
            <a:off x="6830568" y="4526280"/>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
        <p:nvSpPr>
          <p:cNvPr id="222" name="Google Shape;222;p9"/>
          <p:cNvSpPr/>
          <p:nvPr/>
        </p:nvSpPr>
        <p:spPr>
          <a:xfrm>
            <a:off x="7104888" y="4498848"/>
            <a:ext cx="451987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Comparison</a:t>
            </a:r>
            <a:endParaRPr b="0" i="0" sz="1150" u="none" cap="none" strike="noStrike">
              <a:solidFill>
                <a:schemeClr val="dk1"/>
              </a:solidFill>
              <a:latin typeface="Calibri"/>
              <a:ea typeface="Calibri"/>
              <a:cs typeface="Calibri"/>
              <a:sym typeface="Calibri"/>
            </a:endParaRPr>
          </a:p>
        </p:txBody>
      </p:sp>
      <p:sp>
        <p:nvSpPr>
          <p:cNvPr id="223" name="Google Shape;223;p9"/>
          <p:cNvSpPr/>
          <p:nvPr/>
        </p:nvSpPr>
        <p:spPr>
          <a:xfrm>
            <a:off x="7104888" y="4736592"/>
            <a:ext cx="4519879" cy="53035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Every slice carries a prior period value and a peer benchmark, so no number is shown without context.</a:t>
            </a:r>
            <a:endParaRPr b="0" i="0" sz="1000" u="none" cap="none" strike="noStrike">
              <a:solidFill>
                <a:schemeClr val="dk1"/>
              </a:solidFill>
              <a:latin typeface="Calibri"/>
              <a:ea typeface="Calibri"/>
              <a:cs typeface="Calibri"/>
              <a:sym typeface="Calibri"/>
            </a:endParaRPr>
          </a:p>
        </p:txBody>
      </p:sp>
      <p:sp>
        <p:nvSpPr>
          <p:cNvPr id="224" name="Google Shape;224;p9"/>
          <p:cNvSpPr/>
          <p:nvPr/>
        </p:nvSpPr>
        <p:spPr>
          <a:xfrm>
            <a:off x="6830568" y="5413248"/>
            <a:ext cx="4794199" cy="868680"/>
          </a:xfrm>
          <a:prstGeom prst="roundRect">
            <a:avLst>
              <a:gd fmla="val 8421"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p:nvPr/>
        </p:nvSpPr>
        <p:spPr>
          <a:xfrm>
            <a:off x="6922008" y="5413248"/>
            <a:ext cx="4611319" cy="8686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62A30"/>
              </a:buClr>
              <a:buSzPts val="1000"/>
              <a:buFont typeface="Calibri"/>
              <a:buNone/>
            </a:pPr>
            <a:r>
              <a:rPr b="1" i="0" lang="en-US" sz="1000" u="none" cap="none" strike="noStrike">
                <a:solidFill>
                  <a:srgbClr val="062A30"/>
                </a:solidFill>
                <a:latin typeface="Calibri"/>
                <a:ea typeface="Calibri"/>
                <a:cs typeface="Calibri"/>
                <a:sym typeface="Calibri"/>
              </a:rPr>
              <a:t>Worked example: 0.20(58) + 0.20(34) + 0.15(78) + 0.10(57) + 0.10(41) + 0.10(66) + 0.08(38) + 0.04(44) + 0.03(71) = 53. Band: At risk.</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sp>
        <p:nvSpPr>
          <p:cNvPr id="231" name="Google Shape;231;p10"/>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The user lens: how data quality gets attributed</a:t>
            </a:r>
            <a:endParaRPr b="0" i="0" sz="3000" u="none" cap="none" strike="noStrike">
              <a:solidFill>
                <a:schemeClr val="dk1"/>
              </a:solidFill>
              <a:latin typeface="Calibri"/>
              <a:ea typeface="Calibri"/>
              <a:cs typeface="Calibri"/>
              <a:sym typeface="Calibri"/>
            </a:endParaRPr>
          </a:p>
        </p:txBody>
      </p:sp>
      <p:sp>
        <p:nvSpPr>
          <p:cNvPr id="232" name="Google Shape;232;p10"/>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Get the attribution model wrong and the whole view becomes an argument instead of a plan.</a:t>
            </a:r>
            <a:endParaRPr b="0" i="0" sz="1350" u="none" cap="none" strike="noStrike">
              <a:solidFill>
                <a:schemeClr val="dk1"/>
              </a:solidFill>
              <a:latin typeface="Calibri"/>
              <a:ea typeface="Calibri"/>
              <a:cs typeface="Calibri"/>
              <a:sym typeface="Calibri"/>
            </a:endParaRPr>
          </a:p>
        </p:txBody>
      </p:sp>
      <p:sp>
        <p:nvSpPr>
          <p:cNvPr id="233" name="Google Shape;233;p10"/>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234" name="Google Shape;234;p10"/>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10</a:t>
            </a:r>
            <a:endParaRPr b="0" i="0" sz="950" u="none" cap="none" strike="noStrike">
              <a:solidFill>
                <a:schemeClr val="dk1"/>
              </a:solidFill>
              <a:latin typeface="Calibri"/>
              <a:ea typeface="Calibri"/>
              <a:cs typeface="Calibri"/>
              <a:sym typeface="Calibri"/>
            </a:endParaRPr>
          </a:p>
        </p:txBody>
      </p:sp>
      <p:sp>
        <p:nvSpPr>
          <p:cNvPr id="235" name="Google Shape;235;p10"/>
          <p:cNvSpPr/>
          <p:nvPr/>
        </p:nvSpPr>
        <p:spPr>
          <a:xfrm>
            <a:off x="566928" y="1554480"/>
            <a:ext cx="11057839" cy="603504"/>
          </a:xfrm>
          <a:prstGeom prst="roundRect">
            <a:avLst>
              <a:gd fmla="val 10606"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0"/>
          <p:cNvSpPr/>
          <p:nvPr/>
        </p:nvSpPr>
        <p:spPr>
          <a:xfrm>
            <a:off x="713232" y="1673352"/>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
          <p:cNvSpPr/>
          <p:nvPr/>
        </p:nvSpPr>
        <p:spPr>
          <a:xfrm>
            <a:off x="713232" y="167335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238" name="Google Shape;238;p10"/>
          <p:cNvSpPr/>
          <p:nvPr/>
        </p:nvSpPr>
        <p:spPr>
          <a:xfrm>
            <a:off x="1188720" y="1600200"/>
            <a:ext cx="256032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Three attributions</a:t>
            </a:r>
            <a:endParaRPr b="0" i="0" sz="1300" u="none" cap="none" strike="noStrike">
              <a:solidFill>
                <a:schemeClr val="dk1"/>
              </a:solidFill>
              <a:latin typeface="Calibri"/>
              <a:ea typeface="Calibri"/>
              <a:cs typeface="Calibri"/>
              <a:sym typeface="Calibri"/>
            </a:endParaRPr>
          </a:p>
        </p:txBody>
      </p:sp>
      <p:sp>
        <p:nvSpPr>
          <p:cNvPr id="239" name="Google Shape;239;p10"/>
          <p:cNvSpPr/>
          <p:nvPr/>
        </p:nvSpPr>
        <p:spPr>
          <a:xfrm>
            <a:off x="3886200" y="1600200"/>
            <a:ext cx="7555687" cy="5120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Created by shows entry quality. Modified by shows maintenance quality. Owner shows who is accountable for the record now. Default view is created by, because that is where the defect enters.</a:t>
            </a:r>
            <a:endParaRPr b="0" i="0" sz="1150" u="none" cap="none" strike="noStrike">
              <a:solidFill>
                <a:schemeClr val="dk1"/>
              </a:solidFill>
              <a:latin typeface="Calibri"/>
              <a:ea typeface="Calibri"/>
              <a:cs typeface="Calibri"/>
              <a:sym typeface="Calibri"/>
            </a:endParaRPr>
          </a:p>
        </p:txBody>
      </p:sp>
      <p:sp>
        <p:nvSpPr>
          <p:cNvPr id="240" name="Google Shape;240;p10"/>
          <p:cNvSpPr/>
          <p:nvPr/>
        </p:nvSpPr>
        <p:spPr>
          <a:xfrm>
            <a:off x="566928" y="2231136"/>
            <a:ext cx="11057839" cy="603504"/>
          </a:xfrm>
          <a:prstGeom prst="roundRect">
            <a:avLst>
              <a:gd fmla="val 10606"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
          <p:cNvSpPr/>
          <p:nvPr/>
        </p:nvSpPr>
        <p:spPr>
          <a:xfrm>
            <a:off x="713232" y="2350008"/>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0"/>
          <p:cNvSpPr/>
          <p:nvPr/>
        </p:nvSpPr>
        <p:spPr>
          <a:xfrm>
            <a:off x="713232" y="235000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243" name="Google Shape;243;p10"/>
          <p:cNvSpPr/>
          <p:nvPr/>
        </p:nvSpPr>
        <p:spPr>
          <a:xfrm>
            <a:off x="1188720" y="2276856"/>
            <a:ext cx="256032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Volume adjusted</a:t>
            </a:r>
            <a:endParaRPr b="0" i="0" sz="1300" u="none" cap="none" strike="noStrike">
              <a:solidFill>
                <a:schemeClr val="dk1"/>
              </a:solidFill>
              <a:latin typeface="Calibri"/>
              <a:ea typeface="Calibri"/>
              <a:cs typeface="Calibri"/>
              <a:sym typeface="Calibri"/>
            </a:endParaRPr>
          </a:p>
        </p:txBody>
      </p:sp>
      <p:sp>
        <p:nvSpPr>
          <p:cNvPr id="244" name="Google Shape;244;p10"/>
          <p:cNvSpPr/>
          <p:nvPr/>
        </p:nvSpPr>
        <p:spPr>
          <a:xfrm>
            <a:off x="3886200" y="2276856"/>
            <a:ext cx="7555687" cy="5120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A user with forty records is not compared naively with one holding four thousand. Below a minimum sample the user is shown as insufficient data rather than given a misleading score.</a:t>
            </a:r>
            <a:endParaRPr b="0" i="0" sz="1150" u="none" cap="none" strike="noStrike">
              <a:solidFill>
                <a:schemeClr val="dk1"/>
              </a:solidFill>
              <a:latin typeface="Calibri"/>
              <a:ea typeface="Calibri"/>
              <a:cs typeface="Calibri"/>
              <a:sym typeface="Calibri"/>
            </a:endParaRPr>
          </a:p>
        </p:txBody>
      </p:sp>
      <p:sp>
        <p:nvSpPr>
          <p:cNvPr id="245" name="Google Shape;245;p10"/>
          <p:cNvSpPr/>
          <p:nvPr/>
        </p:nvSpPr>
        <p:spPr>
          <a:xfrm>
            <a:off x="566928" y="2907792"/>
            <a:ext cx="11057839" cy="603504"/>
          </a:xfrm>
          <a:prstGeom prst="roundRect">
            <a:avLst>
              <a:gd fmla="val 10606"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0"/>
          <p:cNvSpPr/>
          <p:nvPr/>
        </p:nvSpPr>
        <p:spPr>
          <a:xfrm>
            <a:off x="713232" y="3026664"/>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0"/>
          <p:cNvSpPr/>
          <p:nvPr/>
        </p:nvSpPr>
        <p:spPr>
          <a:xfrm>
            <a:off x="713232" y="302666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248" name="Google Shape;248;p10"/>
          <p:cNvSpPr/>
          <p:nvPr/>
        </p:nvSpPr>
        <p:spPr>
          <a:xfrm>
            <a:off x="1188720" y="2953512"/>
            <a:ext cx="256032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Bulk and system excluded</a:t>
            </a:r>
            <a:endParaRPr b="0" i="0" sz="1300" u="none" cap="none" strike="noStrike">
              <a:solidFill>
                <a:schemeClr val="dk1"/>
              </a:solidFill>
              <a:latin typeface="Calibri"/>
              <a:ea typeface="Calibri"/>
              <a:cs typeface="Calibri"/>
              <a:sym typeface="Calibri"/>
            </a:endParaRPr>
          </a:p>
        </p:txBody>
      </p:sp>
      <p:sp>
        <p:nvSpPr>
          <p:cNvPr id="249" name="Google Shape;249;p10"/>
          <p:cNvSpPr/>
          <p:nvPr/>
        </p:nvSpPr>
        <p:spPr>
          <a:xfrm>
            <a:off x="3886200" y="2953512"/>
            <a:ext cx="7555687" cy="5120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Imports, integration users and migration loads are separated out. Otherwise one bad import makes an integration account look like the worst performer in the company and hides the real pattern.</a:t>
            </a:r>
            <a:endParaRPr b="0" i="0" sz="1150" u="none" cap="none" strike="noStrike">
              <a:solidFill>
                <a:schemeClr val="dk1"/>
              </a:solidFill>
              <a:latin typeface="Calibri"/>
              <a:ea typeface="Calibri"/>
              <a:cs typeface="Calibri"/>
              <a:sym typeface="Calibri"/>
            </a:endParaRPr>
          </a:p>
        </p:txBody>
      </p:sp>
      <p:sp>
        <p:nvSpPr>
          <p:cNvPr id="250" name="Google Shape;250;p10"/>
          <p:cNvSpPr/>
          <p:nvPr/>
        </p:nvSpPr>
        <p:spPr>
          <a:xfrm>
            <a:off x="566928" y="3584448"/>
            <a:ext cx="11057839" cy="603504"/>
          </a:xfrm>
          <a:prstGeom prst="roundRect">
            <a:avLst>
              <a:gd fmla="val 10606"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0"/>
          <p:cNvSpPr/>
          <p:nvPr/>
        </p:nvSpPr>
        <p:spPr>
          <a:xfrm>
            <a:off x="713232" y="3703320"/>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
          <p:cNvSpPr/>
          <p:nvPr/>
        </p:nvSpPr>
        <p:spPr>
          <a:xfrm>
            <a:off x="713232" y="37033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253" name="Google Shape;253;p10"/>
          <p:cNvSpPr/>
          <p:nvPr/>
        </p:nvSpPr>
        <p:spPr>
          <a:xfrm>
            <a:off x="1188720" y="3630168"/>
            <a:ext cx="256032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Rolled up three ways</a:t>
            </a:r>
            <a:endParaRPr b="0" i="0" sz="1300" u="none" cap="none" strike="noStrike">
              <a:solidFill>
                <a:schemeClr val="dk1"/>
              </a:solidFill>
              <a:latin typeface="Calibri"/>
              <a:ea typeface="Calibri"/>
              <a:cs typeface="Calibri"/>
              <a:sym typeface="Calibri"/>
            </a:endParaRPr>
          </a:p>
        </p:txBody>
      </p:sp>
      <p:sp>
        <p:nvSpPr>
          <p:cNvPr id="254" name="Google Shape;254;p10"/>
          <p:cNvSpPr/>
          <p:nvPr/>
        </p:nvSpPr>
        <p:spPr>
          <a:xfrm>
            <a:off x="3886200" y="3630168"/>
            <a:ext cx="7555687" cy="5120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By individual, by team or territory, and by manager. The manager roll up is the one that gets acted on, because it lands with someone who can change behaviour.</a:t>
            </a:r>
            <a:endParaRPr b="0" i="0" sz="1150" u="none" cap="none" strike="noStrike">
              <a:solidFill>
                <a:schemeClr val="dk1"/>
              </a:solidFill>
              <a:latin typeface="Calibri"/>
              <a:ea typeface="Calibri"/>
              <a:cs typeface="Calibri"/>
              <a:sym typeface="Calibri"/>
            </a:endParaRPr>
          </a:p>
        </p:txBody>
      </p:sp>
      <p:sp>
        <p:nvSpPr>
          <p:cNvPr id="255" name="Google Shape;255;p10"/>
          <p:cNvSpPr/>
          <p:nvPr/>
        </p:nvSpPr>
        <p:spPr>
          <a:xfrm>
            <a:off x="566928" y="4261104"/>
            <a:ext cx="11057839" cy="603504"/>
          </a:xfrm>
          <a:prstGeom prst="roundRect">
            <a:avLst>
              <a:gd fmla="val 10606"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0"/>
          <p:cNvSpPr/>
          <p:nvPr/>
        </p:nvSpPr>
        <p:spPr>
          <a:xfrm>
            <a:off x="713232" y="4379976"/>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0"/>
          <p:cNvSpPr/>
          <p:nvPr/>
        </p:nvSpPr>
        <p:spPr>
          <a:xfrm>
            <a:off x="713232" y="4379976"/>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258" name="Google Shape;258;p10"/>
          <p:cNvSpPr/>
          <p:nvPr/>
        </p:nvSpPr>
        <p:spPr>
          <a:xfrm>
            <a:off x="1188720" y="4306824"/>
            <a:ext cx="256032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Coaching bands, not ranks</a:t>
            </a:r>
            <a:endParaRPr b="0" i="0" sz="1300" u="none" cap="none" strike="noStrike">
              <a:solidFill>
                <a:schemeClr val="dk1"/>
              </a:solidFill>
              <a:latin typeface="Calibri"/>
              <a:ea typeface="Calibri"/>
              <a:cs typeface="Calibri"/>
              <a:sym typeface="Calibri"/>
            </a:endParaRPr>
          </a:p>
        </p:txBody>
      </p:sp>
      <p:sp>
        <p:nvSpPr>
          <p:cNvPr id="259" name="Google Shape;259;p10"/>
          <p:cNvSpPr/>
          <p:nvPr/>
        </p:nvSpPr>
        <p:spPr>
          <a:xfrm>
            <a:off x="3886200" y="4306824"/>
            <a:ext cx="7555687" cy="5120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Exemplary, solid, needs coaching, needs intervention. A band suggests a conversation. A raw rank order invites a leaderboard culture and then invites gaming.</a:t>
            </a:r>
            <a:endParaRPr b="0" i="0" sz="1150" u="none" cap="none" strike="noStrike">
              <a:solidFill>
                <a:schemeClr val="dk1"/>
              </a:solidFill>
              <a:latin typeface="Calibri"/>
              <a:ea typeface="Calibri"/>
              <a:cs typeface="Calibri"/>
              <a:sym typeface="Calibri"/>
            </a:endParaRPr>
          </a:p>
        </p:txBody>
      </p:sp>
      <p:sp>
        <p:nvSpPr>
          <p:cNvPr id="260" name="Google Shape;260;p10"/>
          <p:cNvSpPr/>
          <p:nvPr/>
        </p:nvSpPr>
        <p:spPr>
          <a:xfrm>
            <a:off x="566928" y="4937760"/>
            <a:ext cx="11057839" cy="603504"/>
          </a:xfrm>
          <a:prstGeom prst="roundRect">
            <a:avLst>
              <a:gd fmla="val 10606"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0"/>
          <p:cNvSpPr/>
          <p:nvPr/>
        </p:nvSpPr>
        <p:spPr>
          <a:xfrm>
            <a:off x="713232" y="5056632"/>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0"/>
          <p:cNvSpPr/>
          <p:nvPr/>
        </p:nvSpPr>
        <p:spPr>
          <a:xfrm>
            <a:off x="713232" y="505663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6</a:t>
            </a:r>
            <a:endParaRPr b="0" i="0" sz="1200" u="none" cap="none" strike="noStrike">
              <a:solidFill>
                <a:schemeClr val="dk1"/>
              </a:solidFill>
              <a:latin typeface="Calibri"/>
              <a:ea typeface="Calibri"/>
              <a:cs typeface="Calibri"/>
              <a:sym typeface="Calibri"/>
            </a:endParaRPr>
          </a:p>
        </p:txBody>
      </p:sp>
      <p:sp>
        <p:nvSpPr>
          <p:cNvPr id="263" name="Google Shape;263;p10"/>
          <p:cNvSpPr/>
          <p:nvPr/>
        </p:nvSpPr>
        <p:spPr>
          <a:xfrm>
            <a:off x="1188720" y="4983480"/>
            <a:ext cx="256032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Trend beats absolute</a:t>
            </a:r>
            <a:endParaRPr b="0" i="0" sz="1300" u="none" cap="none" strike="noStrike">
              <a:solidFill>
                <a:schemeClr val="dk1"/>
              </a:solidFill>
              <a:latin typeface="Calibri"/>
              <a:ea typeface="Calibri"/>
              <a:cs typeface="Calibri"/>
              <a:sym typeface="Calibri"/>
            </a:endParaRPr>
          </a:p>
        </p:txBody>
      </p:sp>
      <p:sp>
        <p:nvSpPr>
          <p:cNvPr id="264" name="Google Shape;264;p10"/>
          <p:cNvSpPr/>
          <p:nvPr/>
        </p:nvSpPr>
        <p:spPr>
          <a:xfrm>
            <a:off x="3886200" y="4983480"/>
            <a:ext cx="7555687" cy="5120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A user who moved from 41 to 68 in a quarter matters more than one sitting at 72 all year. The view leads with movement, which is what makes it a coaching tool rather than a report card.</a:t>
            </a:r>
            <a:endParaRPr b="0" i="0" sz="1150" u="none" cap="none" strike="noStrike">
              <a:solidFill>
                <a:schemeClr val="dk1"/>
              </a:solidFill>
              <a:latin typeface="Calibri"/>
              <a:ea typeface="Calibri"/>
              <a:cs typeface="Calibri"/>
              <a:sym typeface="Calibri"/>
            </a:endParaRPr>
          </a:p>
        </p:txBody>
      </p:sp>
      <p:sp>
        <p:nvSpPr>
          <p:cNvPr id="265" name="Google Shape;265;p10"/>
          <p:cNvSpPr/>
          <p:nvPr/>
        </p:nvSpPr>
        <p:spPr>
          <a:xfrm>
            <a:off x="566928" y="5797296"/>
            <a:ext cx="11057839" cy="457200"/>
          </a:xfrm>
          <a:prstGeom prst="roundRect">
            <a:avLst>
              <a:gd fmla="val 12000"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658368" y="5797296"/>
            <a:ext cx="1087495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Say this out loud in every client walkthrough. If this becomes a disciplinary instrument, reps stop creating records at all and the client loses more data than they clean. It is a coaching tool. Put that sentence in the report.</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11"/>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The module lens: why stage awareness is not optional</a:t>
            </a:r>
            <a:endParaRPr b="0" i="0" sz="3000" u="none" cap="none" strike="noStrike">
              <a:solidFill>
                <a:schemeClr val="dk1"/>
              </a:solidFill>
              <a:latin typeface="Calibri"/>
              <a:ea typeface="Calibri"/>
              <a:cs typeface="Calibri"/>
              <a:sym typeface="Calibri"/>
            </a:endParaRPr>
          </a:p>
        </p:txBody>
      </p:sp>
      <p:sp>
        <p:nvSpPr>
          <p:cNvPr id="273" name="Google Shape;273;p11"/>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A completeness score that ignores stage is a number nobody in the business will accept.</a:t>
            </a:r>
            <a:endParaRPr b="0" i="0" sz="1350" u="none" cap="none" strike="noStrike">
              <a:solidFill>
                <a:schemeClr val="dk1"/>
              </a:solidFill>
              <a:latin typeface="Calibri"/>
              <a:ea typeface="Calibri"/>
              <a:cs typeface="Calibri"/>
              <a:sym typeface="Calibri"/>
            </a:endParaRPr>
          </a:p>
        </p:txBody>
      </p:sp>
      <p:sp>
        <p:nvSpPr>
          <p:cNvPr id="274" name="Google Shape;274;p11"/>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275" name="Google Shape;275;p11"/>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11</a:t>
            </a:r>
            <a:endParaRPr b="0" i="0" sz="950" u="none" cap="none" strike="noStrike">
              <a:solidFill>
                <a:schemeClr val="dk1"/>
              </a:solidFill>
              <a:latin typeface="Calibri"/>
              <a:ea typeface="Calibri"/>
              <a:cs typeface="Calibri"/>
              <a:sym typeface="Calibri"/>
            </a:endParaRPr>
          </a:p>
        </p:txBody>
      </p:sp>
      <p:sp>
        <p:nvSpPr>
          <p:cNvPr id="276" name="Google Shape;276;p11"/>
          <p:cNvSpPr/>
          <p:nvPr/>
        </p:nvSpPr>
        <p:spPr>
          <a:xfrm>
            <a:off x="566928" y="1554480"/>
            <a:ext cx="3539642" cy="2423160"/>
          </a:xfrm>
          <a:prstGeom prst="roundRect">
            <a:avLst>
              <a:gd fmla="val 3396"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1"/>
          <p:cNvSpPr/>
          <p:nvPr/>
        </p:nvSpPr>
        <p:spPr>
          <a:xfrm>
            <a:off x="786384" y="1737360"/>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1"/>
          <p:cNvSpPr/>
          <p:nvPr/>
        </p:nvSpPr>
        <p:spPr>
          <a:xfrm>
            <a:off x="786384" y="17373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a:t>
            </a:r>
            <a:endParaRPr b="0" i="0" sz="1300" u="none" cap="none" strike="noStrike">
              <a:solidFill>
                <a:schemeClr val="dk1"/>
              </a:solidFill>
              <a:latin typeface="Calibri"/>
              <a:ea typeface="Calibri"/>
              <a:cs typeface="Calibri"/>
              <a:sym typeface="Calibri"/>
            </a:endParaRPr>
          </a:p>
        </p:txBody>
      </p:sp>
      <p:sp>
        <p:nvSpPr>
          <p:cNvPr id="279" name="Google Shape;279;p11"/>
          <p:cNvSpPr/>
          <p:nvPr/>
        </p:nvSpPr>
        <p:spPr>
          <a:xfrm>
            <a:off x="786384" y="2249424"/>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Per module rule profiles</a:t>
            </a:r>
            <a:endParaRPr b="0" i="0" sz="1500" u="none" cap="none" strike="noStrike">
              <a:solidFill>
                <a:schemeClr val="dk1"/>
              </a:solidFill>
              <a:latin typeface="Calibri"/>
              <a:ea typeface="Calibri"/>
              <a:cs typeface="Calibri"/>
              <a:sym typeface="Calibri"/>
            </a:endParaRPr>
          </a:p>
        </p:txBody>
      </p:sp>
      <p:sp>
        <p:nvSpPr>
          <p:cNvPr id="280" name="Google Shape;280;p11"/>
          <p:cNvSpPr/>
          <p:nvPr/>
        </p:nvSpPr>
        <p:spPr>
          <a:xfrm>
            <a:off x="786384" y="2743200"/>
            <a:ext cx="3100730" cy="106984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Each module carries its own required field profile, its own weights and its own thresholds. A Lead does not need a GSTIN. An Account does. A Desk ticket needs a resolution code, a Deal does not.</a:t>
            </a:r>
            <a:endParaRPr b="0" i="0" sz="1150" u="none" cap="none" strike="noStrike">
              <a:solidFill>
                <a:schemeClr val="dk1"/>
              </a:solidFill>
              <a:latin typeface="Calibri"/>
              <a:ea typeface="Calibri"/>
              <a:cs typeface="Calibri"/>
              <a:sym typeface="Calibri"/>
            </a:endParaRPr>
          </a:p>
        </p:txBody>
      </p:sp>
      <p:sp>
        <p:nvSpPr>
          <p:cNvPr id="281" name="Google Shape;281;p11"/>
          <p:cNvSpPr/>
          <p:nvPr/>
        </p:nvSpPr>
        <p:spPr>
          <a:xfrm>
            <a:off x="4326026" y="1554480"/>
            <a:ext cx="3539642" cy="2423160"/>
          </a:xfrm>
          <a:prstGeom prst="roundRect">
            <a:avLst>
              <a:gd fmla="val 3396"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1"/>
          <p:cNvSpPr/>
          <p:nvPr/>
        </p:nvSpPr>
        <p:spPr>
          <a:xfrm>
            <a:off x="4545482" y="1737360"/>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1"/>
          <p:cNvSpPr/>
          <p:nvPr/>
        </p:nvSpPr>
        <p:spPr>
          <a:xfrm>
            <a:off x="4545482" y="17373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a:t>
            </a:r>
            <a:endParaRPr b="0" i="0" sz="1300" u="none" cap="none" strike="noStrike">
              <a:solidFill>
                <a:schemeClr val="dk1"/>
              </a:solidFill>
              <a:latin typeface="Calibri"/>
              <a:ea typeface="Calibri"/>
              <a:cs typeface="Calibri"/>
              <a:sym typeface="Calibri"/>
            </a:endParaRPr>
          </a:p>
        </p:txBody>
      </p:sp>
      <p:sp>
        <p:nvSpPr>
          <p:cNvPr id="284" name="Google Shape;284;p11"/>
          <p:cNvSpPr/>
          <p:nvPr/>
        </p:nvSpPr>
        <p:spPr>
          <a:xfrm>
            <a:off x="4545482" y="2249424"/>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Stage aware expectations</a:t>
            </a:r>
            <a:endParaRPr b="0" i="0" sz="1500" u="none" cap="none" strike="noStrike">
              <a:solidFill>
                <a:schemeClr val="dk1"/>
              </a:solidFill>
              <a:latin typeface="Calibri"/>
              <a:ea typeface="Calibri"/>
              <a:cs typeface="Calibri"/>
              <a:sym typeface="Calibri"/>
            </a:endParaRPr>
          </a:p>
        </p:txBody>
      </p:sp>
      <p:sp>
        <p:nvSpPr>
          <p:cNvPr id="285" name="Google Shape;285;p11"/>
          <p:cNvSpPr/>
          <p:nvPr/>
        </p:nvSpPr>
        <p:spPr>
          <a:xfrm>
            <a:off x="4545482" y="2743200"/>
            <a:ext cx="3100730" cy="106984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A Lead at New is expected to have a name and a source. A Lead at Qualified is expected to have a budget, an authority and a timeline. Judging both by the same bar makes the score meaningless and the client will say so within thirty seconds.</a:t>
            </a:r>
            <a:endParaRPr b="0" i="0" sz="1150" u="none" cap="none" strike="noStrike">
              <a:solidFill>
                <a:schemeClr val="dk1"/>
              </a:solidFill>
              <a:latin typeface="Calibri"/>
              <a:ea typeface="Calibri"/>
              <a:cs typeface="Calibri"/>
              <a:sym typeface="Calibri"/>
            </a:endParaRPr>
          </a:p>
        </p:txBody>
      </p:sp>
      <p:sp>
        <p:nvSpPr>
          <p:cNvPr id="286" name="Google Shape;286;p11"/>
          <p:cNvSpPr/>
          <p:nvPr/>
        </p:nvSpPr>
        <p:spPr>
          <a:xfrm>
            <a:off x="8085125" y="1554480"/>
            <a:ext cx="3539642" cy="2423160"/>
          </a:xfrm>
          <a:prstGeom prst="roundRect">
            <a:avLst>
              <a:gd fmla="val 3396"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1"/>
          <p:cNvSpPr/>
          <p:nvPr/>
        </p:nvSpPr>
        <p:spPr>
          <a:xfrm>
            <a:off x="8304581" y="1737360"/>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1"/>
          <p:cNvSpPr/>
          <p:nvPr/>
        </p:nvSpPr>
        <p:spPr>
          <a:xfrm>
            <a:off x="8304581" y="17373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a:t>
            </a:r>
            <a:endParaRPr b="0" i="0" sz="1300" u="none" cap="none" strike="noStrike">
              <a:solidFill>
                <a:schemeClr val="dk1"/>
              </a:solidFill>
              <a:latin typeface="Calibri"/>
              <a:ea typeface="Calibri"/>
              <a:cs typeface="Calibri"/>
              <a:sym typeface="Calibri"/>
            </a:endParaRPr>
          </a:p>
        </p:txBody>
      </p:sp>
      <p:sp>
        <p:nvSpPr>
          <p:cNvPr id="289" name="Google Shape;289;p11"/>
          <p:cNvSpPr/>
          <p:nvPr/>
        </p:nvSpPr>
        <p:spPr>
          <a:xfrm>
            <a:off x="8304581" y="2249424"/>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Cross module integrity</a:t>
            </a:r>
            <a:endParaRPr b="0" i="0" sz="1500" u="none" cap="none" strike="noStrike">
              <a:solidFill>
                <a:schemeClr val="dk1"/>
              </a:solidFill>
              <a:latin typeface="Calibri"/>
              <a:ea typeface="Calibri"/>
              <a:cs typeface="Calibri"/>
              <a:sym typeface="Calibri"/>
            </a:endParaRPr>
          </a:p>
        </p:txBody>
      </p:sp>
      <p:sp>
        <p:nvSpPr>
          <p:cNvPr id="290" name="Google Shape;290;p11"/>
          <p:cNvSpPr/>
          <p:nvPr/>
        </p:nvSpPr>
        <p:spPr>
          <a:xfrm>
            <a:off x="8304581" y="2743200"/>
            <a:ext cx="3100730" cy="106984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Contacts without an account, deals without a primary contact, tickets without a customer, invoices against a vendor that no longer exists. These belong to no single module and are scored separately.</a:t>
            </a:r>
            <a:endParaRPr b="0" i="0" sz="1150" u="none" cap="none" strike="noStrike">
              <a:solidFill>
                <a:schemeClr val="dk1"/>
              </a:solidFill>
              <a:latin typeface="Calibri"/>
              <a:ea typeface="Calibri"/>
              <a:cs typeface="Calibri"/>
              <a:sym typeface="Calibri"/>
            </a:endParaRPr>
          </a:p>
        </p:txBody>
      </p:sp>
      <p:graphicFrame>
        <p:nvGraphicFramePr>
          <p:cNvPr id="291" name="Google Shape;291;p11"/>
          <p:cNvGraphicFramePr/>
          <p:nvPr/>
        </p:nvGraphicFramePr>
        <p:xfrm>
          <a:off x="566928" y="4096512"/>
          <a:ext cx="3000000" cy="3000000"/>
        </p:xfrm>
        <a:graphic>
          <a:graphicData uri="http://schemas.openxmlformats.org/drawingml/2006/table">
            <a:tbl>
              <a:tblPr>
                <a:noFill/>
                <a:tableStyleId>{B0F36C2E-0004-4DC9-A81D-5D709A412D0E}</a:tableStyleId>
              </a:tblPr>
              <a:tblGrid>
                <a:gridCol w="2880350"/>
                <a:gridCol w="1737350"/>
                <a:gridCol w="2286000"/>
                <a:gridCol w="4151375"/>
              </a:tblGrid>
              <a:tr h="31090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Example rule</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Applies to</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Only when</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Why the condition matters</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r>
              <a:tr h="3109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Source must be present</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Leads</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Stage is Qualified or beyond</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A brand new inbound lead genuinely has no source yet</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3109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Budget, authority and timeline present</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Deals</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Stage is Proposal or beyond</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Demanding these at Prospecting produces noise and destroys trust in the score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3109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Close reason present</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Deals</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Stage is Closed Won or Closed Lost</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A closed deal without a reason removes every win loss insight the client paid for</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3109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GSTIN present and valid</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Accounts and Vendors</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Country is India and type is Business</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Consumer and overseas records will never have one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3109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Resolution code present</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Desk tickets</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Status is Closed</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An open ticket has nothing to resolve yet</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6" name="Shape 296"/>
        <p:cNvGrpSpPr/>
        <p:nvPr/>
      </p:nvGrpSpPr>
      <p:grpSpPr>
        <a:xfrm>
          <a:off x="0" y="0"/>
          <a:ext cx="0" cy="0"/>
          <a:chOff x="0" y="0"/>
          <a:chExt cx="0" cy="0"/>
        </a:xfrm>
      </p:grpSpPr>
      <p:sp>
        <p:nvSpPr>
          <p:cNvPr id="297" name="Google Shape;297;p12"/>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The time lens: the number that actually predicts</a:t>
            </a:r>
            <a:endParaRPr b="0" i="0" sz="3000" u="none" cap="none" strike="noStrike">
              <a:solidFill>
                <a:schemeClr val="dk1"/>
              </a:solidFill>
              <a:latin typeface="Calibri"/>
              <a:ea typeface="Calibri"/>
              <a:cs typeface="Calibri"/>
              <a:sym typeface="Calibri"/>
            </a:endParaRPr>
          </a:p>
        </p:txBody>
      </p:sp>
      <p:sp>
        <p:nvSpPr>
          <p:cNvPr id="298" name="Google Shape;298;p12"/>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The org score is a lagging average dominated by history. The created this month score tells you whether today works.</a:t>
            </a:r>
            <a:endParaRPr b="0" i="0" sz="1350" u="none" cap="none" strike="noStrike">
              <a:solidFill>
                <a:schemeClr val="dk1"/>
              </a:solidFill>
              <a:latin typeface="Calibri"/>
              <a:ea typeface="Calibri"/>
              <a:cs typeface="Calibri"/>
              <a:sym typeface="Calibri"/>
            </a:endParaRPr>
          </a:p>
        </p:txBody>
      </p:sp>
      <p:sp>
        <p:nvSpPr>
          <p:cNvPr id="299" name="Google Shape;299;p12"/>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300" name="Google Shape;300;p12"/>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12</a:t>
            </a:r>
            <a:endParaRPr b="0" i="0" sz="950" u="none" cap="none" strike="noStrike">
              <a:solidFill>
                <a:schemeClr val="dk1"/>
              </a:solidFill>
              <a:latin typeface="Calibri"/>
              <a:ea typeface="Calibri"/>
              <a:cs typeface="Calibri"/>
              <a:sym typeface="Calibri"/>
            </a:endParaRPr>
          </a:p>
        </p:txBody>
      </p:sp>
      <p:sp>
        <p:nvSpPr>
          <p:cNvPr id="301" name="Google Shape;301;p12"/>
          <p:cNvSpPr/>
          <p:nvPr/>
        </p:nvSpPr>
        <p:spPr>
          <a:xfrm>
            <a:off x="566928" y="1536192"/>
            <a:ext cx="3539642" cy="2240280"/>
          </a:xfrm>
          <a:prstGeom prst="roundRect">
            <a:avLst>
              <a:gd fmla="val 3673"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2"/>
          <p:cNvSpPr/>
          <p:nvPr/>
        </p:nvSpPr>
        <p:spPr>
          <a:xfrm>
            <a:off x="786384" y="1719072"/>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2"/>
          <p:cNvSpPr/>
          <p:nvPr/>
        </p:nvSpPr>
        <p:spPr>
          <a:xfrm>
            <a:off x="786384" y="1719072"/>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a:t>
            </a:r>
            <a:endParaRPr b="0" i="0" sz="1300" u="none" cap="none" strike="noStrike">
              <a:solidFill>
                <a:schemeClr val="dk1"/>
              </a:solidFill>
              <a:latin typeface="Calibri"/>
              <a:ea typeface="Calibri"/>
              <a:cs typeface="Calibri"/>
              <a:sym typeface="Calibri"/>
            </a:endParaRPr>
          </a:p>
        </p:txBody>
      </p:sp>
      <p:sp>
        <p:nvSpPr>
          <p:cNvPr id="304" name="Google Shape;304;p12"/>
          <p:cNvSpPr/>
          <p:nvPr/>
        </p:nvSpPr>
        <p:spPr>
          <a:xfrm>
            <a:off x="786384" y="2231136"/>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Two clocks</a:t>
            </a:r>
            <a:endParaRPr b="0" i="0" sz="1500" u="none" cap="none" strike="noStrike">
              <a:solidFill>
                <a:schemeClr val="dk1"/>
              </a:solidFill>
              <a:latin typeface="Calibri"/>
              <a:ea typeface="Calibri"/>
              <a:cs typeface="Calibri"/>
              <a:sym typeface="Calibri"/>
            </a:endParaRPr>
          </a:p>
        </p:txBody>
      </p:sp>
      <p:sp>
        <p:nvSpPr>
          <p:cNvPr id="305" name="Google Shape;305;p12"/>
          <p:cNvSpPr/>
          <p:nvPr/>
        </p:nvSpPr>
        <p:spPr>
          <a:xfrm>
            <a:off x="786384" y="2724912"/>
            <a:ext cx="3100730" cy="8869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Created in period scores only records that came into existence inside the window, which measures entry quality. Modified in period scores only records touched inside it. They answer different questions and are never mixed.</a:t>
            </a:r>
            <a:endParaRPr b="0" i="0" sz="1150" u="none" cap="none" strike="noStrike">
              <a:solidFill>
                <a:schemeClr val="dk1"/>
              </a:solidFill>
              <a:latin typeface="Calibri"/>
              <a:ea typeface="Calibri"/>
              <a:cs typeface="Calibri"/>
              <a:sym typeface="Calibri"/>
            </a:endParaRPr>
          </a:p>
        </p:txBody>
      </p:sp>
      <p:sp>
        <p:nvSpPr>
          <p:cNvPr id="306" name="Google Shape;306;p12"/>
          <p:cNvSpPr/>
          <p:nvPr/>
        </p:nvSpPr>
        <p:spPr>
          <a:xfrm>
            <a:off x="4326026" y="1536192"/>
            <a:ext cx="3539642" cy="2240280"/>
          </a:xfrm>
          <a:prstGeom prst="roundRect">
            <a:avLst>
              <a:gd fmla="val 3673"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2"/>
          <p:cNvSpPr/>
          <p:nvPr/>
        </p:nvSpPr>
        <p:spPr>
          <a:xfrm>
            <a:off x="4545482" y="1719072"/>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2"/>
          <p:cNvSpPr/>
          <p:nvPr/>
        </p:nvSpPr>
        <p:spPr>
          <a:xfrm>
            <a:off x="4545482" y="1719072"/>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a:t>
            </a:r>
            <a:endParaRPr b="0" i="0" sz="1300" u="none" cap="none" strike="noStrike">
              <a:solidFill>
                <a:schemeClr val="dk1"/>
              </a:solidFill>
              <a:latin typeface="Calibri"/>
              <a:ea typeface="Calibri"/>
              <a:cs typeface="Calibri"/>
              <a:sym typeface="Calibri"/>
            </a:endParaRPr>
          </a:p>
        </p:txBody>
      </p:sp>
      <p:sp>
        <p:nvSpPr>
          <p:cNvPr id="309" name="Google Shape;309;p12"/>
          <p:cNvSpPr/>
          <p:nvPr/>
        </p:nvSpPr>
        <p:spPr>
          <a:xfrm>
            <a:off x="4545482" y="2231136"/>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Any range, and a comparison</a:t>
            </a:r>
            <a:endParaRPr b="0" i="0" sz="1500" u="none" cap="none" strike="noStrike">
              <a:solidFill>
                <a:schemeClr val="dk1"/>
              </a:solidFill>
              <a:latin typeface="Calibri"/>
              <a:ea typeface="Calibri"/>
              <a:cs typeface="Calibri"/>
              <a:sym typeface="Calibri"/>
            </a:endParaRPr>
          </a:p>
        </p:txBody>
      </p:sp>
      <p:sp>
        <p:nvSpPr>
          <p:cNvPr id="310" name="Google Shape;310;p12"/>
          <p:cNvSpPr/>
          <p:nvPr/>
        </p:nvSpPr>
        <p:spPr>
          <a:xfrm>
            <a:off x="4545482" y="2724912"/>
            <a:ext cx="3100730" cy="8869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Last seven, thirty or ninety days, this quarter, this fiscal year, or a custom range. Every range automatically carries the equivalent prior period beside it, so the number arrives with a direction rather than alone.</a:t>
            </a:r>
            <a:endParaRPr b="0" i="0" sz="1150" u="none" cap="none" strike="noStrike">
              <a:solidFill>
                <a:schemeClr val="dk1"/>
              </a:solidFill>
              <a:latin typeface="Calibri"/>
              <a:ea typeface="Calibri"/>
              <a:cs typeface="Calibri"/>
              <a:sym typeface="Calibri"/>
            </a:endParaRPr>
          </a:p>
        </p:txBody>
      </p:sp>
      <p:sp>
        <p:nvSpPr>
          <p:cNvPr id="311" name="Google Shape;311;p12"/>
          <p:cNvSpPr/>
          <p:nvPr/>
        </p:nvSpPr>
        <p:spPr>
          <a:xfrm>
            <a:off x="8085125" y="1536192"/>
            <a:ext cx="3539642" cy="2240280"/>
          </a:xfrm>
          <a:prstGeom prst="roundRect">
            <a:avLst>
              <a:gd fmla="val 3673"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2"/>
          <p:cNvSpPr/>
          <p:nvPr/>
        </p:nvSpPr>
        <p:spPr>
          <a:xfrm>
            <a:off x="8304581" y="1719072"/>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2"/>
          <p:cNvSpPr/>
          <p:nvPr/>
        </p:nvSpPr>
        <p:spPr>
          <a:xfrm>
            <a:off x="8304581" y="1719072"/>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a:t>
            </a:r>
            <a:endParaRPr b="0" i="0" sz="1300" u="none" cap="none" strike="noStrike">
              <a:solidFill>
                <a:schemeClr val="dk1"/>
              </a:solidFill>
              <a:latin typeface="Calibri"/>
              <a:ea typeface="Calibri"/>
              <a:cs typeface="Calibri"/>
              <a:sym typeface="Calibri"/>
            </a:endParaRPr>
          </a:p>
        </p:txBody>
      </p:sp>
      <p:sp>
        <p:nvSpPr>
          <p:cNvPr id="314" name="Google Shape;314;p12"/>
          <p:cNvSpPr/>
          <p:nvPr/>
        </p:nvSpPr>
        <p:spPr>
          <a:xfrm>
            <a:off x="8304581" y="2231136"/>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Cohort decay</a:t>
            </a:r>
            <a:endParaRPr b="0" i="0" sz="1500" u="none" cap="none" strike="noStrike">
              <a:solidFill>
                <a:schemeClr val="dk1"/>
              </a:solidFill>
              <a:latin typeface="Calibri"/>
              <a:ea typeface="Calibri"/>
              <a:cs typeface="Calibri"/>
              <a:sym typeface="Calibri"/>
            </a:endParaRPr>
          </a:p>
        </p:txBody>
      </p:sp>
      <p:sp>
        <p:nvSpPr>
          <p:cNvPr id="315" name="Google Shape;315;p12"/>
          <p:cNvSpPr/>
          <p:nvPr/>
        </p:nvSpPr>
        <p:spPr>
          <a:xfrm>
            <a:off x="8304581" y="2724912"/>
            <a:ext cx="3100730" cy="8869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Records created in January scored at creation, then re scored each month afterwards. This separates a data entry problem from a maintenance problem, which are two different projects with two owners.</a:t>
            </a:r>
            <a:endParaRPr b="0" i="0" sz="1150" u="none" cap="none" strike="noStrike">
              <a:solidFill>
                <a:schemeClr val="dk1"/>
              </a:solidFill>
              <a:latin typeface="Calibri"/>
              <a:ea typeface="Calibri"/>
              <a:cs typeface="Calibri"/>
              <a:sym typeface="Calibri"/>
            </a:endParaRPr>
          </a:p>
        </p:txBody>
      </p:sp>
      <p:sp>
        <p:nvSpPr>
          <p:cNvPr id="316" name="Google Shape;316;p12"/>
          <p:cNvSpPr/>
          <p:nvPr/>
        </p:nvSpPr>
        <p:spPr>
          <a:xfrm>
            <a:off x="566928" y="3886200"/>
            <a:ext cx="11057839" cy="548640"/>
          </a:xfrm>
          <a:prstGeom prst="roundRect">
            <a:avLst>
              <a:gd fmla="val 11667"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2"/>
          <p:cNvSpPr/>
          <p:nvPr/>
        </p:nvSpPr>
        <p:spPr>
          <a:xfrm>
            <a:off x="713232" y="3977640"/>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2"/>
          <p:cNvSpPr/>
          <p:nvPr/>
        </p:nvSpPr>
        <p:spPr>
          <a:xfrm>
            <a:off x="713232" y="397764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319" name="Google Shape;319;p12"/>
          <p:cNvSpPr/>
          <p:nvPr/>
        </p:nvSpPr>
        <p:spPr>
          <a:xfrm>
            <a:off x="1188720" y="3931920"/>
            <a:ext cx="2286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Event overlays</a:t>
            </a:r>
            <a:endParaRPr b="0" i="0" sz="1300" u="none" cap="none" strike="noStrike">
              <a:solidFill>
                <a:schemeClr val="dk1"/>
              </a:solidFill>
              <a:latin typeface="Calibri"/>
              <a:ea typeface="Calibri"/>
              <a:cs typeface="Calibri"/>
              <a:sym typeface="Calibri"/>
            </a:endParaRPr>
          </a:p>
        </p:txBody>
      </p:sp>
      <p:sp>
        <p:nvSpPr>
          <p:cNvPr id="320" name="Google Shape;320;p12"/>
          <p:cNvSpPr/>
          <p:nvPr/>
        </p:nvSpPr>
        <p:spPr>
          <a:xfrm>
            <a:off x="3611880" y="3931920"/>
            <a:ext cx="7830007"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Go live dates, new joiner cohorts, campaign imports and CRM releases are marked on the trend. A dip with a marked cause is a finding. A dip with no explanation is an argument.</a:t>
            </a:r>
            <a:endParaRPr b="0" i="0" sz="1150" u="none" cap="none" strike="noStrike">
              <a:solidFill>
                <a:schemeClr val="dk1"/>
              </a:solidFill>
              <a:latin typeface="Calibri"/>
              <a:ea typeface="Calibri"/>
              <a:cs typeface="Calibri"/>
              <a:sym typeface="Calibri"/>
            </a:endParaRPr>
          </a:p>
        </p:txBody>
      </p:sp>
      <p:sp>
        <p:nvSpPr>
          <p:cNvPr id="321" name="Google Shape;321;p12"/>
          <p:cNvSpPr/>
          <p:nvPr/>
        </p:nvSpPr>
        <p:spPr>
          <a:xfrm>
            <a:off x="566928" y="4489704"/>
            <a:ext cx="11057839" cy="548640"/>
          </a:xfrm>
          <a:prstGeom prst="roundRect">
            <a:avLst>
              <a:gd fmla="val 11667"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2"/>
          <p:cNvSpPr/>
          <p:nvPr/>
        </p:nvSpPr>
        <p:spPr>
          <a:xfrm>
            <a:off x="713232" y="4581144"/>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2"/>
          <p:cNvSpPr/>
          <p:nvPr/>
        </p:nvSpPr>
        <p:spPr>
          <a:xfrm>
            <a:off x="713232" y="458114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324" name="Google Shape;324;p12"/>
          <p:cNvSpPr/>
          <p:nvPr/>
        </p:nvSpPr>
        <p:spPr>
          <a:xfrm>
            <a:off x="1188720" y="4535424"/>
            <a:ext cx="2286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Scheduled cadence</a:t>
            </a:r>
            <a:endParaRPr b="0" i="0" sz="1300" u="none" cap="none" strike="noStrike">
              <a:solidFill>
                <a:schemeClr val="dk1"/>
              </a:solidFill>
              <a:latin typeface="Calibri"/>
              <a:ea typeface="Calibri"/>
              <a:cs typeface="Calibri"/>
              <a:sym typeface="Calibri"/>
            </a:endParaRPr>
          </a:p>
        </p:txBody>
      </p:sp>
      <p:sp>
        <p:nvSpPr>
          <p:cNvPr id="325" name="Google Shape;325;p12"/>
          <p:cNvSpPr/>
          <p:nvPr/>
        </p:nvSpPr>
        <p:spPr>
          <a:xfrm>
            <a:off x="3611880" y="4535424"/>
            <a:ext cx="7830007"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Daily, weekly, monthly or quarterly. Monthly on the first working day is the default, because it lands with the same rhythm as the client's own reporting cycle.</a:t>
            </a:r>
            <a:endParaRPr b="0" i="0" sz="1150" u="none" cap="none" strike="noStrike">
              <a:solidFill>
                <a:schemeClr val="dk1"/>
              </a:solidFill>
              <a:latin typeface="Calibri"/>
              <a:ea typeface="Calibri"/>
              <a:cs typeface="Calibri"/>
              <a:sym typeface="Calibri"/>
            </a:endParaRPr>
          </a:p>
        </p:txBody>
      </p:sp>
      <p:sp>
        <p:nvSpPr>
          <p:cNvPr id="326" name="Google Shape;326;p12"/>
          <p:cNvSpPr/>
          <p:nvPr/>
        </p:nvSpPr>
        <p:spPr>
          <a:xfrm>
            <a:off x="566928" y="5093208"/>
            <a:ext cx="11057839" cy="548640"/>
          </a:xfrm>
          <a:prstGeom prst="roundRect">
            <a:avLst>
              <a:gd fmla="val 11667"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2"/>
          <p:cNvSpPr/>
          <p:nvPr/>
        </p:nvSpPr>
        <p:spPr>
          <a:xfrm>
            <a:off x="713232" y="5184648"/>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2"/>
          <p:cNvSpPr/>
          <p:nvPr/>
        </p:nvSpPr>
        <p:spPr>
          <a:xfrm>
            <a:off x="713232" y="518464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329" name="Google Shape;329;p12"/>
          <p:cNvSpPr/>
          <p:nvPr/>
        </p:nvSpPr>
        <p:spPr>
          <a:xfrm>
            <a:off x="1188720" y="5138928"/>
            <a:ext cx="2286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Alert floors</a:t>
            </a:r>
            <a:endParaRPr b="0" i="0" sz="1300" u="none" cap="none" strike="noStrike">
              <a:solidFill>
                <a:schemeClr val="dk1"/>
              </a:solidFill>
              <a:latin typeface="Calibri"/>
              <a:ea typeface="Calibri"/>
              <a:cs typeface="Calibri"/>
              <a:sym typeface="Calibri"/>
            </a:endParaRPr>
          </a:p>
        </p:txBody>
      </p:sp>
      <p:sp>
        <p:nvSpPr>
          <p:cNvPr id="330" name="Google Shape;330;p12"/>
          <p:cNvSpPr/>
          <p:nvPr/>
        </p:nvSpPr>
        <p:spPr>
          <a:xfrm>
            <a:off x="3611880" y="5138928"/>
            <a:ext cx="7830007"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An agreed minimum per domain and per module. A breach fires an alert with the specific records and the specific users involved, not a generic score notification nobody opens.</a:t>
            </a:r>
            <a:endParaRPr b="0" i="0" sz="1150" u="none" cap="none" strike="noStrike">
              <a:solidFill>
                <a:schemeClr val="dk1"/>
              </a:solidFill>
              <a:latin typeface="Calibri"/>
              <a:ea typeface="Calibri"/>
              <a:cs typeface="Calibri"/>
              <a:sym typeface="Calibri"/>
            </a:endParaRPr>
          </a:p>
        </p:txBody>
      </p:sp>
      <p:sp>
        <p:nvSpPr>
          <p:cNvPr id="331" name="Google Shape;331;p12"/>
          <p:cNvSpPr/>
          <p:nvPr/>
        </p:nvSpPr>
        <p:spPr>
          <a:xfrm>
            <a:off x="566928" y="5788152"/>
            <a:ext cx="11057839" cy="457200"/>
          </a:xfrm>
          <a:prstGeom prst="roundRect">
            <a:avLst>
              <a:gd fmla="val 12000"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2"/>
          <p:cNvSpPr/>
          <p:nvPr/>
        </p:nvSpPr>
        <p:spPr>
          <a:xfrm>
            <a:off x="658368" y="5788152"/>
            <a:ext cx="1087495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The single most useful chart we will ever show a client: org score flat at 52, but created in the last thirty days climbing from 44 to 71. It proves the remediation worked and it justifies the retainer without an argument.</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A30"/>
        </a:solidFill>
      </p:bgPr>
    </p:bg>
    <p:spTree>
      <p:nvGrpSpPr>
        <p:cNvPr id="337" name="Shape 337"/>
        <p:cNvGrpSpPr/>
        <p:nvPr/>
      </p:nvGrpSpPr>
      <p:grpSpPr>
        <a:xfrm>
          <a:off x="0" y="0"/>
          <a:ext cx="0" cy="0"/>
          <a:chOff x="0" y="0"/>
          <a:chExt cx="0" cy="0"/>
        </a:xfrm>
      </p:grpSpPr>
      <p:sp>
        <p:nvSpPr>
          <p:cNvPr id="338" name="Google Shape;338;p13"/>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Architecture</a:t>
            </a:r>
            <a:endParaRPr b="0" i="0" sz="3000" u="none" cap="none" strike="noStrike">
              <a:solidFill>
                <a:schemeClr val="dk1"/>
              </a:solidFill>
              <a:latin typeface="Calibri"/>
              <a:ea typeface="Calibri"/>
              <a:cs typeface="Calibri"/>
              <a:sym typeface="Calibri"/>
            </a:endParaRPr>
          </a:p>
        </p:txBody>
      </p:sp>
      <p:sp>
        <p:nvSpPr>
          <p:cNvPr id="339" name="Google Shape;339;p13"/>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4E6"/>
              </a:buClr>
              <a:buSzPts val="1350"/>
              <a:buFont typeface="Calibri"/>
              <a:buNone/>
            </a:pPr>
            <a:r>
              <a:rPr b="0" i="1" lang="en-US" sz="1350" u="none" cap="none" strike="noStrike">
                <a:solidFill>
                  <a:srgbClr val="CFE4E6"/>
                </a:solidFill>
                <a:latin typeface="Calibri"/>
                <a:ea typeface="Calibri"/>
                <a:cs typeface="Calibri"/>
                <a:sym typeface="Calibri"/>
              </a:rPr>
              <a:t>Everything runs inside Catalyst in the India data centre. No client record ever leaves their region.</a:t>
            </a:r>
            <a:endParaRPr b="0" i="0" sz="1350" u="none" cap="none" strike="noStrike">
              <a:solidFill>
                <a:schemeClr val="dk1"/>
              </a:solidFill>
              <a:latin typeface="Calibri"/>
              <a:ea typeface="Calibri"/>
              <a:cs typeface="Calibri"/>
              <a:sym typeface="Calibri"/>
            </a:endParaRPr>
          </a:p>
        </p:txBody>
      </p:sp>
      <p:sp>
        <p:nvSpPr>
          <p:cNvPr id="340" name="Google Shape;340;p13"/>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B8BD"/>
              </a:buClr>
              <a:buSzPts val="950"/>
              <a:buFont typeface="Calibri"/>
              <a:buNone/>
            </a:pPr>
            <a:r>
              <a:rPr b="0" i="0" lang="en-US" sz="950" u="none" cap="none" strike="noStrike">
                <a:solidFill>
                  <a:srgbClr val="7FB8BD"/>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341" name="Google Shape;341;p13"/>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FB8BD"/>
              </a:buClr>
              <a:buSzPts val="950"/>
              <a:buFont typeface="Calibri"/>
              <a:buNone/>
            </a:pPr>
            <a:r>
              <a:rPr b="0" i="0" lang="en-US" sz="950" u="none" cap="none" strike="noStrike">
                <a:solidFill>
                  <a:srgbClr val="7FB8BD"/>
                </a:solidFill>
                <a:latin typeface="Calibri"/>
                <a:ea typeface="Calibri"/>
                <a:cs typeface="Calibri"/>
                <a:sym typeface="Calibri"/>
              </a:rPr>
              <a:t>13</a:t>
            </a:r>
            <a:endParaRPr b="0" i="0" sz="950" u="none" cap="none" strike="noStrike">
              <a:solidFill>
                <a:schemeClr val="dk1"/>
              </a:solidFill>
              <a:latin typeface="Calibri"/>
              <a:ea typeface="Calibri"/>
              <a:cs typeface="Calibri"/>
              <a:sym typeface="Calibri"/>
            </a:endParaRPr>
          </a:p>
        </p:txBody>
      </p:sp>
      <p:sp>
        <p:nvSpPr>
          <p:cNvPr id="342" name="Google Shape;342;p13"/>
          <p:cNvSpPr/>
          <p:nvPr/>
        </p:nvSpPr>
        <p:spPr>
          <a:xfrm>
            <a:off x="566928" y="1691640"/>
            <a:ext cx="1629613" cy="2788920"/>
          </a:xfrm>
          <a:prstGeom prst="roundRect">
            <a:avLst>
              <a:gd fmla="val 4489" name="adj"/>
            </a:avLst>
          </a:prstGeom>
          <a:solidFill>
            <a:srgbClr val="13333A"/>
          </a:solidFill>
          <a:ln cap="flat" cmpd="sng" w="12700">
            <a:solidFill>
              <a:srgbClr val="2A5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3"/>
          <p:cNvSpPr/>
          <p:nvPr/>
        </p:nvSpPr>
        <p:spPr>
          <a:xfrm>
            <a:off x="694944" y="1792224"/>
            <a:ext cx="1373581" cy="512064"/>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FFFF"/>
              </a:buClr>
              <a:buSzPts val="1250"/>
              <a:buFont typeface="Cambria"/>
              <a:buNone/>
            </a:pPr>
            <a:r>
              <a:rPr b="1" i="0" lang="en-US" sz="1250" u="none" cap="none" strike="noStrike">
                <a:solidFill>
                  <a:srgbClr val="FFFFFF"/>
                </a:solidFill>
                <a:latin typeface="Cambria"/>
                <a:ea typeface="Cambria"/>
                <a:cs typeface="Cambria"/>
                <a:sym typeface="Cambria"/>
              </a:rPr>
              <a:t>Client Zoho org</a:t>
            </a:r>
            <a:endParaRPr b="0" i="0" sz="1250" u="none" cap="none" strike="noStrike">
              <a:solidFill>
                <a:schemeClr val="dk1"/>
              </a:solidFill>
              <a:latin typeface="Calibri"/>
              <a:ea typeface="Calibri"/>
              <a:cs typeface="Calibri"/>
              <a:sym typeface="Calibri"/>
            </a:endParaRPr>
          </a:p>
        </p:txBody>
      </p:sp>
      <p:sp>
        <p:nvSpPr>
          <p:cNvPr id="344" name="Google Shape;344;p13"/>
          <p:cNvSpPr/>
          <p:nvPr/>
        </p:nvSpPr>
        <p:spPr>
          <a:xfrm>
            <a:off x="694944" y="2322576"/>
            <a:ext cx="1373581" cy="2084832"/>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CRM</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Desk</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Books</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Creator</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People</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Analytics</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Sandbox where</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one exists</a:t>
            </a:r>
            <a:endParaRPr b="0" i="0" sz="960" u="none" cap="none" strike="noStrike">
              <a:solidFill>
                <a:schemeClr val="dk1"/>
              </a:solidFill>
              <a:latin typeface="Calibri"/>
              <a:ea typeface="Calibri"/>
              <a:cs typeface="Calibri"/>
              <a:sym typeface="Calibri"/>
            </a:endParaRPr>
          </a:p>
        </p:txBody>
      </p:sp>
      <p:sp>
        <p:nvSpPr>
          <p:cNvPr id="345" name="Google Shape;345;p13"/>
          <p:cNvSpPr/>
          <p:nvPr/>
        </p:nvSpPr>
        <p:spPr>
          <a:xfrm rot="5400000">
            <a:off x="2242261" y="2990088"/>
            <a:ext cx="155448" cy="182880"/>
          </a:xfrm>
          <a:prstGeom prst="triangle">
            <a:avLst>
              <a:gd fmla="val 50000" name="adj"/>
            </a:avLst>
          </a:prstGeom>
          <a:solidFill>
            <a:srgbClr val="3FC1A9"/>
          </a:solidFill>
          <a:ln cap="flat" cmpd="sng" w="12700">
            <a:solidFill>
              <a:srgbClr val="3FC1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a:off x="2452573" y="1691640"/>
            <a:ext cx="1629613" cy="2788920"/>
          </a:xfrm>
          <a:prstGeom prst="roundRect">
            <a:avLst>
              <a:gd fmla="val 4489" name="adj"/>
            </a:avLst>
          </a:prstGeom>
          <a:solidFill>
            <a:srgbClr val="0E3C44"/>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3"/>
          <p:cNvSpPr/>
          <p:nvPr/>
        </p:nvSpPr>
        <p:spPr>
          <a:xfrm>
            <a:off x="2580589" y="1792224"/>
            <a:ext cx="1373581" cy="512064"/>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FFFF"/>
              </a:buClr>
              <a:buSzPts val="1250"/>
              <a:buFont typeface="Cambria"/>
              <a:buNone/>
            </a:pPr>
            <a:r>
              <a:rPr b="1" i="0" lang="en-US" sz="1250" u="none" cap="none" strike="noStrike">
                <a:solidFill>
                  <a:srgbClr val="FFFFFF"/>
                </a:solidFill>
                <a:latin typeface="Cambria"/>
                <a:ea typeface="Cambria"/>
                <a:cs typeface="Cambria"/>
                <a:sym typeface="Cambria"/>
              </a:rPr>
              <a:t>Access layer</a:t>
            </a:r>
            <a:endParaRPr b="0" i="0" sz="1250" u="none" cap="none" strike="noStrike">
              <a:solidFill>
                <a:schemeClr val="dk1"/>
              </a:solidFill>
              <a:latin typeface="Calibri"/>
              <a:ea typeface="Calibri"/>
              <a:cs typeface="Calibri"/>
              <a:sym typeface="Calibri"/>
            </a:endParaRPr>
          </a:p>
        </p:txBody>
      </p:sp>
      <p:sp>
        <p:nvSpPr>
          <p:cNvPr id="348" name="Google Shape;348;p13"/>
          <p:cNvSpPr/>
          <p:nvPr/>
        </p:nvSpPr>
        <p:spPr>
          <a:xfrm>
            <a:off x="2580589" y="2322576"/>
            <a:ext cx="1373581" cy="2084832"/>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OAuth self client</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Read only scopes</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Token vault</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API credit budgeter</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Rate limit guard</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Consent record</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Per org isolation</a:t>
            </a:r>
            <a:endParaRPr b="0" i="0" sz="960" u="none" cap="none" strike="noStrike">
              <a:solidFill>
                <a:schemeClr val="dk1"/>
              </a:solidFill>
              <a:latin typeface="Calibri"/>
              <a:ea typeface="Calibri"/>
              <a:cs typeface="Calibri"/>
              <a:sym typeface="Calibri"/>
            </a:endParaRPr>
          </a:p>
        </p:txBody>
      </p:sp>
      <p:sp>
        <p:nvSpPr>
          <p:cNvPr id="349" name="Google Shape;349;p13"/>
          <p:cNvSpPr/>
          <p:nvPr/>
        </p:nvSpPr>
        <p:spPr>
          <a:xfrm rot="5400000">
            <a:off x="4127906" y="2990088"/>
            <a:ext cx="155448" cy="182880"/>
          </a:xfrm>
          <a:prstGeom prst="triangle">
            <a:avLst>
              <a:gd fmla="val 50000" name="adj"/>
            </a:avLst>
          </a:prstGeom>
          <a:solidFill>
            <a:srgbClr val="3FC1A9"/>
          </a:solidFill>
          <a:ln cap="flat" cmpd="sng" w="12700">
            <a:solidFill>
              <a:srgbClr val="3FC1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p:nvPr/>
        </p:nvSpPr>
        <p:spPr>
          <a:xfrm>
            <a:off x="4338218" y="1691640"/>
            <a:ext cx="1629613" cy="2788920"/>
          </a:xfrm>
          <a:prstGeom prst="roundRect">
            <a:avLst>
              <a:gd fmla="val 4489" name="adj"/>
            </a:avLst>
          </a:prstGeom>
          <a:solidFill>
            <a:srgbClr val="0E3C44"/>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p:nvPr/>
        </p:nvSpPr>
        <p:spPr>
          <a:xfrm>
            <a:off x="4466234" y="1792224"/>
            <a:ext cx="1373581" cy="512064"/>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FFFF"/>
              </a:buClr>
              <a:buSzPts val="1250"/>
              <a:buFont typeface="Cambria"/>
              <a:buNone/>
            </a:pPr>
            <a:r>
              <a:rPr b="1" i="0" lang="en-US" sz="1250" u="none" cap="none" strike="noStrike">
                <a:solidFill>
                  <a:srgbClr val="FFFFFF"/>
                </a:solidFill>
                <a:latin typeface="Cambria"/>
                <a:ea typeface="Cambria"/>
                <a:cs typeface="Cambria"/>
                <a:sym typeface="Cambria"/>
              </a:rPr>
              <a:t>Collector</a:t>
            </a:r>
            <a:endParaRPr b="0" i="0" sz="1250" u="none" cap="none" strike="noStrike">
              <a:solidFill>
                <a:schemeClr val="dk1"/>
              </a:solidFill>
              <a:latin typeface="Calibri"/>
              <a:ea typeface="Calibri"/>
              <a:cs typeface="Calibri"/>
              <a:sym typeface="Calibri"/>
            </a:endParaRPr>
          </a:p>
        </p:txBody>
      </p:sp>
      <p:sp>
        <p:nvSpPr>
          <p:cNvPr id="352" name="Google Shape;352;p13"/>
          <p:cNvSpPr/>
          <p:nvPr/>
        </p:nvSpPr>
        <p:spPr>
          <a:xfrm>
            <a:off x="4466234" y="2322576"/>
            <a:ext cx="1373581" cy="2084832"/>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Metadata reader</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Bulk Read jobs</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COQL pager</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Watermark resume</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User and role map</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Audit trail read for</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created and modified</a:t>
            </a:r>
            <a:endParaRPr b="0" i="0" sz="960" u="none" cap="none" strike="noStrike">
              <a:solidFill>
                <a:schemeClr val="dk1"/>
              </a:solidFill>
              <a:latin typeface="Calibri"/>
              <a:ea typeface="Calibri"/>
              <a:cs typeface="Calibri"/>
              <a:sym typeface="Calibri"/>
            </a:endParaRPr>
          </a:p>
        </p:txBody>
      </p:sp>
      <p:sp>
        <p:nvSpPr>
          <p:cNvPr id="353" name="Google Shape;353;p13"/>
          <p:cNvSpPr/>
          <p:nvPr/>
        </p:nvSpPr>
        <p:spPr>
          <a:xfrm rot="5400000">
            <a:off x="6013552" y="2990088"/>
            <a:ext cx="155448" cy="182880"/>
          </a:xfrm>
          <a:prstGeom prst="triangle">
            <a:avLst>
              <a:gd fmla="val 50000" name="adj"/>
            </a:avLst>
          </a:prstGeom>
          <a:solidFill>
            <a:srgbClr val="3FC1A9"/>
          </a:solidFill>
          <a:ln cap="flat" cmpd="sng" w="12700">
            <a:solidFill>
              <a:srgbClr val="3FC1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3"/>
          <p:cNvSpPr/>
          <p:nvPr/>
        </p:nvSpPr>
        <p:spPr>
          <a:xfrm>
            <a:off x="6223864" y="1691640"/>
            <a:ext cx="1629613" cy="2788920"/>
          </a:xfrm>
          <a:prstGeom prst="roundRect">
            <a:avLst>
              <a:gd fmla="val 4489" name="adj"/>
            </a:avLst>
          </a:prstGeom>
          <a:solidFill>
            <a:srgbClr val="0E3C44"/>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3"/>
          <p:cNvSpPr/>
          <p:nvPr/>
        </p:nvSpPr>
        <p:spPr>
          <a:xfrm>
            <a:off x="6351880" y="1792224"/>
            <a:ext cx="1373581" cy="512064"/>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FFFF"/>
              </a:buClr>
              <a:buSzPts val="1250"/>
              <a:buFont typeface="Cambria"/>
              <a:buNone/>
            </a:pPr>
            <a:r>
              <a:rPr b="1" i="0" lang="en-US" sz="1250" u="none" cap="none" strike="noStrike">
                <a:solidFill>
                  <a:srgbClr val="FFFFFF"/>
                </a:solidFill>
                <a:latin typeface="Cambria"/>
                <a:ea typeface="Cambria"/>
                <a:cs typeface="Cambria"/>
                <a:sym typeface="Cambria"/>
              </a:rPr>
              <a:t>Evaluation</a:t>
            </a:r>
            <a:endParaRPr b="0" i="0" sz="1250" u="none" cap="none" strike="noStrike">
              <a:solidFill>
                <a:schemeClr val="dk1"/>
              </a:solidFill>
              <a:latin typeface="Calibri"/>
              <a:ea typeface="Calibri"/>
              <a:cs typeface="Calibri"/>
              <a:sym typeface="Calibri"/>
            </a:endParaRPr>
          </a:p>
        </p:txBody>
      </p:sp>
      <p:sp>
        <p:nvSpPr>
          <p:cNvPr id="356" name="Google Shape;356;p13"/>
          <p:cNvSpPr/>
          <p:nvPr/>
        </p:nvSpPr>
        <p:spPr>
          <a:xfrm>
            <a:off x="6351880" y="2322576"/>
            <a:ext cx="1373581" cy="2084832"/>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Stage aware rules</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Format validators</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Plausibility engine</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Blocking and fuzzy</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match for duplicates</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Record state assigned</a:t>
            </a:r>
            <a:endParaRPr b="0" i="0" sz="960" u="none" cap="none" strike="noStrike">
              <a:solidFill>
                <a:schemeClr val="dk1"/>
              </a:solidFill>
              <a:latin typeface="Calibri"/>
              <a:ea typeface="Calibri"/>
              <a:cs typeface="Calibri"/>
              <a:sym typeface="Calibri"/>
            </a:endParaRPr>
          </a:p>
        </p:txBody>
      </p:sp>
      <p:sp>
        <p:nvSpPr>
          <p:cNvPr id="357" name="Google Shape;357;p13"/>
          <p:cNvSpPr/>
          <p:nvPr/>
        </p:nvSpPr>
        <p:spPr>
          <a:xfrm rot="5400000">
            <a:off x="7899197" y="2990088"/>
            <a:ext cx="155448" cy="182880"/>
          </a:xfrm>
          <a:prstGeom prst="triangle">
            <a:avLst>
              <a:gd fmla="val 50000" name="adj"/>
            </a:avLst>
          </a:prstGeom>
          <a:solidFill>
            <a:srgbClr val="3FC1A9"/>
          </a:solidFill>
          <a:ln cap="flat" cmpd="sng" w="12700">
            <a:solidFill>
              <a:srgbClr val="3FC1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3"/>
          <p:cNvSpPr/>
          <p:nvPr/>
        </p:nvSpPr>
        <p:spPr>
          <a:xfrm>
            <a:off x="8109509" y="1691640"/>
            <a:ext cx="1629613" cy="2788920"/>
          </a:xfrm>
          <a:prstGeom prst="roundRect">
            <a:avLst>
              <a:gd fmla="val 4489" name="adj"/>
            </a:avLst>
          </a:prstGeom>
          <a:solidFill>
            <a:srgbClr val="0E3C44"/>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3"/>
          <p:cNvSpPr/>
          <p:nvPr/>
        </p:nvSpPr>
        <p:spPr>
          <a:xfrm>
            <a:off x="8237525" y="1792224"/>
            <a:ext cx="1373581" cy="512064"/>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FFFF"/>
              </a:buClr>
              <a:buSzPts val="1250"/>
              <a:buFont typeface="Cambria"/>
              <a:buNone/>
            </a:pPr>
            <a:r>
              <a:rPr b="1" i="0" lang="en-US" sz="1250" u="none" cap="none" strike="noStrike">
                <a:solidFill>
                  <a:srgbClr val="FFFFFF"/>
                </a:solidFill>
                <a:latin typeface="Cambria"/>
                <a:ea typeface="Cambria"/>
                <a:cs typeface="Cambria"/>
                <a:sym typeface="Cambria"/>
              </a:rPr>
              <a:t>Aggregation cube</a:t>
            </a:r>
            <a:endParaRPr b="0" i="0" sz="1250" u="none" cap="none" strike="noStrike">
              <a:solidFill>
                <a:schemeClr val="dk1"/>
              </a:solidFill>
              <a:latin typeface="Calibri"/>
              <a:ea typeface="Calibri"/>
              <a:cs typeface="Calibri"/>
              <a:sym typeface="Calibri"/>
            </a:endParaRPr>
          </a:p>
        </p:txBody>
      </p:sp>
      <p:sp>
        <p:nvSpPr>
          <p:cNvPr id="360" name="Google Shape;360;p13"/>
          <p:cNvSpPr/>
          <p:nvPr/>
        </p:nvSpPr>
        <p:spPr>
          <a:xfrm>
            <a:off x="8237525" y="2322576"/>
            <a:ext cx="1373581" cy="2084832"/>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Module dimension</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User dimension</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Time dimension</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State measures</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Pre aggregated so</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any filter is instant</a:t>
            </a:r>
            <a:endParaRPr b="0" i="0" sz="960" u="none" cap="none" strike="noStrike">
              <a:solidFill>
                <a:schemeClr val="dk1"/>
              </a:solidFill>
              <a:latin typeface="Calibri"/>
              <a:ea typeface="Calibri"/>
              <a:cs typeface="Calibri"/>
              <a:sym typeface="Calibri"/>
            </a:endParaRPr>
          </a:p>
        </p:txBody>
      </p:sp>
      <p:sp>
        <p:nvSpPr>
          <p:cNvPr id="361" name="Google Shape;361;p13"/>
          <p:cNvSpPr/>
          <p:nvPr/>
        </p:nvSpPr>
        <p:spPr>
          <a:xfrm rot="5400000">
            <a:off x="9784842" y="2990088"/>
            <a:ext cx="155448" cy="182880"/>
          </a:xfrm>
          <a:prstGeom prst="triangle">
            <a:avLst>
              <a:gd fmla="val 50000" name="adj"/>
            </a:avLst>
          </a:prstGeom>
          <a:solidFill>
            <a:srgbClr val="3FC1A9"/>
          </a:solidFill>
          <a:ln cap="flat" cmpd="sng" w="12700">
            <a:solidFill>
              <a:srgbClr val="3FC1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3"/>
          <p:cNvSpPr/>
          <p:nvPr/>
        </p:nvSpPr>
        <p:spPr>
          <a:xfrm>
            <a:off x="9995154" y="1691640"/>
            <a:ext cx="1629613" cy="2788920"/>
          </a:xfrm>
          <a:prstGeom prst="roundRect">
            <a:avLst>
              <a:gd fmla="val 4489" name="adj"/>
            </a:avLst>
          </a:prstGeom>
          <a:solidFill>
            <a:srgbClr val="0E3C44"/>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3"/>
          <p:cNvSpPr/>
          <p:nvPr/>
        </p:nvSpPr>
        <p:spPr>
          <a:xfrm>
            <a:off x="10123170" y="1792224"/>
            <a:ext cx="1373581" cy="512064"/>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FFFF"/>
              </a:buClr>
              <a:buSzPts val="1250"/>
              <a:buFont typeface="Cambria"/>
              <a:buNone/>
            </a:pPr>
            <a:r>
              <a:rPr b="1" i="0" lang="en-US" sz="1250" u="none" cap="none" strike="noStrike">
                <a:solidFill>
                  <a:srgbClr val="FFFFFF"/>
                </a:solidFill>
                <a:latin typeface="Cambria"/>
                <a:ea typeface="Cambria"/>
                <a:cs typeface="Cambria"/>
                <a:sym typeface="Cambria"/>
              </a:rPr>
              <a:t>Output</a:t>
            </a:r>
            <a:endParaRPr b="0" i="0" sz="1250" u="none" cap="none" strike="noStrike">
              <a:solidFill>
                <a:schemeClr val="dk1"/>
              </a:solidFill>
              <a:latin typeface="Calibri"/>
              <a:ea typeface="Calibri"/>
              <a:cs typeface="Calibri"/>
              <a:sym typeface="Calibri"/>
            </a:endParaRPr>
          </a:p>
        </p:txBody>
      </p:sp>
      <p:sp>
        <p:nvSpPr>
          <p:cNvPr id="364" name="Google Shape;364;p13"/>
          <p:cNvSpPr/>
          <p:nvPr/>
        </p:nvSpPr>
        <p:spPr>
          <a:xfrm>
            <a:off x="10123170" y="2322576"/>
            <a:ext cx="1373581" cy="2084832"/>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Command centre UI</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SmartBrowz PDF</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Remediation backlog</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Action centre</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Scheduled alerts</a:t>
            </a:r>
            <a:endParaRPr b="0" i="0" sz="960" u="none" cap="none" strike="noStrike">
              <a:solidFill>
                <a:schemeClr val="dk1"/>
              </a:solidFill>
              <a:latin typeface="Calibri"/>
              <a:ea typeface="Calibri"/>
              <a:cs typeface="Calibri"/>
              <a:sym typeface="Calibri"/>
            </a:endParaRPr>
          </a:p>
          <a:p>
            <a:pPr indent="0" lvl="0" marL="0" marR="0" rtl="0" algn="l">
              <a:lnSpc>
                <a:spcPct val="126000"/>
              </a:lnSpc>
              <a:spcBef>
                <a:spcPts val="0"/>
              </a:spcBef>
              <a:spcAft>
                <a:spcPts val="0"/>
              </a:spcAft>
              <a:buClr>
                <a:srgbClr val="CFE4E6"/>
              </a:buClr>
              <a:buSzPts val="960"/>
              <a:buFont typeface="Calibri"/>
              <a:buNone/>
            </a:pPr>
            <a:r>
              <a:rPr b="0" i="0" lang="en-US" sz="960" u="none" cap="none" strike="noStrike">
                <a:solidFill>
                  <a:srgbClr val="CFE4E6"/>
                </a:solidFill>
                <a:latin typeface="Calibri"/>
                <a:ea typeface="Calibri"/>
                <a:cs typeface="Calibri"/>
                <a:sym typeface="Calibri"/>
              </a:rPr>
              <a:t>Benchmark feed</a:t>
            </a:r>
            <a:endParaRPr b="0" i="0" sz="960" u="none" cap="none" strike="noStrike">
              <a:solidFill>
                <a:schemeClr val="dk1"/>
              </a:solidFill>
              <a:latin typeface="Calibri"/>
              <a:ea typeface="Calibri"/>
              <a:cs typeface="Calibri"/>
              <a:sym typeface="Calibri"/>
            </a:endParaRPr>
          </a:p>
        </p:txBody>
      </p:sp>
      <p:sp>
        <p:nvSpPr>
          <p:cNvPr id="365" name="Google Shape;365;p13"/>
          <p:cNvSpPr/>
          <p:nvPr/>
        </p:nvSpPr>
        <p:spPr>
          <a:xfrm>
            <a:off x="566928" y="4709160"/>
            <a:ext cx="11057839" cy="1298448"/>
          </a:xfrm>
          <a:prstGeom prst="roundRect">
            <a:avLst>
              <a:gd fmla="val 5634" name="adj"/>
            </a:avLst>
          </a:prstGeom>
          <a:solidFill>
            <a:srgbClr val="13333A"/>
          </a:solidFill>
          <a:ln cap="flat" cmpd="sng" w="12700">
            <a:solidFill>
              <a:srgbClr val="2A55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
          <p:cNvSpPr/>
          <p:nvPr/>
        </p:nvSpPr>
        <p:spPr>
          <a:xfrm>
            <a:off x="786384" y="4809744"/>
            <a:ext cx="10618927"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C1A9"/>
              </a:buClr>
              <a:buSzPts val="1300"/>
              <a:buFont typeface="Cambria"/>
              <a:buNone/>
            </a:pPr>
            <a:r>
              <a:rPr b="1" i="0" lang="en-US" sz="1300" u="none" cap="none" strike="noStrike">
                <a:solidFill>
                  <a:srgbClr val="3FC1A9"/>
                </a:solidFill>
                <a:latin typeface="Cambria"/>
                <a:ea typeface="Cambria"/>
                <a:cs typeface="Cambria"/>
                <a:sym typeface="Cambria"/>
              </a:rPr>
              <a:t>The one component that makes version two possible</a:t>
            </a:r>
            <a:endParaRPr b="0" i="0" sz="1300" u="none" cap="none" strike="noStrike">
              <a:solidFill>
                <a:schemeClr val="dk1"/>
              </a:solidFill>
              <a:latin typeface="Calibri"/>
              <a:ea typeface="Calibri"/>
              <a:cs typeface="Calibri"/>
              <a:sym typeface="Calibri"/>
            </a:endParaRPr>
          </a:p>
        </p:txBody>
      </p:sp>
      <p:sp>
        <p:nvSpPr>
          <p:cNvPr id="367" name="Google Shape;367;p13"/>
          <p:cNvSpPr/>
          <p:nvPr/>
        </p:nvSpPr>
        <p:spPr>
          <a:xfrm>
            <a:off x="786384" y="5120640"/>
            <a:ext cx="10618927" cy="80467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CFE4E6"/>
              </a:buClr>
              <a:buSzPts val="1050"/>
              <a:buFont typeface="Calibri"/>
              <a:buNone/>
            </a:pPr>
            <a:r>
              <a:rPr b="0" i="0" lang="en-US" sz="1050" u="none" cap="none" strike="noStrike">
                <a:solidFill>
                  <a:srgbClr val="CFE4E6"/>
                </a:solidFill>
                <a:latin typeface="Calibri"/>
                <a:ea typeface="Calibri"/>
                <a:cs typeface="Calibri"/>
                <a:sym typeface="Calibri"/>
              </a:rPr>
              <a:t>The aggregation cube. Record states are pre aggregated across module, user and time the moment evaluation finishes, so any combination of filters resolves in under a second without touching the client org again.  ·  Without it, every date range change would trigger a re extract and the tool would be unusable in a live client session.  ·  Field values are discarded after evaluation. Only record identifiers, states and dimension keys persist, which keeps the PII surface near zero and the whole thing inside the client region.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sp>
        <p:nvSpPr>
          <p:cNvPr id="373" name="Google Shape;373;p14"/>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One scan, seven steps</a:t>
            </a:r>
            <a:endParaRPr b="0" i="0" sz="3000" u="none" cap="none" strike="noStrike">
              <a:solidFill>
                <a:schemeClr val="dk1"/>
              </a:solidFill>
              <a:latin typeface="Calibri"/>
              <a:ea typeface="Calibri"/>
              <a:cs typeface="Calibri"/>
              <a:sym typeface="Calibri"/>
            </a:endParaRPr>
          </a:p>
        </p:txBody>
      </p:sp>
      <p:sp>
        <p:nvSpPr>
          <p:cNvPr id="374" name="Google Shape;374;p14"/>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Steps 1 to 3 need client presence. Everything after runs unattended and is fully repeatable.</a:t>
            </a:r>
            <a:endParaRPr b="0" i="0" sz="1350" u="none" cap="none" strike="noStrike">
              <a:solidFill>
                <a:schemeClr val="dk1"/>
              </a:solidFill>
              <a:latin typeface="Calibri"/>
              <a:ea typeface="Calibri"/>
              <a:cs typeface="Calibri"/>
              <a:sym typeface="Calibri"/>
            </a:endParaRPr>
          </a:p>
        </p:txBody>
      </p:sp>
      <p:sp>
        <p:nvSpPr>
          <p:cNvPr id="375" name="Google Shape;375;p14"/>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376" name="Google Shape;376;p14"/>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14</a:t>
            </a:r>
            <a:endParaRPr b="0" i="0" sz="950" u="none" cap="none" strike="noStrike">
              <a:solidFill>
                <a:schemeClr val="dk1"/>
              </a:solidFill>
              <a:latin typeface="Calibri"/>
              <a:ea typeface="Calibri"/>
              <a:cs typeface="Calibri"/>
              <a:sym typeface="Calibri"/>
            </a:endParaRPr>
          </a:p>
        </p:txBody>
      </p:sp>
      <p:sp>
        <p:nvSpPr>
          <p:cNvPr id="377" name="Google Shape;377;p14"/>
          <p:cNvSpPr/>
          <p:nvPr/>
        </p:nvSpPr>
        <p:spPr>
          <a:xfrm>
            <a:off x="566928" y="1627632"/>
            <a:ext cx="1454288" cy="1600200"/>
          </a:xfrm>
          <a:prstGeom prst="roundRect">
            <a:avLst>
              <a:gd fmla="val 5030"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4"/>
          <p:cNvSpPr/>
          <p:nvPr/>
        </p:nvSpPr>
        <p:spPr>
          <a:xfrm>
            <a:off x="694944" y="1719072"/>
            <a:ext cx="119825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000"/>
              <a:buFont typeface="Calibri"/>
              <a:buNone/>
            </a:pPr>
            <a:r>
              <a:rPr b="1" i="0" lang="en-US" sz="1000" u="none" cap="none" strike="noStrike">
                <a:solidFill>
                  <a:srgbClr val="046B73"/>
                </a:solidFill>
                <a:latin typeface="Calibri"/>
                <a:ea typeface="Calibri"/>
                <a:cs typeface="Calibri"/>
                <a:sym typeface="Calibri"/>
              </a:rPr>
              <a:t>01</a:t>
            </a:r>
            <a:endParaRPr b="0" i="0" sz="1000" u="none" cap="none" strike="noStrike">
              <a:solidFill>
                <a:schemeClr val="dk1"/>
              </a:solidFill>
              <a:latin typeface="Calibri"/>
              <a:ea typeface="Calibri"/>
              <a:cs typeface="Calibri"/>
              <a:sym typeface="Calibri"/>
            </a:endParaRPr>
          </a:p>
        </p:txBody>
      </p:sp>
      <p:sp>
        <p:nvSpPr>
          <p:cNvPr id="379" name="Google Shape;379;p14"/>
          <p:cNvSpPr/>
          <p:nvPr/>
        </p:nvSpPr>
        <p:spPr>
          <a:xfrm>
            <a:off x="694944" y="1975104"/>
            <a:ext cx="1198256" cy="402336"/>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B1F24"/>
              </a:buClr>
              <a:buSzPts val="1250"/>
              <a:buFont typeface="Cambria"/>
              <a:buNone/>
            </a:pPr>
            <a:r>
              <a:rPr b="1" i="0" lang="en-US" sz="1250" u="none" cap="none" strike="noStrike">
                <a:solidFill>
                  <a:srgbClr val="1B1F24"/>
                </a:solidFill>
                <a:latin typeface="Cambria"/>
                <a:ea typeface="Cambria"/>
                <a:cs typeface="Cambria"/>
                <a:sym typeface="Cambria"/>
              </a:rPr>
              <a:t>Connect</a:t>
            </a:r>
            <a:endParaRPr b="0" i="0" sz="1250" u="none" cap="none" strike="noStrike">
              <a:solidFill>
                <a:schemeClr val="dk1"/>
              </a:solidFill>
              <a:latin typeface="Calibri"/>
              <a:ea typeface="Calibri"/>
              <a:cs typeface="Calibri"/>
              <a:sym typeface="Calibri"/>
            </a:endParaRPr>
          </a:p>
        </p:txBody>
      </p:sp>
      <p:sp>
        <p:nvSpPr>
          <p:cNvPr id="380" name="Google Shape;380;p14"/>
          <p:cNvSpPr/>
          <p:nvPr/>
        </p:nvSpPr>
        <p:spPr>
          <a:xfrm>
            <a:off x="694944" y="2377440"/>
            <a:ext cx="1198256" cy="7406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980"/>
              <a:buFont typeface="Calibri"/>
              <a:buNone/>
            </a:pPr>
            <a:r>
              <a:rPr b="0" i="0" lang="en-US" sz="980" u="none" cap="none" strike="noStrike">
                <a:solidFill>
                  <a:srgbClr val="6B7280"/>
                </a:solidFill>
                <a:latin typeface="Calibri"/>
                <a:ea typeface="Calibri"/>
                <a:cs typeface="Calibri"/>
                <a:sym typeface="Calibri"/>
              </a:rPr>
              <a:t>Read only self client approved. Scopes shown on screen before consent is given.</a:t>
            </a:r>
            <a:endParaRPr b="0" i="0" sz="980" u="none" cap="none" strike="noStrike">
              <a:solidFill>
                <a:schemeClr val="dk1"/>
              </a:solidFill>
              <a:latin typeface="Calibri"/>
              <a:ea typeface="Calibri"/>
              <a:cs typeface="Calibri"/>
              <a:sym typeface="Calibri"/>
            </a:endParaRPr>
          </a:p>
        </p:txBody>
      </p:sp>
      <p:sp>
        <p:nvSpPr>
          <p:cNvPr id="381" name="Google Shape;381;p14"/>
          <p:cNvSpPr/>
          <p:nvPr/>
        </p:nvSpPr>
        <p:spPr>
          <a:xfrm rot="5400000">
            <a:off x="2034932" y="2359152"/>
            <a:ext cx="118872" cy="137160"/>
          </a:xfrm>
          <a:prstGeom prst="triangle">
            <a:avLst>
              <a:gd fmla="val 5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4"/>
          <p:cNvSpPr/>
          <p:nvPr/>
        </p:nvSpPr>
        <p:spPr>
          <a:xfrm>
            <a:off x="2167520" y="1627632"/>
            <a:ext cx="1454288" cy="1600200"/>
          </a:xfrm>
          <a:prstGeom prst="roundRect">
            <a:avLst>
              <a:gd fmla="val 5030"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2295536" y="1719072"/>
            <a:ext cx="119825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000"/>
              <a:buFont typeface="Calibri"/>
              <a:buNone/>
            </a:pPr>
            <a:r>
              <a:rPr b="1" i="0" lang="en-US" sz="1000" u="none" cap="none" strike="noStrike">
                <a:solidFill>
                  <a:srgbClr val="046B73"/>
                </a:solidFill>
                <a:latin typeface="Calibri"/>
                <a:ea typeface="Calibri"/>
                <a:cs typeface="Calibri"/>
                <a:sym typeface="Calibri"/>
              </a:rPr>
              <a:t>02</a:t>
            </a:r>
            <a:endParaRPr b="0" i="0" sz="1000" u="none" cap="none" strike="noStrike">
              <a:solidFill>
                <a:schemeClr val="dk1"/>
              </a:solidFill>
              <a:latin typeface="Calibri"/>
              <a:ea typeface="Calibri"/>
              <a:cs typeface="Calibri"/>
              <a:sym typeface="Calibri"/>
            </a:endParaRPr>
          </a:p>
        </p:txBody>
      </p:sp>
      <p:sp>
        <p:nvSpPr>
          <p:cNvPr id="384" name="Google Shape;384;p14"/>
          <p:cNvSpPr/>
          <p:nvPr/>
        </p:nvSpPr>
        <p:spPr>
          <a:xfrm>
            <a:off x="2295536" y="1975104"/>
            <a:ext cx="1198256" cy="402336"/>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B1F24"/>
              </a:buClr>
              <a:buSzPts val="1250"/>
              <a:buFont typeface="Cambria"/>
              <a:buNone/>
            </a:pPr>
            <a:r>
              <a:rPr b="1" i="0" lang="en-US" sz="1250" u="none" cap="none" strike="noStrike">
                <a:solidFill>
                  <a:srgbClr val="1B1F24"/>
                </a:solidFill>
                <a:latin typeface="Cambria"/>
                <a:ea typeface="Cambria"/>
                <a:cs typeface="Cambria"/>
                <a:sym typeface="Cambria"/>
              </a:rPr>
              <a:t>Discover</a:t>
            </a:r>
            <a:endParaRPr b="0" i="0" sz="1250" u="none" cap="none" strike="noStrike">
              <a:solidFill>
                <a:schemeClr val="dk1"/>
              </a:solidFill>
              <a:latin typeface="Calibri"/>
              <a:ea typeface="Calibri"/>
              <a:cs typeface="Calibri"/>
              <a:sym typeface="Calibri"/>
            </a:endParaRPr>
          </a:p>
        </p:txBody>
      </p:sp>
      <p:sp>
        <p:nvSpPr>
          <p:cNvPr id="385" name="Google Shape;385;p14"/>
          <p:cNvSpPr/>
          <p:nvPr/>
        </p:nvSpPr>
        <p:spPr>
          <a:xfrm>
            <a:off x="2295536" y="2377440"/>
            <a:ext cx="1198256" cy="7406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980"/>
              <a:buFont typeface="Calibri"/>
              <a:buNone/>
            </a:pPr>
            <a:r>
              <a:rPr b="0" i="0" lang="en-US" sz="980" u="none" cap="none" strike="noStrike">
                <a:solidFill>
                  <a:srgbClr val="6B7280"/>
                </a:solidFill>
                <a:latin typeface="Calibri"/>
                <a:ea typeface="Calibri"/>
                <a:cs typeface="Calibri"/>
                <a:sym typeface="Calibri"/>
              </a:rPr>
              <a:t>Modules, fields, layouts, stages, workflows, users and roles.</a:t>
            </a:r>
            <a:endParaRPr b="0" i="0" sz="980" u="none" cap="none" strike="noStrike">
              <a:solidFill>
                <a:schemeClr val="dk1"/>
              </a:solidFill>
              <a:latin typeface="Calibri"/>
              <a:ea typeface="Calibri"/>
              <a:cs typeface="Calibri"/>
              <a:sym typeface="Calibri"/>
            </a:endParaRPr>
          </a:p>
        </p:txBody>
      </p:sp>
      <p:sp>
        <p:nvSpPr>
          <p:cNvPr id="386" name="Google Shape;386;p14"/>
          <p:cNvSpPr/>
          <p:nvPr/>
        </p:nvSpPr>
        <p:spPr>
          <a:xfrm rot="5400000">
            <a:off x="3635524" y="2359152"/>
            <a:ext cx="118872" cy="137160"/>
          </a:xfrm>
          <a:prstGeom prst="triangle">
            <a:avLst>
              <a:gd fmla="val 5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4"/>
          <p:cNvSpPr/>
          <p:nvPr/>
        </p:nvSpPr>
        <p:spPr>
          <a:xfrm>
            <a:off x="3768112" y="1627632"/>
            <a:ext cx="1454288" cy="1600200"/>
          </a:xfrm>
          <a:prstGeom prst="roundRect">
            <a:avLst>
              <a:gd fmla="val 5030"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a:off x="3896128" y="1719072"/>
            <a:ext cx="119825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000"/>
              <a:buFont typeface="Calibri"/>
              <a:buNone/>
            </a:pPr>
            <a:r>
              <a:rPr b="1" i="0" lang="en-US" sz="1000" u="none" cap="none" strike="noStrike">
                <a:solidFill>
                  <a:srgbClr val="046B73"/>
                </a:solidFill>
                <a:latin typeface="Calibri"/>
                <a:ea typeface="Calibri"/>
                <a:cs typeface="Calibri"/>
                <a:sym typeface="Calibri"/>
              </a:rPr>
              <a:t>03</a:t>
            </a:r>
            <a:endParaRPr b="0" i="0" sz="1000" u="none" cap="none" strike="noStrike">
              <a:solidFill>
                <a:schemeClr val="dk1"/>
              </a:solidFill>
              <a:latin typeface="Calibri"/>
              <a:ea typeface="Calibri"/>
              <a:cs typeface="Calibri"/>
              <a:sym typeface="Calibri"/>
            </a:endParaRPr>
          </a:p>
        </p:txBody>
      </p:sp>
      <p:sp>
        <p:nvSpPr>
          <p:cNvPr id="389" name="Google Shape;389;p14"/>
          <p:cNvSpPr/>
          <p:nvPr/>
        </p:nvSpPr>
        <p:spPr>
          <a:xfrm>
            <a:off x="3896128" y="1975104"/>
            <a:ext cx="1198256" cy="402336"/>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B1F24"/>
              </a:buClr>
              <a:buSzPts val="1250"/>
              <a:buFont typeface="Cambria"/>
              <a:buNone/>
            </a:pPr>
            <a:r>
              <a:rPr b="1" i="0" lang="en-US" sz="1250" u="none" cap="none" strike="noStrike">
                <a:solidFill>
                  <a:srgbClr val="1B1F24"/>
                </a:solidFill>
                <a:latin typeface="Cambria"/>
                <a:ea typeface="Cambria"/>
                <a:cs typeface="Cambria"/>
                <a:sym typeface="Cambria"/>
              </a:rPr>
              <a:t>Scope</a:t>
            </a:r>
            <a:endParaRPr b="0" i="0" sz="1250" u="none" cap="none" strike="noStrike">
              <a:solidFill>
                <a:schemeClr val="dk1"/>
              </a:solidFill>
              <a:latin typeface="Calibri"/>
              <a:ea typeface="Calibri"/>
              <a:cs typeface="Calibri"/>
              <a:sym typeface="Calibri"/>
            </a:endParaRPr>
          </a:p>
        </p:txBody>
      </p:sp>
      <p:sp>
        <p:nvSpPr>
          <p:cNvPr id="390" name="Google Shape;390;p14"/>
          <p:cNvSpPr/>
          <p:nvPr/>
        </p:nvSpPr>
        <p:spPr>
          <a:xfrm>
            <a:off x="3896128" y="2377440"/>
            <a:ext cx="1198256" cy="7406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980"/>
              <a:buFont typeface="Calibri"/>
              <a:buNone/>
            </a:pPr>
            <a:r>
              <a:rPr b="0" i="0" lang="en-US" sz="980" u="none" cap="none" strike="noStrike">
                <a:solidFill>
                  <a:srgbClr val="6B7280"/>
                </a:solidFill>
                <a:latin typeface="Calibri"/>
                <a:ea typeface="Calibri"/>
                <a:cs typeface="Calibri"/>
                <a:sym typeface="Calibri"/>
              </a:rPr>
              <a:t>Modules, date range, clock, and sample or full depth.</a:t>
            </a:r>
            <a:endParaRPr b="0" i="0" sz="980" u="none" cap="none" strike="noStrike">
              <a:solidFill>
                <a:schemeClr val="dk1"/>
              </a:solidFill>
              <a:latin typeface="Calibri"/>
              <a:ea typeface="Calibri"/>
              <a:cs typeface="Calibri"/>
              <a:sym typeface="Calibri"/>
            </a:endParaRPr>
          </a:p>
        </p:txBody>
      </p:sp>
      <p:sp>
        <p:nvSpPr>
          <p:cNvPr id="391" name="Google Shape;391;p14"/>
          <p:cNvSpPr/>
          <p:nvPr/>
        </p:nvSpPr>
        <p:spPr>
          <a:xfrm rot="5400000">
            <a:off x="5236116" y="2359152"/>
            <a:ext cx="118872" cy="137160"/>
          </a:xfrm>
          <a:prstGeom prst="triangle">
            <a:avLst>
              <a:gd fmla="val 5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4"/>
          <p:cNvSpPr/>
          <p:nvPr/>
        </p:nvSpPr>
        <p:spPr>
          <a:xfrm>
            <a:off x="5368704" y="1627632"/>
            <a:ext cx="1454288" cy="1600200"/>
          </a:xfrm>
          <a:prstGeom prst="roundRect">
            <a:avLst>
              <a:gd fmla="val 5030"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a:off x="5496720" y="1719072"/>
            <a:ext cx="119825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000"/>
              <a:buFont typeface="Calibri"/>
              <a:buNone/>
            </a:pPr>
            <a:r>
              <a:rPr b="1" i="0" lang="en-US" sz="1000" u="none" cap="none" strike="noStrike">
                <a:solidFill>
                  <a:srgbClr val="046B73"/>
                </a:solidFill>
                <a:latin typeface="Calibri"/>
                <a:ea typeface="Calibri"/>
                <a:cs typeface="Calibri"/>
                <a:sym typeface="Calibri"/>
              </a:rPr>
              <a:t>04</a:t>
            </a:r>
            <a:endParaRPr b="0" i="0" sz="1000" u="none" cap="none" strike="noStrike">
              <a:solidFill>
                <a:schemeClr val="dk1"/>
              </a:solidFill>
              <a:latin typeface="Calibri"/>
              <a:ea typeface="Calibri"/>
              <a:cs typeface="Calibri"/>
              <a:sym typeface="Calibri"/>
            </a:endParaRPr>
          </a:p>
        </p:txBody>
      </p:sp>
      <p:sp>
        <p:nvSpPr>
          <p:cNvPr id="394" name="Google Shape;394;p14"/>
          <p:cNvSpPr/>
          <p:nvPr/>
        </p:nvSpPr>
        <p:spPr>
          <a:xfrm>
            <a:off x="5496720" y="1975104"/>
            <a:ext cx="1198256" cy="402336"/>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B1F24"/>
              </a:buClr>
              <a:buSzPts val="1250"/>
              <a:buFont typeface="Cambria"/>
              <a:buNone/>
            </a:pPr>
            <a:r>
              <a:rPr b="1" i="0" lang="en-US" sz="1250" u="none" cap="none" strike="noStrike">
                <a:solidFill>
                  <a:srgbClr val="1B1F24"/>
                </a:solidFill>
                <a:latin typeface="Cambria"/>
                <a:ea typeface="Cambria"/>
                <a:cs typeface="Cambria"/>
                <a:sym typeface="Cambria"/>
              </a:rPr>
              <a:t>Extract</a:t>
            </a:r>
            <a:endParaRPr b="0" i="0" sz="1250" u="none" cap="none" strike="noStrike">
              <a:solidFill>
                <a:schemeClr val="dk1"/>
              </a:solidFill>
              <a:latin typeface="Calibri"/>
              <a:ea typeface="Calibri"/>
              <a:cs typeface="Calibri"/>
              <a:sym typeface="Calibri"/>
            </a:endParaRPr>
          </a:p>
        </p:txBody>
      </p:sp>
      <p:sp>
        <p:nvSpPr>
          <p:cNvPr id="395" name="Google Shape;395;p14"/>
          <p:cNvSpPr/>
          <p:nvPr/>
        </p:nvSpPr>
        <p:spPr>
          <a:xfrm>
            <a:off x="5496720" y="2377440"/>
            <a:ext cx="1198256" cy="7406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980"/>
              <a:buFont typeface="Calibri"/>
              <a:buNone/>
            </a:pPr>
            <a:r>
              <a:rPr b="0" i="0" lang="en-US" sz="980" u="none" cap="none" strike="noStrike">
                <a:solidFill>
                  <a:srgbClr val="6B7280"/>
                </a:solidFill>
                <a:latin typeface="Calibri"/>
                <a:ea typeface="Calibri"/>
                <a:cs typeface="Calibri"/>
                <a:sym typeface="Calibri"/>
              </a:rPr>
              <a:t>Bulk Read paged into staging with a watermark and audit metadata.</a:t>
            </a:r>
            <a:endParaRPr b="0" i="0" sz="980" u="none" cap="none" strike="noStrike">
              <a:solidFill>
                <a:schemeClr val="dk1"/>
              </a:solidFill>
              <a:latin typeface="Calibri"/>
              <a:ea typeface="Calibri"/>
              <a:cs typeface="Calibri"/>
              <a:sym typeface="Calibri"/>
            </a:endParaRPr>
          </a:p>
        </p:txBody>
      </p:sp>
      <p:sp>
        <p:nvSpPr>
          <p:cNvPr id="396" name="Google Shape;396;p14"/>
          <p:cNvSpPr/>
          <p:nvPr/>
        </p:nvSpPr>
        <p:spPr>
          <a:xfrm rot="5400000">
            <a:off x="6836708" y="2359152"/>
            <a:ext cx="118872" cy="137160"/>
          </a:xfrm>
          <a:prstGeom prst="triangle">
            <a:avLst>
              <a:gd fmla="val 5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4"/>
          <p:cNvSpPr/>
          <p:nvPr/>
        </p:nvSpPr>
        <p:spPr>
          <a:xfrm>
            <a:off x="6969296" y="1627632"/>
            <a:ext cx="1454288" cy="1600200"/>
          </a:xfrm>
          <a:prstGeom prst="roundRect">
            <a:avLst>
              <a:gd fmla="val 5030"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4"/>
          <p:cNvSpPr/>
          <p:nvPr/>
        </p:nvSpPr>
        <p:spPr>
          <a:xfrm>
            <a:off x="7097312" y="1719072"/>
            <a:ext cx="119825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000"/>
              <a:buFont typeface="Calibri"/>
              <a:buNone/>
            </a:pPr>
            <a:r>
              <a:rPr b="1" i="0" lang="en-US" sz="1000" u="none" cap="none" strike="noStrike">
                <a:solidFill>
                  <a:srgbClr val="046B73"/>
                </a:solidFill>
                <a:latin typeface="Calibri"/>
                <a:ea typeface="Calibri"/>
                <a:cs typeface="Calibri"/>
                <a:sym typeface="Calibri"/>
              </a:rPr>
              <a:t>05</a:t>
            </a:r>
            <a:endParaRPr b="0" i="0" sz="1000" u="none" cap="none" strike="noStrike">
              <a:solidFill>
                <a:schemeClr val="dk1"/>
              </a:solidFill>
              <a:latin typeface="Calibri"/>
              <a:ea typeface="Calibri"/>
              <a:cs typeface="Calibri"/>
              <a:sym typeface="Calibri"/>
            </a:endParaRPr>
          </a:p>
        </p:txBody>
      </p:sp>
      <p:sp>
        <p:nvSpPr>
          <p:cNvPr id="399" name="Google Shape;399;p14"/>
          <p:cNvSpPr/>
          <p:nvPr/>
        </p:nvSpPr>
        <p:spPr>
          <a:xfrm>
            <a:off x="7097312" y="1975104"/>
            <a:ext cx="1198256" cy="402336"/>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B1F24"/>
              </a:buClr>
              <a:buSzPts val="1250"/>
              <a:buFont typeface="Cambria"/>
              <a:buNone/>
            </a:pPr>
            <a:r>
              <a:rPr b="1" i="0" lang="en-US" sz="1250" u="none" cap="none" strike="noStrike">
                <a:solidFill>
                  <a:srgbClr val="1B1F24"/>
                </a:solidFill>
                <a:latin typeface="Cambria"/>
                <a:ea typeface="Cambria"/>
                <a:cs typeface="Cambria"/>
                <a:sym typeface="Cambria"/>
              </a:rPr>
              <a:t>Classify</a:t>
            </a:r>
            <a:endParaRPr b="0" i="0" sz="1250" u="none" cap="none" strike="noStrike">
              <a:solidFill>
                <a:schemeClr val="dk1"/>
              </a:solidFill>
              <a:latin typeface="Calibri"/>
              <a:ea typeface="Calibri"/>
              <a:cs typeface="Calibri"/>
              <a:sym typeface="Calibri"/>
            </a:endParaRPr>
          </a:p>
        </p:txBody>
      </p:sp>
      <p:sp>
        <p:nvSpPr>
          <p:cNvPr id="400" name="Google Shape;400;p14"/>
          <p:cNvSpPr/>
          <p:nvPr/>
        </p:nvSpPr>
        <p:spPr>
          <a:xfrm>
            <a:off x="7097312" y="2377440"/>
            <a:ext cx="1198256" cy="7406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980"/>
              <a:buFont typeface="Calibri"/>
              <a:buNone/>
            </a:pPr>
            <a:r>
              <a:rPr b="0" i="0" lang="en-US" sz="980" u="none" cap="none" strike="noStrike">
                <a:solidFill>
                  <a:srgbClr val="6B7280"/>
                </a:solidFill>
                <a:latin typeface="Calibri"/>
                <a:ea typeface="Calibri"/>
                <a:cs typeface="Calibri"/>
                <a:sym typeface="Calibri"/>
              </a:rPr>
              <a:t>Stage aware rules, validators, plausibility, matching. Each record given a state.</a:t>
            </a:r>
            <a:endParaRPr b="0" i="0" sz="980" u="none" cap="none" strike="noStrike">
              <a:solidFill>
                <a:schemeClr val="dk1"/>
              </a:solidFill>
              <a:latin typeface="Calibri"/>
              <a:ea typeface="Calibri"/>
              <a:cs typeface="Calibri"/>
              <a:sym typeface="Calibri"/>
            </a:endParaRPr>
          </a:p>
        </p:txBody>
      </p:sp>
      <p:sp>
        <p:nvSpPr>
          <p:cNvPr id="401" name="Google Shape;401;p14"/>
          <p:cNvSpPr/>
          <p:nvPr/>
        </p:nvSpPr>
        <p:spPr>
          <a:xfrm rot="5400000">
            <a:off x="8437299" y="2359152"/>
            <a:ext cx="118872" cy="137160"/>
          </a:xfrm>
          <a:prstGeom prst="triangle">
            <a:avLst>
              <a:gd fmla="val 5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4"/>
          <p:cNvSpPr/>
          <p:nvPr/>
        </p:nvSpPr>
        <p:spPr>
          <a:xfrm>
            <a:off x="8569887" y="1627632"/>
            <a:ext cx="1454288" cy="1600200"/>
          </a:xfrm>
          <a:prstGeom prst="roundRect">
            <a:avLst>
              <a:gd fmla="val 5030" name="adj"/>
            </a:avLst>
          </a:prstGeom>
          <a:solidFill>
            <a:srgbClr val="046B73"/>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4"/>
          <p:cNvSpPr/>
          <p:nvPr/>
        </p:nvSpPr>
        <p:spPr>
          <a:xfrm>
            <a:off x="8697903" y="1719072"/>
            <a:ext cx="119825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06</a:t>
            </a:r>
            <a:endParaRPr b="0" i="0" sz="1000" u="none" cap="none" strike="noStrike">
              <a:solidFill>
                <a:schemeClr val="dk1"/>
              </a:solidFill>
              <a:latin typeface="Calibri"/>
              <a:ea typeface="Calibri"/>
              <a:cs typeface="Calibri"/>
              <a:sym typeface="Calibri"/>
            </a:endParaRPr>
          </a:p>
        </p:txBody>
      </p:sp>
      <p:sp>
        <p:nvSpPr>
          <p:cNvPr id="404" name="Google Shape;404;p14"/>
          <p:cNvSpPr/>
          <p:nvPr/>
        </p:nvSpPr>
        <p:spPr>
          <a:xfrm>
            <a:off x="8697903" y="1975104"/>
            <a:ext cx="1198256" cy="402336"/>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FFFFFF"/>
              </a:buClr>
              <a:buSzPts val="1250"/>
              <a:buFont typeface="Cambria"/>
              <a:buNone/>
            </a:pPr>
            <a:r>
              <a:rPr b="1" i="0" lang="en-US" sz="1250" u="none" cap="none" strike="noStrike">
                <a:solidFill>
                  <a:srgbClr val="FFFFFF"/>
                </a:solidFill>
                <a:latin typeface="Cambria"/>
                <a:ea typeface="Cambria"/>
                <a:cs typeface="Cambria"/>
                <a:sym typeface="Cambria"/>
              </a:rPr>
              <a:t>Aggregate</a:t>
            </a:r>
            <a:endParaRPr b="0" i="0" sz="1250" u="none" cap="none" strike="noStrike">
              <a:solidFill>
                <a:schemeClr val="dk1"/>
              </a:solidFill>
              <a:latin typeface="Calibri"/>
              <a:ea typeface="Calibri"/>
              <a:cs typeface="Calibri"/>
              <a:sym typeface="Calibri"/>
            </a:endParaRPr>
          </a:p>
        </p:txBody>
      </p:sp>
      <p:sp>
        <p:nvSpPr>
          <p:cNvPr id="405" name="Google Shape;405;p14"/>
          <p:cNvSpPr/>
          <p:nvPr/>
        </p:nvSpPr>
        <p:spPr>
          <a:xfrm>
            <a:off x="8697903" y="2377440"/>
            <a:ext cx="1198256" cy="7406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980"/>
              <a:buFont typeface="Calibri"/>
              <a:buNone/>
            </a:pPr>
            <a:r>
              <a:rPr b="0" i="0" lang="en-US" sz="980" u="none" cap="none" strike="noStrike">
                <a:solidFill>
                  <a:srgbClr val="FFFFFF"/>
                </a:solidFill>
                <a:latin typeface="Calibri"/>
                <a:ea typeface="Calibri"/>
                <a:cs typeface="Calibri"/>
                <a:sym typeface="Calibri"/>
              </a:rPr>
              <a:t>Cube built across module, user and time. Every slice pre computed.</a:t>
            </a:r>
            <a:endParaRPr b="0" i="0" sz="980" u="none" cap="none" strike="noStrike">
              <a:solidFill>
                <a:schemeClr val="dk1"/>
              </a:solidFill>
              <a:latin typeface="Calibri"/>
              <a:ea typeface="Calibri"/>
              <a:cs typeface="Calibri"/>
              <a:sym typeface="Calibri"/>
            </a:endParaRPr>
          </a:p>
        </p:txBody>
      </p:sp>
      <p:sp>
        <p:nvSpPr>
          <p:cNvPr id="406" name="Google Shape;406;p14"/>
          <p:cNvSpPr/>
          <p:nvPr/>
        </p:nvSpPr>
        <p:spPr>
          <a:xfrm rot="5400000">
            <a:off x="10037891" y="2359152"/>
            <a:ext cx="118872" cy="137160"/>
          </a:xfrm>
          <a:prstGeom prst="triangle">
            <a:avLst>
              <a:gd fmla="val 5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4"/>
          <p:cNvSpPr/>
          <p:nvPr/>
        </p:nvSpPr>
        <p:spPr>
          <a:xfrm>
            <a:off x="10170479" y="1627632"/>
            <a:ext cx="1454288" cy="1600200"/>
          </a:xfrm>
          <a:prstGeom prst="roundRect">
            <a:avLst>
              <a:gd fmla="val 5030"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4"/>
          <p:cNvSpPr/>
          <p:nvPr/>
        </p:nvSpPr>
        <p:spPr>
          <a:xfrm>
            <a:off x="10298495" y="1719072"/>
            <a:ext cx="1198256"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000"/>
              <a:buFont typeface="Calibri"/>
              <a:buNone/>
            </a:pPr>
            <a:r>
              <a:rPr b="1" i="0" lang="en-US" sz="1000" u="none" cap="none" strike="noStrike">
                <a:solidFill>
                  <a:srgbClr val="046B73"/>
                </a:solidFill>
                <a:latin typeface="Calibri"/>
                <a:ea typeface="Calibri"/>
                <a:cs typeface="Calibri"/>
                <a:sym typeface="Calibri"/>
              </a:rPr>
              <a:t>07</a:t>
            </a:r>
            <a:endParaRPr b="0" i="0" sz="1000" u="none" cap="none" strike="noStrike">
              <a:solidFill>
                <a:schemeClr val="dk1"/>
              </a:solidFill>
              <a:latin typeface="Calibri"/>
              <a:ea typeface="Calibri"/>
              <a:cs typeface="Calibri"/>
              <a:sym typeface="Calibri"/>
            </a:endParaRPr>
          </a:p>
        </p:txBody>
      </p:sp>
      <p:sp>
        <p:nvSpPr>
          <p:cNvPr id="409" name="Google Shape;409;p14"/>
          <p:cNvSpPr/>
          <p:nvPr/>
        </p:nvSpPr>
        <p:spPr>
          <a:xfrm>
            <a:off x="10298495" y="1975104"/>
            <a:ext cx="1198256" cy="402336"/>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B1F24"/>
              </a:buClr>
              <a:buSzPts val="1250"/>
              <a:buFont typeface="Cambria"/>
              <a:buNone/>
            </a:pPr>
            <a:r>
              <a:rPr b="1" i="0" lang="en-US" sz="1250" u="none" cap="none" strike="noStrike">
                <a:solidFill>
                  <a:srgbClr val="1B1F24"/>
                </a:solidFill>
                <a:latin typeface="Cambria"/>
                <a:ea typeface="Cambria"/>
                <a:cs typeface="Cambria"/>
                <a:sym typeface="Cambria"/>
              </a:rPr>
              <a:t>Deliver</a:t>
            </a:r>
            <a:endParaRPr b="0" i="0" sz="1250" u="none" cap="none" strike="noStrike">
              <a:solidFill>
                <a:schemeClr val="dk1"/>
              </a:solidFill>
              <a:latin typeface="Calibri"/>
              <a:ea typeface="Calibri"/>
              <a:cs typeface="Calibri"/>
              <a:sym typeface="Calibri"/>
            </a:endParaRPr>
          </a:p>
        </p:txBody>
      </p:sp>
      <p:sp>
        <p:nvSpPr>
          <p:cNvPr id="410" name="Google Shape;410;p14"/>
          <p:cNvSpPr/>
          <p:nvPr/>
        </p:nvSpPr>
        <p:spPr>
          <a:xfrm>
            <a:off x="10298495" y="2377440"/>
            <a:ext cx="1198256" cy="74066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980"/>
              <a:buFont typeface="Calibri"/>
              <a:buNone/>
            </a:pPr>
            <a:r>
              <a:rPr b="0" i="0" lang="en-US" sz="980" u="none" cap="none" strike="noStrike">
                <a:solidFill>
                  <a:srgbClr val="6B7280"/>
                </a:solidFill>
                <a:latin typeface="Calibri"/>
                <a:ea typeface="Calibri"/>
                <a:cs typeface="Calibri"/>
                <a:sym typeface="Calibri"/>
              </a:rPr>
              <a:t>Command centre, ranked backlog with named fixes, PDF, schedule.</a:t>
            </a:r>
            <a:endParaRPr b="0" i="0" sz="980" u="none" cap="none" strike="noStrike">
              <a:solidFill>
                <a:schemeClr val="dk1"/>
              </a:solidFill>
              <a:latin typeface="Calibri"/>
              <a:ea typeface="Calibri"/>
              <a:cs typeface="Calibri"/>
              <a:sym typeface="Calibri"/>
            </a:endParaRPr>
          </a:p>
        </p:txBody>
      </p:sp>
      <p:sp>
        <p:nvSpPr>
          <p:cNvPr id="411" name="Google Shape;411;p14"/>
          <p:cNvSpPr/>
          <p:nvPr/>
        </p:nvSpPr>
        <p:spPr>
          <a:xfrm>
            <a:off x="566928" y="3520440"/>
            <a:ext cx="3539642" cy="2194560"/>
          </a:xfrm>
          <a:prstGeom prst="roundRect">
            <a:avLst>
              <a:gd fmla="val 3750"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4"/>
          <p:cNvSpPr/>
          <p:nvPr/>
        </p:nvSpPr>
        <p:spPr>
          <a:xfrm>
            <a:off x="786384" y="3703320"/>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Pre sales mode</a:t>
            </a:r>
            <a:endParaRPr b="0" i="0" sz="1500" u="none" cap="none" strike="noStrike">
              <a:solidFill>
                <a:schemeClr val="dk1"/>
              </a:solidFill>
              <a:latin typeface="Calibri"/>
              <a:ea typeface="Calibri"/>
              <a:cs typeface="Calibri"/>
              <a:sym typeface="Calibri"/>
            </a:endParaRPr>
          </a:p>
        </p:txBody>
      </p:sp>
      <p:sp>
        <p:nvSpPr>
          <p:cNvPr id="413" name="Google Shape;413;p14"/>
          <p:cNvSpPr/>
          <p:nvPr/>
        </p:nvSpPr>
        <p:spPr>
          <a:xfrm>
            <a:off x="786384" y="4197096"/>
            <a:ext cx="3100730" cy="13533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Five thousand records per module, last ninety days only, no attachments. Runs in twenty to thirty minutes on a live org and still produces the user view, which is the part that lands. This is what we run in the room.</a:t>
            </a:r>
            <a:endParaRPr b="0" i="0" sz="1150" u="none" cap="none" strike="noStrike">
              <a:solidFill>
                <a:schemeClr val="dk1"/>
              </a:solidFill>
              <a:latin typeface="Calibri"/>
              <a:ea typeface="Calibri"/>
              <a:cs typeface="Calibri"/>
              <a:sym typeface="Calibri"/>
            </a:endParaRPr>
          </a:p>
        </p:txBody>
      </p:sp>
      <p:sp>
        <p:nvSpPr>
          <p:cNvPr id="414" name="Google Shape;414;p14"/>
          <p:cNvSpPr/>
          <p:nvPr/>
        </p:nvSpPr>
        <p:spPr>
          <a:xfrm>
            <a:off x="4326026" y="3520440"/>
            <a:ext cx="3539642" cy="2194560"/>
          </a:xfrm>
          <a:prstGeom prst="roundRect">
            <a:avLst>
              <a:gd fmla="val 3750"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4"/>
          <p:cNvSpPr/>
          <p:nvPr/>
        </p:nvSpPr>
        <p:spPr>
          <a:xfrm>
            <a:off x="4545482" y="3703320"/>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Paid audit mode</a:t>
            </a:r>
            <a:endParaRPr b="0" i="0" sz="1500" u="none" cap="none" strike="noStrike">
              <a:solidFill>
                <a:schemeClr val="dk1"/>
              </a:solidFill>
              <a:latin typeface="Calibri"/>
              <a:ea typeface="Calibri"/>
              <a:cs typeface="Calibri"/>
              <a:sym typeface="Calibri"/>
            </a:endParaRPr>
          </a:p>
        </p:txBody>
      </p:sp>
      <p:sp>
        <p:nvSpPr>
          <p:cNvPr id="416" name="Google Shape;416;p14"/>
          <p:cNvSpPr/>
          <p:nvPr/>
        </p:nvSpPr>
        <p:spPr>
          <a:xfrm>
            <a:off x="4545482" y="4197096"/>
            <a:ext cx="3100730" cy="13533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Full history, all modules, full plausibility and duplicate analysis, PII classification and workflow tracing. Runs overnight and produces the full report with a sized, priced remediation plan.</a:t>
            </a:r>
            <a:endParaRPr b="0" i="0" sz="1150" u="none" cap="none" strike="noStrike">
              <a:solidFill>
                <a:schemeClr val="dk1"/>
              </a:solidFill>
              <a:latin typeface="Calibri"/>
              <a:ea typeface="Calibri"/>
              <a:cs typeface="Calibri"/>
              <a:sym typeface="Calibri"/>
            </a:endParaRPr>
          </a:p>
        </p:txBody>
      </p:sp>
      <p:sp>
        <p:nvSpPr>
          <p:cNvPr id="417" name="Google Shape;417;p14"/>
          <p:cNvSpPr/>
          <p:nvPr/>
        </p:nvSpPr>
        <p:spPr>
          <a:xfrm>
            <a:off x="8085125" y="3520440"/>
            <a:ext cx="3539642" cy="2194560"/>
          </a:xfrm>
          <a:prstGeom prst="roundRect">
            <a:avLst>
              <a:gd fmla="val 3750"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4"/>
          <p:cNvSpPr/>
          <p:nvPr/>
        </p:nvSpPr>
        <p:spPr>
          <a:xfrm>
            <a:off x="8304581" y="3703320"/>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Monitoring mode</a:t>
            </a:r>
            <a:endParaRPr b="0" i="0" sz="1500" u="none" cap="none" strike="noStrike">
              <a:solidFill>
                <a:schemeClr val="dk1"/>
              </a:solidFill>
              <a:latin typeface="Calibri"/>
              <a:ea typeface="Calibri"/>
              <a:cs typeface="Calibri"/>
              <a:sym typeface="Calibri"/>
            </a:endParaRPr>
          </a:p>
        </p:txBody>
      </p:sp>
      <p:sp>
        <p:nvSpPr>
          <p:cNvPr id="419" name="Google Shape;419;p14"/>
          <p:cNvSpPr/>
          <p:nvPr/>
        </p:nvSpPr>
        <p:spPr>
          <a:xfrm>
            <a:off x="8304581" y="4197096"/>
            <a:ext cx="3100730" cy="13533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Scheduled. Only the delta is reported, with the created in period score as the headline. Alerts fire when any domain, module or user group breaches an agreed floor. This is the retainer.</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4" name="Shape 424"/>
        <p:cNvGrpSpPr/>
        <p:nvPr/>
      </p:nvGrpSpPr>
      <p:grpSpPr>
        <a:xfrm>
          <a:off x="0" y="0"/>
          <a:ext cx="0" cy="0"/>
          <a:chOff x="0" y="0"/>
          <a:chExt cx="0" cy="0"/>
        </a:xfrm>
      </p:grpSpPr>
      <p:sp>
        <p:nvSpPr>
          <p:cNvPr id="425" name="Google Shape;425;p15"/>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Interface 1: scan setup and scope</a:t>
            </a:r>
            <a:endParaRPr b="0" i="0" sz="3000" u="none" cap="none" strike="noStrike">
              <a:solidFill>
                <a:schemeClr val="dk1"/>
              </a:solidFill>
              <a:latin typeface="Calibri"/>
              <a:ea typeface="Calibri"/>
              <a:cs typeface="Calibri"/>
              <a:sym typeface="Calibri"/>
            </a:endParaRPr>
          </a:p>
        </p:txBody>
      </p:sp>
      <p:sp>
        <p:nvSpPr>
          <p:cNvPr id="426" name="Google Shape;426;p15"/>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Delivery must run this without a developer. That constraint drives the whole interface.</a:t>
            </a:r>
            <a:endParaRPr b="0" i="0" sz="1350" u="none" cap="none" strike="noStrike">
              <a:solidFill>
                <a:schemeClr val="dk1"/>
              </a:solidFill>
              <a:latin typeface="Calibri"/>
              <a:ea typeface="Calibri"/>
              <a:cs typeface="Calibri"/>
              <a:sym typeface="Calibri"/>
            </a:endParaRPr>
          </a:p>
        </p:txBody>
      </p:sp>
      <p:sp>
        <p:nvSpPr>
          <p:cNvPr id="427" name="Google Shape;427;p15"/>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428" name="Google Shape;428;p15"/>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15</a:t>
            </a:r>
            <a:endParaRPr b="0" i="0" sz="950" u="none" cap="none" strike="noStrike">
              <a:solidFill>
                <a:schemeClr val="dk1"/>
              </a:solidFill>
              <a:latin typeface="Calibri"/>
              <a:ea typeface="Calibri"/>
              <a:cs typeface="Calibri"/>
              <a:sym typeface="Calibri"/>
            </a:endParaRPr>
          </a:p>
        </p:txBody>
      </p:sp>
      <p:sp>
        <p:nvSpPr>
          <p:cNvPr id="429" name="Google Shape;429;p15"/>
          <p:cNvSpPr/>
          <p:nvPr/>
        </p:nvSpPr>
        <p:spPr>
          <a:xfrm>
            <a:off x="566928" y="1508760"/>
            <a:ext cx="7269480" cy="4297680"/>
          </a:xfrm>
          <a:prstGeom prst="roundRect">
            <a:avLst>
              <a:gd fmla="val 1064" name="adj"/>
            </a:avLst>
          </a:prstGeom>
          <a:solidFill>
            <a:srgbClr val="FFFFFF"/>
          </a:solidFill>
          <a:ln cap="flat" cmpd="sng" w="12700">
            <a:solidFill>
              <a:srgbClr val="9AA3AD"/>
            </a:solidFill>
            <a:prstDash val="solid"/>
            <a:round/>
            <a:headEnd len="sm" w="sm" type="none"/>
            <a:tailEnd len="sm" w="sm" type="none"/>
          </a:ln>
          <a:effectLst>
            <a:outerShdw blurRad="1270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5"/>
          <p:cNvSpPr/>
          <p:nvPr/>
        </p:nvSpPr>
        <p:spPr>
          <a:xfrm>
            <a:off x="576072" y="1517904"/>
            <a:ext cx="7251192" cy="384048"/>
          </a:xfrm>
          <a:prstGeom prst="rect">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5"/>
          <p:cNvSpPr/>
          <p:nvPr/>
        </p:nvSpPr>
        <p:spPr>
          <a:xfrm>
            <a:off x="694944" y="1650492"/>
            <a:ext cx="100584" cy="100584"/>
          </a:xfrm>
          <a:prstGeom prst="ellipse">
            <a:avLst/>
          </a:prstGeom>
          <a:solidFill>
            <a:srgbClr val="E06C5A"/>
          </a:solidFill>
          <a:ln cap="flat" cmpd="sng" w="12700">
            <a:solidFill>
              <a:srgbClr val="E06C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5"/>
          <p:cNvSpPr/>
          <p:nvPr/>
        </p:nvSpPr>
        <p:spPr>
          <a:xfrm>
            <a:off x="850392" y="1650492"/>
            <a:ext cx="100584" cy="100584"/>
          </a:xfrm>
          <a:prstGeom prst="ellipse">
            <a:avLst/>
          </a:prstGeom>
          <a:solidFill>
            <a:srgbClr val="E0B84A"/>
          </a:solidFill>
          <a:ln cap="flat" cmpd="sng" w="12700">
            <a:solidFill>
              <a:srgbClr val="E0B8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5"/>
          <p:cNvSpPr/>
          <p:nvPr/>
        </p:nvSpPr>
        <p:spPr>
          <a:xfrm>
            <a:off x="1005840" y="1650492"/>
            <a:ext cx="100584" cy="100584"/>
          </a:xfrm>
          <a:prstGeom prst="ellipse">
            <a:avLst/>
          </a:prstGeom>
          <a:solidFill>
            <a:srgbClr val="5AB77A"/>
          </a:solidFill>
          <a:ln cap="flat" cmpd="sng" w="12700">
            <a:solidFill>
              <a:srgbClr val="5AB7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a:off x="1225296" y="1536192"/>
            <a:ext cx="3108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FI Data Health Scanner</a:t>
            </a:r>
            <a:endParaRPr b="0" i="0" sz="1050" u="none" cap="none" strike="noStrike">
              <a:solidFill>
                <a:schemeClr val="dk1"/>
              </a:solidFill>
              <a:latin typeface="Calibri"/>
              <a:ea typeface="Calibri"/>
              <a:cs typeface="Calibri"/>
              <a:sym typeface="Calibri"/>
            </a:endParaRPr>
          </a:p>
        </p:txBody>
      </p:sp>
      <p:sp>
        <p:nvSpPr>
          <p:cNvPr id="435" name="Google Shape;435;p15"/>
          <p:cNvSpPr/>
          <p:nvPr/>
        </p:nvSpPr>
        <p:spPr>
          <a:xfrm>
            <a:off x="7017106" y="1591056"/>
            <a:ext cx="672998" cy="228600"/>
          </a:xfrm>
          <a:prstGeom prst="roundRect">
            <a:avLst>
              <a:gd fmla="val 2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5"/>
          <p:cNvSpPr/>
          <p:nvPr/>
        </p:nvSpPr>
        <p:spPr>
          <a:xfrm>
            <a:off x="7017106" y="1591056"/>
            <a:ext cx="67299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New scan</a:t>
            </a:r>
            <a:endParaRPr b="0" i="0" sz="850" u="none" cap="none" strike="noStrike">
              <a:solidFill>
                <a:schemeClr val="dk1"/>
              </a:solidFill>
              <a:latin typeface="Calibri"/>
              <a:ea typeface="Calibri"/>
              <a:cs typeface="Calibri"/>
              <a:sym typeface="Calibri"/>
            </a:endParaRPr>
          </a:p>
        </p:txBody>
      </p:sp>
      <p:sp>
        <p:nvSpPr>
          <p:cNvPr id="437" name="Google Shape;437;p15"/>
          <p:cNvSpPr/>
          <p:nvPr/>
        </p:nvSpPr>
        <p:spPr>
          <a:xfrm>
            <a:off x="6468466" y="1591056"/>
            <a:ext cx="47548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5"/>
          <p:cNvSpPr/>
          <p:nvPr/>
        </p:nvSpPr>
        <p:spPr>
          <a:xfrm>
            <a:off x="6468466" y="1591056"/>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Rules</a:t>
            </a:r>
            <a:endParaRPr b="0" i="0" sz="850" u="none" cap="none" strike="noStrike">
              <a:solidFill>
                <a:schemeClr val="dk1"/>
              </a:solidFill>
              <a:latin typeface="Calibri"/>
              <a:ea typeface="Calibri"/>
              <a:cs typeface="Calibri"/>
              <a:sym typeface="Calibri"/>
            </a:endParaRPr>
          </a:p>
        </p:txBody>
      </p:sp>
      <p:sp>
        <p:nvSpPr>
          <p:cNvPr id="439" name="Google Shape;439;p15"/>
          <p:cNvSpPr/>
          <p:nvPr/>
        </p:nvSpPr>
        <p:spPr>
          <a:xfrm>
            <a:off x="5919826" y="1591056"/>
            <a:ext cx="47548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5"/>
          <p:cNvSpPr/>
          <p:nvPr/>
        </p:nvSpPr>
        <p:spPr>
          <a:xfrm>
            <a:off x="5919826" y="1591056"/>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Scans</a:t>
            </a:r>
            <a:endParaRPr b="0" i="0" sz="850" u="none" cap="none" strike="noStrike">
              <a:solidFill>
                <a:schemeClr val="dk1"/>
              </a:solidFill>
              <a:latin typeface="Calibri"/>
              <a:ea typeface="Calibri"/>
              <a:cs typeface="Calibri"/>
              <a:sym typeface="Calibri"/>
            </a:endParaRPr>
          </a:p>
        </p:txBody>
      </p:sp>
      <p:sp>
        <p:nvSpPr>
          <p:cNvPr id="441" name="Google Shape;441;p15"/>
          <p:cNvSpPr/>
          <p:nvPr/>
        </p:nvSpPr>
        <p:spPr>
          <a:xfrm>
            <a:off x="5437022" y="1591056"/>
            <a:ext cx="409651"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5"/>
          <p:cNvSpPr/>
          <p:nvPr/>
        </p:nvSpPr>
        <p:spPr>
          <a:xfrm>
            <a:off x="5437022" y="1591056"/>
            <a:ext cx="409651"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Orgs</a:t>
            </a:r>
            <a:endParaRPr b="0" i="0" sz="850" u="none" cap="none" strike="noStrike">
              <a:solidFill>
                <a:schemeClr val="dk1"/>
              </a:solidFill>
              <a:latin typeface="Calibri"/>
              <a:ea typeface="Calibri"/>
              <a:cs typeface="Calibri"/>
              <a:sym typeface="Calibri"/>
            </a:endParaRPr>
          </a:p>
        </p:txBody>
      </p:sp>
      <p:sp>
        <p:nvSpPr>
          <p:cNvPr id="443" name="Google Shape;443;p15"/>
          <p:cNvSpPr/>
          <p:nvPr/>
        </p:nvSpPr>
        <p:spPr>
          <a:xfrm>
            <a:off x="576072" y="1901952"/>
            <a:ext cx="1783080" cy="3895344"/>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5"/>
          <p:cNvSpPr/>
          <p:nvPr/>
        </p:nvSpPr>
        <p:spPr>
          <a:xfrm>
            <a:off x="722376" y="2029968"/>
            <a:ext cx="1554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60"/>
              <a:buFont typeface="Calibri"/>
              <a:buNone/>
            </a:pPr>
            <a:r>
              <a:rPr b="0" i="0" lang="en-US" sz="860" u="none" cap="none" strike="noStrike">
                <a:solidFill>
                  <a:srgbClr val="6B7280"/>
                </a:solidFill>
                <a:latin typeface="Calibri"/>
                <a:ea typeface="Calibri"/>
                <a:cs typeface="Calibri"/>
                <a:sym typeface="Calibri"/>
              </a:rPr>
              <a:t>Command centre</a:t>
            </a:r>
            <a:endParaRPr b="0" i="0" sz="860" u="none" cap="none" strike="noStrike">
              <a:solidFill>
                <a:schemeClr val="dk1"/>
              </a:solidFill>
              <a:latin typeface="Calibri"/>
              <a:ea typeface="Calibri"/>
              <a:cs typeface="Calibri"/>
              <a:sym typeface="Calibri"/>
            </a:endParaRPr>
          </a:p>
        </p:txBody>
      </p:sp>
      <p:sp>
        <p:nvSpPr>
          <p:cNvPr id="445" name="Google Shape;445;p15"/>
          <p:cNvSpPr/>
          <p:nvPr/>
        </p:nvSpPr>
        <p:spPr>
          <a:xfrm>
            <a:off x="576072" y="2322576"/>
            <a:ext cx="1783080" cy="274320"/>
          </a:xfrm>
          <a:prstGeom prst="rect">
            <a:avLst/>
          </a:prstGeom>
          <a:solidFill>
            <a:srgbClr val="E9F3F4"/>
          </a:solidFill>
          <a:ln cap="flat" cmpd="sng" w="12700">
            <a:solidFill>
              <a:srgbClr val="E9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5"/>
          <p:cNvSpPr/>
          <p:nvPr/>
        </p:nvSpPr>
        <p:spPr>
          <a:xfrm>
            <a:off x="722376" y="2322576"/>
            <a:ext cx="1554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860"/>
              <a:buFont typeface="Calibri"/>
              <a:buNone/>
            </a:pPr>
            <a:r>
              <a:rPr b="1" i="0" lang="en-US" sz="860" u="none" cap="none" strike="noStrike">
                <a:solidFill>
                  <a:srgbClr val="046B73"/>
                </a:solidFill>
                <a:latin typeface="Calibri"/>
                <a:ea typeface="Calibri"/>
                <a:cs typeface="Calibri"/>
                <a:sym typeface="Calibri"/>
              </a:rPr>
              <a:t>Run a scan</a:t>
            </a:r>
            <a:endParaRPr b="0" i="0" sz="860" u="none" cap="none" strike="noStrike">
              <a:solidFill>
                <a:schemeClr val="dk1"/>
              </a:solidFill>
              <a:latin typeface="Calibri"/>
              <a:ea typeface="Calibri"/>
              <a:cs typeface="Calibri"/>
              <a:sym typeface="Calibri"/>
            </a:endParaRPr>
          </a:p>
        </p:txBody>
      </p:sp>
      <p:sp>
        <p:nvSpPr>
          <p:cNvPr id="447" name="Google Shape;447;p15"/>
          <p:cNvSpPr/>
          <p:nvPr/>
        </p:nvSpPr>
        <p:spPr>
          <a:xfrm>
            <a:off x="722376" y="2615184"/>
            <a:ext cx="1554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60"/>
              <a:buFont typeface="Calibri"/>
              <a:buNone/>
            </a:pPr>
            <a:r>
              <a:rPr b="0" i="0" lang="en-US" sz="860" u="none" cap="none" strike="noStrike">
                <a:solidFill>
                  <a:srgbClr val="6B7280"/>
                </a:solidFill>
                <a:latin typeface="Calibri"/>
                <a:ea typeface="Calibri"/>
                <a:cs typeface="Calibri"/>
                <a:sym typeface="Calibri"/>
              </a:rPr>
              <a:t>Scan history</a:t>
            </a:r>
            <a:endParaRPr b="0" i="0" sz="860" u="none" cap="none" strike="noStrike">
              <a:solidFill>
                <a:schemeClr val="dk1"/>
              </a:solidFill>
              <a:latin typeface="Calibri"/>
              <a:ea typeface="Calibri"/>
              <a:cs typeface="Calibri"/>
              <a:sym typeface="Calibri"/>
            </a:endParaRPr>
          </a:p>
        </p:txBody>
      </p:sp>
      <p:sp>
        <p:nvSpPr>
          <p:cNvPr id="448" name="Google Shape;448;p15"/>
          <p:cNvSpPr/>
          <p:nvPr/>
        </p:nvSpPr>
        <p:spPr>
          <a:xfrm>
            <a:off x="722376" y="2907792"/>
            <a:ext cx="1554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60"/>
              <a:buFont typeface="Calibri"/>
              <a:buNone/>
            </a:pPr>
            <a:r>
              <a:rPr b="0" i="0" lang="en-US" sz="860" u="none" cap="none" strike="noStrike">
                <a:solidFill>
                  <a:srgbClr val="6B7280"/>
                </a:solidFill>
                <a:latin typeface="Calibri"/>
                <a:ea typeface="Calibri"/>
                <a:cs typeface="Calibri"/>
                <a:sym typeface="Calibri"/>
              </a:rPr>
              <a:t>Rule packs</a:t>
            </a:r>
            <a:endParaRPr b="0" i="0" sz="860" u="none" cap="none" strike="noStrike">
              <a:solidFill>
                <a:schemeClr val="dk1"/>
              </a:solidFill>
              <a:latin typeface="Calibri"/>
              <a:ea typeface="Calibri"/>
              <a:cs typeface="Calibri"/>
              <a:sym typeface="Calibri"/>
            </a:endParaRPr>
          </a:p>
        </p:txBody>
      </p:sp>
      <p:sp>
        <p:nvSpPr>
          <p:cNvPr id="449" name="Google Shape;449;p15"/>
          <p:cNvSpPr/>
          <p:nvPr/>
        </p:nvSpPr>
        <p:spPr>
          <a:xfrm>
            <a:off x="722376" y="3200400"/>
            <a:ext cx="1554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60"/>
              <a:buFont typeface="Calibri"/>
              <a:buNone/>
            </a:pPr>
            <a:r>
              <a:rPr b="0" i="0" lang="en-US" sz="860" u="none" cap="none" strike="noStrike">
                <a:solidFill>
                  <a:srgbClr val="6B7280"/>
                </a:solidFill>
                <a:latin typeface="Calibri"/>
                <a:ea typeface="Calibri"/>
                <a:cs typeface="Calibri"/>
                <a:sym typeface="Calibri"/>
              </a:rPr>
              <a:t>Users and teams</a:t>
            </a:r>
            <a:endParaRPr b="0" i="0" sz="860" u="none" cap="none" strike="noStrike">
              <a:solidFill>
                <a:schemeClr val="dk1"/>
              </a:solidFill>
              <a:latin typeface="Calibri"/>
              <a:ea typeface="Calibri"/>
              <a:cs typeface="Calibri"/>
              <a:sym typeface="Calibri"/>
            </a:endParaRPr>
          </a:p>
        </p:txBody>
      </p:sp>
      <p:sp>
        <p:nvSpPr>
          <p:cNvPr id="450" name="Google Shape;450;p15"/>
          <p:cNvSpPr/>
          <p:nvPr/>
        </p:nvSpPr>
        <p:spPr>
          <a:xfrm>
            <a:off x="722376" y="3493008"/>
            <a:ext cx="1554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60"/>
              <a:buFont typeface="Calibri"/>
              <a:buNone/>
            </a:pPr>
            <a:r>
              <a:rPr b="0" i="0" lang="en-US" sz="860" u="none" cap="none" strike="noStrike">
                <a:solidFill>
                  <a:srgbClr val="6B7280"/>
                </a:solidFill>
                <a:latin typeface="Calibri"/>
                <a:ea typeface="Calibri"/>
                <a:cs typeface="Calibri"/>
                <a:sym typeface="Calibri"/>
              </a:rPr>
              <a:t>Benchmarks</a:t>
            </a:r>
            <a:endParaRPr b="0" i="0" sz="860" u="none" cap="none" strike="noStrike">
              <a:solidFill>
                <a:schemeClr val="dk1"/>
              </a:solidFill>
              <a:latin typeface="Calibri"/>
              <a:ea typeface="Calibri"/>
              <a:cs typeface="Calibri"/>
              <a:sym typeface="Calibri"/>
            </a:endParaRPr>
          </a:p>
        </p:txBody>
      </p:sp>
      <p:sp>
        <p:nvSpPr>
          <p:cNvPr id="451" name="Google Shape;451;p15"/>
          <p:cNvSpPr/>
          <p:nvPr/>
        </p:nvSpPr>
        <p:spPr>
          <a:xfrm>
            <a:off x="722376" y="3785616"/>
            <a:ext cx="1554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60"/>
              <a:buFont typeface="Calibri"/>
              <a:buNone/>
            </a:pPr>
            <a:r>
              <a:rPr b="0" i="0" lang="en-US" sz="860" u="none" cap="none" strike="noStrike">
                <a:solidFill>
                  <a:srgbClr val="6B7280"/>
                </a:solidFill>
                <a:latin typeface="Calibri"/>
                <a:ea typeface="Calibri"/>
                <a:cs typeface="Calibri"/>
                <a:sym typeface="Calibri"/>
              </a:rPr>
              <a:t>Schedules</a:t>
            </a:r>
            <a:endParaRPr b="0" i="0" sz="860" u="none" cap="none" strike="noStrike">
              <a:solidFill>
                <a:schemeClr val="dk1"/>
              </a:solidFill>
              <a:latin typeface="Calibri"/>
              <a:ea typeface="Calibri"/>
              <a:cs typeface="Calibri"/>
              <a:sym typeface="Calibri"/>
            </a:endParaRPr>
          </a:p>
        </p:txBody>
      </p:sp>
      <p:sp>
        <p:nvSpPr>
          <p:cNvPr id="452" name="Google Shape;452;p15"/>
          <p:cNvSpPr/>
          <p:nvPr/>
        </p:nvSpPr>
        <p:spPr>
          <a:xfrm>
            <a:off x="722376" y="4078224"/>
            <a:ext cx="1554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60"/>
              <a:buFont typeface="Calibri"/>
              <a:buNone/>
            </a:pPr>
            <a:r>
              <a:rPr b="0" i="0" lang="en-US" sz="860" u="none" cap="none" strike="noStrike">
                <a:solidFill>
                  <a:srgbClr val="6B7280"/>
                </a:solidFill>
                <a:latin typeface="Calibri"/>
                <a:ea typeface="Calibri"/>
                <a:cs typeface="Calibri"/>
                <a:sym typeface="Calibri"/>
              </a:rPr>
              <a:t>Settings</a:t>
            </a:r>
            <a:endParaRPr b="0" i="0" sz="860" u="none" cap="none" strike="noStrike">
              <a:solidFill>
                <a:schemeClr val="dk1"/>
              </a:solidFill>
              <a:latin typeface="Calibri"/>
              <a:ea typeface="Calibri"/>
              <a:cs typeface="Calibri"/>
              <a:sym typeface="Calibri"/>
            </a:endParaRPr>
          </a:p>
        </p:txBody>
      </p:sp>
      <p:sp>
        <p:nvSpPr>
          <p:cNvPr id="453" name="Google Shape;453;p15"/>
          <p:cNvSpPr/>
          <p:nvPr/>
        </p:nvSpPr>
        <p:spPr>
          <a:xfrm>
            <a:off x="2542032" y="2048256"/>
            <a:ext cx="2743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Run a scan</a:t>
            </a:r>
            <a:endParaRPr b="0" i="0" sz="1300" u="none" cap="none" strike="noStrike">
              <a:solidFill>
                <a:schemeClr val="dk1"/>
              </a:solidFill>
              <a:latin typeface="Calibri"/>
              <a:ea typeface="Calibri"/>
              <a:cs typeface="Calibri"/>
              <a:sym typeface="Calibri"/>
            </a:endParaRPr>
          </a:p>
        </p:txBody>
      </p:sp>
      <p:sp>
        <p:nvSpPr>
          <p:cNvPr id="454" name="Google Shape;454;p15"/>
          <p:cNvSpPr/>
          <p:nvPr/>
        </p:nvSpPr>
        <p:spPr>
          <a:xfrm>
            <a:off x="6592824" y="2048256"/>
            <a:ext cx="1051560" cy="256032"/>
          </a:xfrm>
          <a:prstGeom prst="roundRect">
            <a:avLst>
              <a:gd fmla="val 17857"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5"/>
          <p:cNvSpPr/>
          <p:nvPr/>
        </p:nvSpPr>
        <p:spPr>
          <a:xfrm>
            <a:off x="6592824" y="2048256"/>
            <a:ext cx="10515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Start scan</a:t>
            </a:r>
            <a:endParaRPr b="0" i="0" sz="850" u="none" cap="none" strike="noStrike">
              <a:solidFill>
                <a:schemeClr val="dk1"/>
              </a:solidFill>
              <a:latin typeface="Calibri"/>
              <a:ea typeface="Calibri"/>
              <a:cs typeface="Calibri"/>
              <a:sym typeface="Calibri"/>
            </a:endParaRPr>
          </a:p>
        </p:txBody>
      </p:sp>
      <p:sp>
        <p:nvSpPr>
          <p:cNvPr id="456" name="Google Shape;456;p15"/>
          <p:cNvSpPr/>
          <p:nvPr/>
        </p:nvSpPr>
        <p:spPr>
          <a:xfrm>
            <a:off x="2542032" y="2432304"/>
            <a:ext cx="233172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00"/>
              <a:buFont typeface="Calibri"/>
              <a:buNone/>
            </a:pPr>
            <a:r>
              <a:rPr b="1" i="0" lang="en-US" sz="800" u="none" cap="none" strike="noStrike">
                <a:solidFill>
                  <a:srgbClr val="6B7280"/>
                </a:solidFill>
                <a:latin typeface="Calibri"/>
                <a:ea typeface="Calibri"/>
                <a:cs typeface="Calibri"/>
                <a:sym typeface="Calibri"/>
              </a:rPr>
              <a:t>CLIENT ORG</a:t>
            </a:r>
            <a:endParaRPr b="0" i="0" sz="800" u="none" cap="none" strike="noStrike">
              <a:solidFill>
                <a:schemeClr val="dk1"/>
              </a:solidFill>
              <a:latin typeface="Calibri"/>
              <a:ea typeface="Calibri"/>
              <a:cs typeface="Calibri"/>
              <a:sym typeface="Calibri"/>
            </a:endParaRPr>
          </a:p>
        </p:txBody>
      </p:sp>
      <p:sp>
        <p:nvSpPr>
          <p:cNvPr id="457" name="Google Shape;457;p15"/>
          <p:cNvSpPr/>
          <p:nvPr/>
        </p:nvSpPr>
        <p:spPr>
          <a:xfrm>
            <a:off x="2542032" y="2596896"/>
            <a:ext cx="2331720" cy="256032"/>
          </a:xfrm>
          <a:prstGeom prst="roundRect">
            <a:avLst>
              <a:gd fmla="val 14286" name="adj"/>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5"/>
          <p:cNvSpPr/>
          <p:nvPr/>
        </p:nvSpPr>
        <p:spPr>
          <a:xfrm>
            <a:off x="2615184" y="2596896"/>
            <a:ext cx="218541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E68"/>
              </a:buClr>
              <a:buSzPts val="850"/>
              <a:buFont typeface="Calibri"/>
              <a:buNone/>
            </a:pPr>
            <a:r>
              <a:rPr b="0" i="0" lang="en-US" sz="850" u="none" cap="none" strike="noStrike">
                <a:solidFill>
                  <a:srgbClr val="565E68"/>
                </a:solidFill>
                <a:latin typeface="Calibri"/>
                <a:ea typeface="Calibri"/>
                <a:cs typeface="Calibri"/>
                <a:sym typeface="Calibri"/>
              </a:rPr>
              <a:t>Hira Industries FZE  (zoho.in)</a:t>
            </a:r>
            <a:endParaRPr b="0" i="0" sz="850" u="none" cap="none" strike="noStrike">
              <a:solidFill>
                <a:schemeClr val="dk1"/>
              </a:solidFill>
              <a:latin typeface="Calibri"/>
              <a:ea typeface="Calibri"/>
              <a:cs typeface="Calibri"/>
              <a:sym typeface="Calibri"/>
            </a:endParaRPr>
          </a:p>
        </p:txBody>
      </p:sp>
      <p:sp>
        <p:nvSpPr>
          <p:cNvPr id="459" name="Google Shape;459;p15"/>
          <p:cNvSpPr/>
          <p:nvPr/>
        </p:nvSpPr>
        <p:spPr>
          <a:xfrm>
            <a:off x="5056632" y="2432304"/>
            <a:ext cx="233172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00"/>
              <a:buFont typeface="Calibri"/>
              <a:buNone/>
            </a:pPr>
            <a:r>
              <a:rPr b="1" i="0" lang="en-US" sz="800" u="none" cap="none" strike="noStrike">
                <a:solidFill>
                  <a:srgbClr val="6B7280"/>
                </a:solidFill>
                <a:latin typeface="Calibri"/>
                <a:ea typeface="Calibri"/>
                <a:cs typeface="Calibri"/>
                <a:sym typeface="Calibri"/>
              </a:rPr>
              <a:t>SCAN DEPTH</a:t>
            </a:r>
            <a:endParaRPr b="0" i="0" sz="800" u="none" cap="none" strike="noStrike">
              <a:solidFill>
                <a:schemeClr val="dk1"/>
              </a:solidFill>
              <a:latin typeface="Calibri"/>
              <a:ea typeface="Calibri"/>
              <a:cs typeface="Calibri"/>
              <a:sym typeface="Calibri"/>
            </a:endParaRPr>
          </a:p>
        </p:txBody>
      </p:sp>
      <p:sp>
        <p:nvSpPr>
          <p:cNvPr id="460" name="Google Shape;460;p15"/>
          <p:cNvSpPr/>
          <p:nvPr/>
        </p:nvSpPr>
        <p:spPr>
          <a:xfrm>
            <a:off x="5056632" y="2596896"/>
            <a:ext cx="2331720" cy="256032"/>
          </a:xfrm>
          <a:prstGeom prst="roundRect">
            <a:avLst>
              <a:gd fmla="val 14286" name="adj"/>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5"/>
          <p:cNvSpPr/>
          <p:nvPr/>
        </p:nvSpPr>
        <p:spPr>
          <a:xfrm>
            <a:off x="5129784" y="2596896"/>
            <a:ext cx="218541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E68"/>
              </a:buClr>
              <a:buSzPts val="850"/>
              <a:buFont typeface="Calibri"/>
              <a:buNone/>
            </a:pPr>
            <a:r>
              <a:rPr b="0" i="0" lang="en-US" sz="850" u="none" cap="none" strike="noStrike">
                <a:solidFill>
                  <a:srgbClr val="565E68"/>
                </a:solidFill>
                <a:latin typeface="Calibri"/>
                <a:ea typeface="Calibri"/>
                <a:cs typeface="Calibri"/>
                <a:sym typeface="Calibri"/>
              </a:rPr>
              <a:t>Pre sales sample  ·  5,000 per module</a:t>
            </a:r>
            <a:endParaRPr b="0" i="0" sz="850" u="none" cap="none" strike="noStrike">
              <a:solidFill>
                <a:schemeClr val="dk1"/>
              </a:solidFill>
              <a:latin typeface="Calibri"/>
              <a:ea typeface="Calibri"/>
              <a:cs typeface="Calibri"/>
              <a:sym typeface="Calibri"/>
            </a:endParaRPr>
          </a:p>
        </p:txBody>
      </p:sp>
      <p:sp>
        <p:nvSpPr>
          <p:cNvPr id="462" name="Google Shape;462;p15"/>
          <p:cNvSpPr/>
          <p:nvPr/>
        </p:nvSpPr>
        <p:spPr>
          <a:xfrm>
            <a:off x="2542032" y="2944368"/>
            <a:ext cx="233172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00"/>
              <a:buFont typeface="Calibri"/>
              <a:buNone/>
            </a:pPr>
            <a:r>
              <a:rPr b="1" i="0" lang="en-US" sz="800" u="none" cap="none" strike="noStrike">
                <a:solidFill>
                  <a:srgbClr val="6B7280"/>
                </a:solidFill>
                <a:latin typeface="Calibri"/>
                <a:ea typeface="Calibri"/>
                <a:cs typeface="Calibri"/>
                <a:sym typeface="Calibri"/>
              </a:rPr>
              <a:t>DATE RANGE</a:t>
            </a:r>
            <a:endParaRPr b="0" i="0" sz="800" u="none" cap="none" strike="noStrike">
              <a:solidFill>
                <a:schemeClr val="dk1"/>
              </a:solidFill>
              <a:latin typeface="Calibri"/>
              <a:ea typeface="Calibri"/>
              <a:cs typeface="Calibri"/>
              <a:sym typeface="Calibri"/>
            </a:endParaRPr>
          </a:p>
        </p:txBody>
      </p:sp>
      <p:sp>
        <p:nvSpPr>
          <p:cNvPr id="463" name="Google Shape;463;p15"/>
          <p:cNvSpPr/>
          <p:nvPr/>
        </p:nvSpPr>
        <p:spPr>
          <a:xfrm>
            <a:off x="2542032" y="3108960"/>
            <a:ext cx="2331720" cy="256032"/>
          </a:xfrm>
          <a:prstGeom prst="roundRect">
            <a:avLst>
              <a:gd fmla="val 14286" name="adj"/>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5"/>
          <p:cNvSpPr/>
          <p:nvPr/>
        </p:nvSpPr>
        <p:spPr>
          <a:xfrm>
            <a:off x="2615184" y="3108960"/>
            <a:ext cx="218541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E68"/>
              </a:buClr>
              <a:buSzPts val="850"/>
              <a:buFont typeface="Calibri"/>
              <a:buNone/>
            </a:pPr>
            <a:r>
              <a:rPr b="0" i="0" lang="en-US" sz="850" u="none" cap="none" strike="noStrike">
                <a:solidFill>
                  <a:srgbClr val="565E68"/>
                </a:solidFill>
                <a:latin typeface="Calibri"/>
                <a:ea typeface="Calibri"/>
                <a:cs typeface="Calibri"/>
                <a:sym typeface="Calibri"/>
              </a:rPr>
              <a:t>01 May 2026  to  07 Aug 2026</a:t>
            </a:r>
            <a:endParaRPr b="0" i="0" sz="850" u="none" cap="none" strike="noStrike">
              <a:solidFill>
                <a:schemeClr val="dk1"/>
              </a:solidFill>
              <a:latin typeface="Calibri"/>
              <a:ea typeface="Calibri"/>
              <a:cs typeface="Calibri"/>
              <a:sym typeface="Calibri"/>
            </a:endParaRPr>
          </a:p>
        </p:txBody>
      </p:sp>
      <p:sp>
        <p:nvSpPr>
          <p:cNvPr id="465" name="Google Shape;465;p15"/>
          <p:cNvSpPr/>
          <p:nvPr/>
        </p:nvSpPr>
        <p:spPr>
          <a:xfrm>
            <a:off x="5056632" y="2944368"/>
            <a:ext cx="233172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00"/>
              <a:buFont typeface="Calibri"/>
              <a:buNone/>
            </a:pPr>
            <a:r>
              <a:rPr b="1" i="0" lang="en-US" sz="800" u="none" cap="none" strike="noStrike">
                <a:solidFill>
                  <a:srgbClr val="6B7280"/>
                </a:solidFill>
                <a:latin typeface="Calibri"/>
                <a:ea typeface="Calibri"/>
                <a:cs typeface="Calibri"/>
                <a:sym typeface="Calibri"/>
              </a:rPr>
              <a:t>CLOCK</a:t>
            </a:r>
            <a:endParaRPr b="0" i="0" sz="800" u="none" cap="none" strike="noStrike">
              <a:solidFill>
                <a:schemeClr val="dk1"/>
              </a:solidFill>
              <a:latin typeface="Calibri"/>
              <a:ea typeface="Calibri"/>
              <a:cs typeface="Calibri"/>
              <a:sym typeface="Calibri"/>
            </a:endParaRPr>
          </a:p>
        </p:txBody>
      </p:sp>
      <p:sp>
        <p:nvSpPr>
          <p:cNvPr id="466" name="Google Shape;466;p15"/>
          <p:cNvSpPr/>
          <p:nvPr/>
        </p:nvSpPr>
        <p:spPr>
          <a:xfrm>
            <a:off x="5056632" y="3108960"/>
            <a:ext cx="2331720" cy="256032"/>
          </a:xfrm>
          <a:prstGeom prst="roundRect">
            <a:avLst>
              <a:gd fmla="val 14286" name="adj"/>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5"/>
          <p:cNvSpPr/>
          <p:nvPr/>
        </p:nvSpPr>
        <p:spPr>
          <a:xfrm>
            <a:off x="5129784" y="3108960"/>
            <a:ext cx="218541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E68"/>
              </a:buClr>
              <a:buSzPts val="850"/>
              <a:buFont typeface="Calibri"/>
              <a:buNone/>
            </a:pPr>
            <a:r>
              <a:rPr b="0" i="0" lang="en-US" sz="850" u="none" cap="none" strike="noStrike">
                <a:solidFill>
                  <a:srgbClr val="565E68"/>
                </a:solidFill>
                <a:latin typeface="Calibri"/>
                <a:ea typeface="Calibri"/>
                <a:cs typeface="Calibri"/>
                <a:sym typeface="Calibri"/>
              </a:rPr>
              <a:t>Records CREATED in range</a:t>
            </a:r>
            <a:endParaRPr b="0" i="0" sz="850" u="none" cap="none" strike="noStrike">
              <a:solidFill>
                <a:schemeClr val="dk1"/>
              </a:solidFill>
              <a:latin typeface="Calibri"/>
              <a:ea typeface="Calibri"/>
              <a:cs typeface="Calibri"/>
              <a:sym typeface="Calibri"/>
            </a:endParaRPr>
          </a:p>
        </p:txBody>
      </p:sp>
      <p:sp>
        <p:nvSpPr>
          <p:cNvPr id="468" name="Google Shape;468;p15"/>
          <p:cNvSpPr/>
          <p:nvPr/>
        </p:nvSpPr>
        <p:spPr>
          <a:xfrm>
            <a:off x="2542032" y="3456432"/>
            <a:ext cx="48463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00"/>
              <a:buFont typeface="Calibri"/>
              <a:buNone/>
            </a:pPr>
            <a:r>
              <a:rPr b="1" i="0" lang="en-US" sz="800" u="none" cap="none" strike="noStrike">
                <a:solidFill>
                  <a:srgbClr val="6B7280"/>
                </a:solidFill>
                <a:latin typeface="Calibri"/>
                <a:ea typeface="Calibri"/>
                <a:cs typeface="Calibri"/>
                <a:sym typeface="Calibri"/>
              </a:rPr>
              <a:t>QUICK RANGES</a:t>
            </a:r>
            <a:endParaRPr b="0" i="0" sz="800" u="none" cap="none" strike="noStrike">
              <a:solidFill>
                <a:schemeClr val="dk1"/>
              </a:solidFill>
              <a:latin typeface="Calibri"/>
              <a:ea typeface="Calibri"/>
              <a:cs typeface="Calibri"/>
              <a:sym typeface="Calibri"/>
            </a:endParaRPr>
          </a:p>
        </p:txBody>
      </p:sp>
      <p:sp>
        <p:nvSpPr>
          <p:cNvPr id="469" name="Google Shape;469;p15"/>
          <p:cNvSpPr/>
          <p:nvPr/>
        </p:nvSpPr>
        <p:spPr>
          <a:xfrm>
            <a:off x="2542032" y="3639312"/>
            <a:ext cx="555955" cy="201168"/>
          </a:xfrm>
          <a:prstGeom prst="roundRect">
            <a:avLst>
              <a:gd fmla="val 27273"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5"/>
          <p:cNvSpPr/>
          <p:nvPr/>
        </p:nvSpPr>
        <p:spPr>
          <a:xfrm>
            <a:off x="2542032" y="3639312"/>
            <a:ext cx="555955"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35C"/>
              </a:buClr>
              <a:buSzPts val="760"/>
              <a:buFont typeface="Calibri"/>
              <a:buNone/>
            </a:pPr>
            <a:r>
              <a:rPr b="1" i="0" lang="en-US" sz="760" u="none" cap="none" strike="noStrike">
                <a:solidFill>
                  <a:srgbClr val="4B535C"/>
                </a:solidFill>
                <a:latin typeface="Calibri"/>
                <a:ea typeface="Calibri"/>
                <a:cs typeface="Calibri"/>
                <a:sym typeface="Calibri"/>
              </a:rPr>
              <a:t>7 days</a:t>
            </a:r>
            <a:endParaRPr b="0" i="0" sz="760" u="none" cap="none" strike="noStrike">
              <a:solidFill>
                <a:schemeClr val="dk1"/>
              </a:solidFill>
              <a:latin typeface="Calibri"/>
              <a:ea typeface="Calibri"/>
              <a:cs typeface="Calibri"/>
              <a:sym typeface="Calibri"/>
            </a:endParaRPr>
          </a:p>
        </p:txBody>
      </p:sp>
      <p:sp>
        <p:nvSpPr>
          <p:cNvPr id="471" name="Google Shape;471;p15"/>
          <p:cNvSpPr/>
          <p:nvPr/>
        </p:nvSpPr>
        <p:spPr>
          <a:xfrm>
            <a:off x="3171139" y="3639312"/>
            <a:ext cx="618134" cy="201168"/>
          </a:xfrm>
          <a:prstGeom prst="roundRect">
            <a:avLst>
              <a:gd fmla="val 27273"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5"/>
          <p:cNvSpPr/>
          <p:nvPr/>
        </p:nvSpPr>
        <p:spPr>
          <a:xfrm>
            <a:off x="3171139" y="3639312"/>
            <a:ext cx="618134"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35C"/>
              </a:buClr>
              <a:buSzPts val="760"/>
              <a:buFont typeface="Calibri"/>
              <a:buNone/>
            </a:pPr>
            <a:r>
              <a:rPr b="1" i="0" lang="en-US" sz="760" u="none" cap="none" strike="noStrike">
                <a:solidFill>
                  <a:srgbClr val="4B535C"/>
                </a:solidFill>
                <a:latin typeface="Calibri"/>
                <a:ea typeface="Calibri"/>
                <a:cs typeface="Calibri"/>
                <a:sym typeface="Calibri"/>
              </a:rPr>
              <a:t>30 days</a:t>
            </a:r>
            <a:endParaRPr b="0" i="0" sz="760" u="none" cap="none" strike="noStrike">
              <a:solidFill>
                <a:schemeClr val="dk1"/>
              </a:solidFill>
              <a:latin typeface="Calibri"/>
              <a:ea typeface="Calibri"/>
              <a:cs typeface="Calibri"/>
              <a:sym typeface="Calibri"/>
            </a:endParaRPr>
          </a:p>
        </p:txBody>
      </p:sp>
      <p:sp>
        <p:nvSpPr>
          <p:cNvPr id="473" name="Google Shape;473;p15"/>
          <p:cNvSpPr/>
          <p:nvPr/>
        </p:nvSpPr>
        <p:spPr>
          <a:xfrm>
            <a:off x="3862426" y="3639312"/>
            <a:ext cx="618134" cy="201168"/>
          </a:xfrm>
          <a:prstGeom prst="roundRect">
            <a:avLst>
              <a:gd fmla="val 27273"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5"/>
          <p:cNvSpPr/>
          <p:nvPr/>
        </p:nvSpPr>
        <p:spPr>
          <a:xfrm>
            <a:off x="3862426" y="3639312"/>
            <a:ext cx="618134"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90 days</a:t>
            </a:r>
            <a:endParaRPr b="0" i="0" sz="760" u="none" cap="none" strike="noStrike">
              <a:solidFill>
                <a:schemeClr val="dk1"/>
              </a:solidFill>
              <a:latin typeface="Calibri"/>
              <a:ea typeface="Calibri"/>
              <a:cs typeface="Calibri"/>
              <a:sym typeface="Calibri"/>
            </a:endParaRPr>
          </a:p>
        </p:txBody>
      </p:sp>
      <p:sp>
        <p:nvSpPr>
          <p:cNvPr id="475" name="Google Shape;475;p15"/>
          <p:cNvSpPr/>
          <p:nvPr/>
        </p:nvSpPr>
        <p:spPr>
          <a:xfrm>
            <a:off x="4553712" y="3639312"/>
            <a:ext cx="929030" cy="201168"/>
          </a:xfrm>
          <a:prstGeom prst="roundRect">
            <a:avLst>
              <a:gd fmla="val 27273"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5"/>
          <p:cNvSpPr/>
          <p:nvPr/>
        </p:nvSpPr>
        <p:spPr>
          <a:xfrm>
            <a:off x="4553712" y="3639312"/>
            <a:ext cx="92903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35C"/>
              </a:buClr>
              <a:buSzPts val="760"/>
              <a:buFont typeface="Calibri"/>
              <a:buNone/>
            </a:pPr>
            <a:r>
              <a:rPr b="1" i="0" lang="en-US" sz="760" u="none" cap="none" strike="noStrike">
                <a:solidFill>
                  <a:srgbClr val="4B535C"/>
                </a:solidFill>
                <a:latin typeface="Calibri"/>
                <a:ea typeface="Calibri"/>
                <a:cs typeface="Calibri"/>
                <a:sym typeface="Calibri"/>
              </a:rPr>
              <a:t>This quarter</a:t>
            </a:r>
            <a:endParaRPr b="0" i="0" sz="760" u="none" cap="none" strike="noStrike">
              <a:solidFill>
                <a:schemeClr val="dk1"/>
              </a:solidFill>
              <a:latin typeface="Calibri"/>
              <a:ea typeface="Calibri"/>
              <a:cs typeface="Calibri"/>
              <a:sym typeface="Calibri"/>
            </a:endParaRPr>
          </a:p>
        </p:txBody>
      </p:sp>
      <p:sp>
        <p:nvSpPr>
          <p:cNvPr id="477" name="Google Shape;477;p15"/>
          <p:cNvSpPr/>
          <p:nvPr/>
        </p:nvSpPr>
        <p:spPr>
          <a:xfrm>
            <a:off x="5555894" y="3639312"/>
            <a:ext cx="618134" cy="201168"/>
          </a:xfrm>
          <a:prstGeom prst="roundRect">
            <a:avLst>
              <a:gd fmla="val 27273"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5"/>
          <p:cNvSpPr/>
          <p:nvPr/>
        </p:nvSpPr>
        <p:spPr>
          <a:xfrm>
            <a:off x="5555894" y="3639312"/>
            <a:ext cx="618134"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35C"/>
              </a:buClr>
              <a:buSzPts val="760"/>
              <a:buFont typeface="Calibri"/>
              <a:buNone/>
            </a:pPr>
            <a:r>
              <a:rPr b="1" i="0" lang="en-US" sz="760" u="none" cap="none" strike="noStrike">
                <a:solidFill>
                  <a:srgbClr val="4B535C"/>
                </a:solidFill>
                <a:latin typeface="Calibri"/>
                <a:ea typeface="Calibri"/>
                <a:cs typeface="Calibri"/>
                <a:sym typeface="Calibri"/>
              </a:rPr>
              <a:t>This FY</a:t>
            </a:r>
            <a:endParaRPr b="0" i="0" sz="760" u="none" cap="none" strike="noStrike">
              <a:solidFill>
                <a:schemeClr val="dk1"/>
              </a:solidFill>
              <a:latin typeface="Calibri"/>
              <a:ea typeface="Calibri"/>
              <a:cs typeface="Calibri"/>
              <a:sym typeface="Calibri"/>
            </a:endParaRPr>
          </a:p>
        </p:txBody>
      </p:sp>
      <p:sp>
        <p:nvSpPr>
          <p:cNvPr id="479" name="Google Shape;479;p15"/>
          <p:cNvSpPr/>
          <p:nvPr/>
        </p:nvSpPr>
        <p:spPr>
          <a:xfrm>
            <a:off x="6247181" y="3639312"/>
            <a:ext cx="866851" cy="201168"/>
          </a:xfrm>
          <a:prstGeom prst="roundRect">
            <a:avLst>
              <a:gd fmla="val 27273"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5"/>
          <p:cNvSpPr/>
          <p:nvPr/>
        </p:nvSpPr>
        <p:spPr>
          <a:xfrm>
            <a:off x="6247181" y="3639312"/>
            <a:ext cx="866851"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35C"/>
              </a:buClr>
              <a:buSzPts val="760"/>
              <a:buFont typeface="Calibri"/>
              <a:buNone/>
            </a:pPr>
            <a:r>
              <a:rPr b="1" i="0" lang="en-US" sz="760" u="none" cap="none" strike="noStrike">
                <a:solidFill>
                  <a:srgbClr val="4B535C"/>
                </a:solidFill>
                <a:latin typeface="Calibri"/>
                <a:ea typeface="Calibri"/>
                <a:cs typeface="Calibri"/>
                <a:sym typeface="Calibri"/>
              </a:rPr>
              <a:t>All history</a:t>
            </a:r>
            <a:endParaRPr b="0" i="0" sz="760" u="none" cap="none" strike="noStrike">
              <a:solidFill>
                <a:schemeClr val="dk1"/>
              </a:solidFill>
              <a:latin typeface="Calibri"/>
              <a:ea typeface="Calibri"/>
              <a:cs typeface="Calibri"/>
              <a:sym typeface="Calibri"/>
            </a:endParaRPr>
          </a:p>
        </p:txBody>
      </p:sp>
      <p:sp>
        <p:nvSpPr>
          <p:cNvPr id="481" name="Google Shape;481;p15"/>
          <p:cNvSpPr/>
          <p:nvPr/>
        </p:nvSpPr>
        <p:spPr>
          <a:xfrm>
            <a:off x="7187184" y="3639312"/>
            <a:ext cx="555955" cy="201168"/>
          </a:xfrm>
          <a:prstGeom prst="roundRect">
            <a:avLst>
              <a:gd fmla="val 27273"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5"/>
          <p:cNvSpPr/>
          <p:nvPr/>
        </p:nvSpPr>
        <p:spPr>
          <a:xfrm>
            <a:off x="7187184" y="3639312"/>
            <a:ext cx="555955"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35C"/>
              </a:buClr>
              <a:buSzPts val="760"/>
              <a:buFont typeface="Calibri"/>
              <a:buNone/>
            </a:pPr>
            <a:r>
              <a:rPr b="1" i="0" lang="en-US" sz="760" u="none" cap="none" strike="noStrike">
                <a:solidFill>
                  <a:srgbClr val="4B535C"/>
                </a:solidFill>
                <a:latin typeface="Calibri"/>
                <a:ea typeface="Calibri"/>
                <a:cs typeface="Calibri"/>
                <a:sym typeface="Calibri"/>
              </a:rPr>
              <a:t>Custom</a:t>
            </a:r>
            <a:endParaRPr b="0" i="0" sz="760" u="none" cap="none" strike="noStrike">
              <a:solidFill>
                <a:schemeClr val="dk1"/>
              </a:solidFill>
              <a:latin typeface="Calibri"/>
              <a:ea typeface="Calibri"/>
              <a:cs typeface="Calibri"/>
              <a:sym typeface="Calibri"/>
            </a:endParaRPr>
          </a:p>
        </p:txBody>
      </p:sp>
      <p:sp>
        <p:nvSpPr>
          <p:cNvPr id="483" name="Google Shape;483;p15"/>
          <p:cNvSpPr/>
          <p:nvPr/>
        </p:nvSpPr>
        <p:spPr>
          <a:xfrm>
            <a:off x="2542032" y="3913632"/>
            <a:ext cx="48463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00"/>
              <a:buFont typeface="Calibri"/>
              <a:buNone/>
            </a:pPr>
            <a:r>
              <a:rPr b="1" i="0" lang="en-US" sz="800" u="none" cap="none" strike="noStrike">
                <a:solidFill>
                  <a:srgbClr val="6B7280"/>
                </a:solidFill>
                <a:latin typeface="Calibri"/>
                <a:ea typeface="Calibri"/>
                <a:cs typeface="Calibri"/>
                <a:sym typeface="Calibri"/>
              </a:rPr>
              <a:t>MODULES IN SCOPE</a:t>
            </a:r>
            <a:endParaRPr b="0" i="0" sz="800" u="none" cap="none" strike="noStrike">
              <a:solidFill>
                <a:schemeClr val="dk1"/>
              </a:solidFill>
              <a:latin typeface="Calibri"/>
              <a:ea typeface="Calibri"/>
              <a:cs typeface="Calibri"/>
              <a:sym typeface="Calibri"/>
            </a:endParaRPr>
          </a:p>
        </p:txBody>
      </p:sp>
      <p:sp>
        <p:nvSpPr>
          <p:cNvPr id="484" name="Google Shape;484;p15"/>
          <p:cNvSpPr/>
          <p:nvPr/>
        </p:nvSpPr>
        <p:spPr>
          <a:xfrm>
            <a:off x="2542032" y="4114800"/>
            <a:ext cx="146304" cy="146304"/>
          </a:xfrm>
          <a:prstGeom prst="roundRect">
            <a:avLst>
              <a:gd fmla="val 18750" name="adj"/>
            </a:avLst>
          </a:prstGeom>
          <a:solidFill>
            <a:srgbClr val="046B73"/>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5"/>
          <p:cNvSpPr/>
          <p:nvPr/>
        </p:nvSpPr>
        <p:spPr>
          <a:xfrm>
            <a:off x="2542032" y="4114800"/>
            <a:ext cx="146304"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v</a:t>
            </a:r>
            <a:endParaRPr b="0" i="0" sz="750" u="none" cap="none" strike="noStrike">
              <a:solidFill>
                <a:schemeClr val="dk1"/>
              </a:solidFill>
              <a:latin typeface="Calibri"/>
              <a:ea typeface="Calibri"/>
              <a:cs typeface="Calibri"/>
              <a:sym typeface="Calibri"/>
            </a:endParaRPr>
          </a:p>
        </p:txBody>
      </p:sp>
      <p:sp>
        <p:nvSpPr>
          <p:cNvPr id="486" name="Google Shape;486;p15"/>
          <p:cNvSpPr/>
          <p:nvPr/>
        </p:nvSpPr>
        <p:spPr>
          <a:xfrm>
            <a:off x="2779776" y="4087368"/>
            <a:ext cx="111556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810"/>
              <a:buFont typeface="Calibri"/>
              <a:buNone/>
            </a:pPr>
            <a:r>
              <a:rPr b="0" i="0" lang="en-US" sz="810" u="none" cap="none" strike="noStrike">
                <a:solidFill>
                  <a:srgbClr val="1B1F24"/>
                </a:solidFill>
                <a:latin typeface="Calibri"/>
                <a:ea typeface="Calibri"/>
                <a:cs typeface="Calibri"/>
                <a:sym typeface="Calibri"/>
              </a:rPr>
              <a:t>Leads</a:t>
            </a:r>
            <a:endParaRPr b="0" i="0" sz="810" u="none" cap="none" strike="noStrike">
              <a:solidFill>
                <a:schemeClr val="dk1"/>
              </a:solidFill>
              <a:latin typeface="Calibri"/>
              <a:ea typeface="Calibri"/>
              <a:cs typeface="Calibri"/>
              <a:sym typeface="Calibri"/>
            </a:endParaRPr>
          </a:p>
        </p:txBody>
      </p:sp>
      <p:sp>
        <p:nvSpPr>
          <p:cNvPr id="487" name="Google Shape;487;p15"/>
          <p:cNvSpPr/>
          <p:nvPr/>
        </p:nvSpPr>
        <p:spPr>
          <a:xfrm>
            <a:off x="3959352" y="4087368"/>
            <a:ext cx="86868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9,204</a:t>
            </a:r>
            <a:endParaRPr b="0" i="0" sz="800" u="none" cap="none" strike="noStrike">
              <a:solidFill>
                <a:schemeClr val="dk1"/>
              </a:solidFill>
              <a:latin typeface="Calibri"/>
              <a:ea typeface="Calibri"/>
              <a:cs typeface="Calibri"/>
              <a:sym typeface="Calibri"/>
            </a:endParaRPr>
          </a:p>
        </p:txBody>
      </p:sp>
      <p:sp>
        <p:nvSpPr>
          <p:cNvPr id="488" name="Google Shape;488;p15"/>
          <p:cNvSpPr/>
          <p:nvPr/>
        </p:nvSpPr>
        <p:spPr>
          <a:xfrm>
            <a:off x="2542032" y="4370832"/>
            <a:ext cx="146304" cy="146304"/>
          </a:xfrm>
          <a:prstGeom prst="roundRect">
            <a:avLst>
              <a:gd fmla="val 18750" name="adj"/>
            </a:avLst>
          </a:prstGeom>
          <a:solidFill>
            <a:srgbClr val="046B73"/>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5"/>
          <p:cNvSpPr/>
          <p:nvPr/>
        </p:nvSpPr>
        <p:spPr>
          <a:xfrm>
            <a:off x="2542032" y="4370832"/>
            <a:ext cx="146304"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v</a:t>
            </a:r>
            <a:endParaRPr b="0" i="0" sz="750" u="none" cap="none" strike="noStrike">
              <a:solidFill>
                <a:schemeClr val="dk1"/>
              </a:solidFill>
              <a:latin typeface="Calibri"/>
              <a:ea typeface="Calibri"/>
              <a:cs typeface="Calibri"/>
              <a:sym typeface="Calibri"/>
            </a:endParaRPr>
          </a:p>
        </p:txBody>
      </p:sp>
      <p:sp>
        <p:nvSpPr>
          <p:cNvPr id="490" name="Google Shape;490;p15"/>
          <p:cNvSpPr/>
          <p:nvPr/>
        </p:nvSpPr>
        <p:spPr>
          <a:xfrm>
            <a:off x="2779776" y="4343400"/>
            <a:ext cx="111556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810"/>
              <a:buFont typeface="Calibri"/>
              <a:buNone/>
            </a:pPr>
            <a:r>
              <a:rPr b="0" i="0" lang="en-US" sz="810" u="none" cap="none" strike="noStrike">
                <a:solidFill>
                  <a:srgbClr val="1B1F24"/>
                </a:solidFill>
                <a:latin typeface="Calibri"/>
                <a:ea typeface="Calibri"/>
                <a:cs typeface="Calibri"/>
                <a:sym typeface="Calibri"/>
              </a:rPr>
              <a:t>Contacts</a:t>
            </a:r>
            <a:endParaRPr b="0" i="0" sz="810" u="none" cap="none" strike="noStrike">
              <a:solidFill>
                <a:schemeClr val="dk1"/>
              </a:solidFill>
              <a:latin typeface="Calibri"/>
              <a:ea typeface="Calibri"/>
              <a:cs typeface="Calibri"/>
              <a:sym typeface="Calibri"/>
            </a:endParaRPr>
          </a:p>
        </p:txBody>
      </p:sp>
      <p:sp>
        <p:nvSpPr>
          <p:cNvPr id="491" name="Google Shape;491;p15"/>
          <p:cNvSpPr/>
          <p:nvPr/>
        </p:nvSpPr>
        <p:spPr>
          <a:xfrm>
            <a:off x="3959352" y="4343400"/>
            <a:ext cx="86868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4,118</a:t>
            </a:r>
            <a:endParaRPr b="0" i="0" sz="800" u="none" cap="none" strike="noStrike">
              <a:solidFill>
                <a:schemeClr val="dk1"/>
              </a:solidFill>
              <a:latin typeface="Calibri"/>
              <a:ea typeface="Calibri"/>
              <a:cs typeface="Calibri"/>
              <a:sym typeface="Calibri"/>
            </a:endParaRPr>
          </a:p>
        </p:txBody>
      </p:sp>
      <p:sp>
        <p:nvSpPr>
          <p:cNvPr id="492" name="Google Shape;492;p15"/>
          <p:cNvSpPr/>
          <p:nvPr/>
        </p:nvSpPr>
        <p:spPr>
          <a:xfrm>
            <a:off x="2542032" y="4626864"/>
            <a:ext cx="146304" cy="146304"/>
          </a:xfrm>
          <a:prstGeom prst="roundRect">
            <a:avLst>
              <a:gd fmla="val 18750" name="adj"/>
            </a:avLst>
          </a:prstGeom>
          <a:solidFill>
            <a:srgbClr val="046B73"/>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5"/>
          <p:cNvSpPr/>
          <p:nvPr/>
        </p:nvSpPr>
        <p:spPr>
          <a:xfrm>
            <a:off x="2542032" y="4626864"/>
            <a:ext cx="146304"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v</a:t>
            </a:r>
            <a:endParaRPr b="0" i="0" sz="750" u="none" cap="none" strike="noStrike">
              <a:solidFill>
                <a:schemeClr val="dk1"/>
              </a:solidFill>
              <a:latin typeface="Calibri"/>
              <a:ea typeface="Calibri"/>
              <a:cs typeface="Calibri"/>
              <a:sym typeface="Calibri"/>
            </a:endParaRPr>
          </a:p>
        </p:txBody>
      </p:sp>
      <p:sp>
        <p:nvSpPr>
          <p:cNvPr id="494" name="Google Shape;494;p15"/>
          <p:cNvSpPr/>
          <p:nvPr/>
        </p:nvSpPr>
        <p:spPr>
          <a:xfrm>
            <a:off x="2779776" y="4599432"/>
            <a:ext cx="111556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810"/>
              <a:buFont typeface="Calibri"/>
              <a:buNone/>
            </a:pPr>
            <a:r>
              <a:rPr b="0" i="0" lang="en-US" sz="810" u="none" cap="none" strike="noStrike">
                <a:solidFill>
                  <a:srgbClr val="1B1F24"/>
                </a:solidFill>
                <a:latin typeface="Calibri"/>
                <a:ea typeface="Calibri"/>
                <a:cs typeface="Calibri"/>
                <a:sym typeface="Calibri"/>
              </a:rPr>
              <a:t>Accounts</a:t>
            </a:r>
            <a:endParaRPr b="0" i="0" sz="810" u="none" cap="none" strike="noStrike">
              <a:solidFill>
                <a:schemeClr val="dk1"/>
              </a:solidFill>
              <a:latin typeface="Calibri"/>
              <a:ea typeface="Calibri"/>
              <a:cs typeface="Calibri"/>
              <a:sym typeface="Calibri"/>
            </a:endParaRPr>
          </a:p>
        </p:txBody>
      </p:sp>
      <p:sp>
        <p:nvSpPr>
          <p:cNvPr id="495" name="Google Shape;495;p15"/>
          <p:cNvSpPr/>
          <p:nvPr/>
        </p:nvSpPr>
        <p:spPr>
          <a:xfrm>
            <a:off x="3959352" y="4599432"/>
            <a:ext cx="86868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1,660</a:t>
            </a:r>
            <a:endParaRPr b="0" i="0" sz="800" u="none" cap="none" strike="noStrike">
              <a:solidFill>
                <a:schemeClr val="dk1"/>
              </a:solidFill>
              <a:latin typeface="Calibri"/>
              <a:ea typeface="Calibri"/>
              <a:cs typeface="Calibri"/>
              <a:sym typeface="Calibri"/>
            </a:endParaRPr>
          </a:p>
        </p:txBody>
      </p:sp>
      <p:sp>
        <p:nvSpPr>
          <p:cNvPr id="496" name="Google Shape;496;p15"/>
          <p:cNvSpPr/>
          <p:nvPr/>
        </p:nvSpPr>
        <p:spPr>
          <a:xfrm>
            <a:off x="2542032" y="4882896"/>
            <a:ext cx="146304" cy="146304"/>
          </a:xfrm>
          <a:prstGeom prst="roundRect">
            <a:avLst>
              <a:gd fmla="val 18750" name="adj"/>
            </a:avLst>
          </a:prstGeom>
          <a:solidFill>
            <a:srgbClr val="046B73"/>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5"/>
          <p:cNvSpPr/>
          <p:nvPr/>
        </p:nvSpPr>
        <p:spPr>
          <a:xfrm>
            <a:off x="2542032" y="4882896"/>
            <a:ext cx="146304"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v</a:t>
            </a:r>
            <a:endParaRPr b="0" i="0" sz="750" u="none" cap="none" strike="noStrike">
              <a:solidFill>
                <a:schemeClr val="dk1"/>
              </a:solidFill>
              <a:latin typeface="Calibri"/>
              <a:ea typeface="Calibri"/>
              <a:cs typeface="Calibri"/>
              <a:sym typeface="Calibri"/>
            </a:endParaRPr>
          </a:p>
        </p:txBody>
      </p:sp>
      <p:sp>
        <p:nvSpPr>
          <p:cNvPr id="498" name="Google Shape;498;p15"/>
          <p:cNvSpPr/>
          <p:nvPr/>
        </p:nvSpPr>
        <p:spPr>
          <a:xfrm>
            <a:off x="2779776" y="4855464"/>
            <a:ext cx="111556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810"/>
              <a:buFont typeface="Calibri"/>
              <a:buNone/>
            </a:pPr>
            <a:r>
              <a:rPr b="0" i="0" lang="en-US" sz="810" u="none" cap="none" strike="noStrike">
                <a:solidFill>
                  <a:srgbClr val="1B1F24"/>
                </a:solidFill>
                <a:latin typeface="Calibri"/>
                <a:ea typeface="Calibri"/>
                <a:cs typeface="Calibri"/>
                <a:sym typeface="Calibri"/>
              </a:rPr>
              <a:t>Deals</a:t>
            </a:r>
            <a:endParaRPr b="0" i="0" sz="810" u="none" cap="none" strike="noStrike">
              <a:solidFill>
                <a:schemeClr val="dk1"/>
              </a:solidFill>
              <a:latin typeface="Calibri"/>
              <a:ea typeface="Calibri"/>
              <a:cs typeface="Calibri"/>
              <a:sym typeface="Calibri"/>
            </a:endParaRPr>
          </a:p>
        </p:txBody>
      </p:sp>
      <p:sp>
        <p:nvSpPr>
          <p:cNvPr id="499" name="Google Shape;499;p15"/>
          <p:cNvSpPr/>
          <p:nvPr/>
        </p:nvSpPr>
        <p:spPr>
          <a:xfrm>
            <a:off x="3959352" y="4855464"/>
            <a:ext cx="86868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2,077</a:t>
            </a:r>
            <a:endParaRPr b="0" i="0" sz="800" u="none" cap="none" strike="noStrike">
              <a:solidFill>
                <a:schemeClr val="dk1"/>
              </a:solidFill>
              <a:latin typeface="Calibri"/>
              <a:ea typeface="Calibri"/>
              <a:cs typeface="Calibri"/>
              <a:sym typeface="Calibri"/>
            </a:endParaRPr>
          </a:p>
        </p:txBody>
      </p:sp>
      <p:sp>
        <p:nvSpPr>
          <p:cNvPr id="500" name="Google Shape;500;p15"/>
          <p:cNvSpPr/>
          <p:nvPr/>
        </p:nvSpPr>
        <p:spPr>
          <a:xfrm>
            <a:off x="5056632" y="4114800"/>
            <a:ext cx="146304" cy="146304"/>
          </a:xfrm>
          <a:prstGeom prst="roundRect">
            <a:avLst>
              <a:gd fmla="val 18750" name="adj"/>
            </a:avLst>
          </a:prstGeom>
          <a:solidFill>
            <a:srgbClr val="046B73"/>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5"/>
          <p:cNvSpPr/>
          <p:nvPr/>
        </p:nvSpPr>
        <p:spPr>
          <a:xfrm>
            <a:off x="5056632" y="4114800"/>
            <a:ext cx="146304"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v</a:t>
            </a:r>
            <a:endParaRPr b="0" i="0" sz="750" u="none" cap="none" strike="noStrike">
              <a:solidFill>
                <a:schemeClr val="dk1"/>
              </a:solidFill>
              <a:latin typeface="Calibri"/>
              <a:ea typeface="Calibri"/>
              <a:cs typeface="Calibri"/>
              <a:sym typeface="Calibri"/>
            </a:endParaRPr>
          </a:p>
        </p:txBody>
      </p:sp>
      <p:sp>
        <p:nvSpPr>
          <p:cNvPr id="502" name="Google Shape;502;p15"/>
          <p:cNvSpPr/>
          <p:nvPr/>
        </p:nvSpPr>
        <p:spPr>
          <a:xfrm>
            <a:off x="5294376" y="4087368"/>
            <a:ext cx="111556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810"/>
              <a:buFont typeface="Calibri"/>
              <a:buNone/>
            </a:pPr>
            <a:r>
              <a:rPr b="0" i="0" lang="en-US" sz="810" u="none" cap="none" strike="noStrike">
                <a:solidFill>
                  <a:srgbClr val="1B1F24"/>
                </a:solidFill>
                <a:latin typeface="Calibri"/>
                <a:ea typeface="Calibri"/>
                <a:cs typeface="Calibri"/>
                <a:sym typeface="Calibri"/>
              </a:rPr>
              <a:t>Vendors</a:t>
            </a:r>
            <a:endParaRPr b="0" i="0" sz="810" u="none" cap="none" strike="noStrike">
              <a:solidFill>
                <a:schemeClr val="dk1"/>
              </a:solidFill>
              <a:latin typeface="Calibri"/>
              <a:ea typeface="Calibri"/>
              <a:cs typeface="Calibri"/>
              <a:sym typeface="Calibri"/>
            </a:endParaRPr>
          </a:p>
        </p:txBody>
      </p:sp>
      <p:sp>
        <p:nvSpPr>
          <p:cNvPr id="503" name="Google Shape;503;p15"/>
          <p:cNvSpPr/>
          <p:nvPr/>
        </p:nvSpPr>
        <p:spPr>
          <a:xfrm>
            <a:off x="6473952" y="4087368"/>
            <a:ext cx="86868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212</a:t>
            </a:r>
            <a:endParaRPr b="0" i="0" sz="800" u="none" cap="none" strike="noStrike">
              <a:solidFill>
                <a:schemeClr val="dk1"/>
              </a:solidFill>
              <a:latin typeface="Calibri"/>
              <a:ea typeface="Calibri"/>
              <a:cs typeface="Calibri"/>
              <a:sym typeface="Calibri"/>
            </a:endParaRPr>
          </a:p>
        </p:txBody>
      </p:sp>
      <p:sp>
        <p:nvSpPr>
          <p:cNvPr id="504" name="Google Shape;504;p15"/>
          <p:cNvSpPr/>
          <p:nvPr/>
        </p:nvSpPr>
        <p:spPr>
          <a:xfrm>
            <a:off x="5056632" y="4370832"/>
            <a:ext cx="146304" cy="146304"/>
          </a:xfrm>
          <a:prstGeom prst="roundRect">
            <a:avLst>
              <a:gd fmla="val 18750" name="adj"/>
            </a:avLst>
          </a:prstGeom>
          <a:solidFill>
            <a:srgbClr val="046B73"/>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5"/>
          <p:cNvSpPr/>
          <p:nvPr/>
        </p:nvSpPr>
        <p:spPr>
          <a:xfrm>
            <a:off x="5056632" y="4370832"/>
            <a:ext cx="146304"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v</a:t>
            </a:r>
            <a:endParaRPr b="0" i="0" sz="750" u="none" cap="none" strike="noStrike">
              <a:solidFill>
                <a:schemeClr val="dk1"/>
              </a:solidFill>
              <a:latin typeface="Calibri"/>
              <a:ea typeface="Calibri"/>
              <a:cs typeface="Calibri"/>
              <a:sym typeface="Calibri"/>
            </a:endParaRPr>
          </a:p>
        </p:txBody>
      </p:sp>
      <p:sp>
        <p:nvSpPr>
          <p:cNvPr id="506" name="Google Shape;506;p15"/>
          <p:cNvSpPr/>
          <p:nvPr/>
        </p:nvSpPr>
        <p:spPr>
          <a:xfrm>
            <a:off x="5294376" y="4343400"/>
            <a:ext cx="111556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810"/>
              <a:buFont typeface="Calibri"/>
              <a:buNone/>
            </a:pPr>
            <a:r>
              <a:rPr b="0" i="0" lang="en-US" sz="810" u="none" cap="none" strike="noStrike">
                <a:solidFill>
                  <a:srgbClr val="1B1F24"/>
                </a:solidFill>
                <a:latin typeface="Calibri"/>
                <a:ea typeface="Calibri"/>
                <a:cs typeface="Calibri"/>
                <a:sym typeface="Calibri"/>
              </a:rPr>
              <a:t>Desk tickets</a:t>
            </a:r>
            <a:endParaRPr b="0" i="0" sz="810" u="none" cap="none" strike="noStrike">
              <a:solidFill>
                <a:schemeClr val="dk1"/>
              </a:solidFill>
              <a:latin typeface="Calibri"/>
              <a:ea typeface="Calibri"/>
              <a:cs typeface="Calibri"/>
              <a:sym typeface="Calibri"/>
            </a:endParaRPr>
          </a:p>
        </p:txBody>
      </p:sp>
      <p:sp>
        <p:nvSpPr>
          <p:cNvPr id="507" name="Google Shape;507;p15"/>
          <p:cNvSpPr/>
          <p:nvPr/>
        </p:nvSpPr>
        <p:spPr>
          <a:xfrm>
            <a:off x="6473952" y="4343400"/>
            <a:ext cx="86868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11,904</a:t>
            </a:r>
            <a:endParaRPr b="0" i="0" sz="800" u="none" cap="none" strike="noStrike">
              <a:solidFill>
                <a:schemeClr val="dk1"/>
              </a:solidFill>
              <a:latin typeface="Calibri"/>
              <a:ea typeface="Calibri"/>
              <a:cs typeface="Calibri"/>
              <a:sym typeface="Calibri"/>
            </a:endParaRPr>
          </a:p>
        </p:txBody>
      </p:sp>
      <p:sp>
        <p:nvSpPr>
          <p:cNvPr id="508" name="Google Shape;508;p15"/>
          <p:cNvSpPr/>
          <p:nvPr/>
        </p:nvSpPr>
        <p:spPr>
          <a:xfrm>
            <a:off x="5056632" y="4626864"/>
            <a:ext cx="146304" cy="146304"/>
          </a:xfrm>
          <a:prstGeom prst="roundRect">
            <a:avLst>
              <a:gd fmla="val 18750" name="adj"/>
            </a:avLst>
          </a:prstGeom>
          <a:solidFill>
            <a:srgbClr val="046B73"/>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5"/>
          <p:cNvSpPr/>
          <p:nvPr/>
        </p:nvSpPr>
        <p:spPr>
          <a:xfrm>
            <a:off x="5056632" y="4626864"/>
            <a:ext cx="146304"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v</a:t>
            </a:r>
            <a:endParaRPr b="0" i="0" sz="750" u="none" cap="none" strike="noStrike">
              <a:solidFill>
                <a:schemeClr val="dk1"/>
              </a:solidFill>
              <a:latin typeface="Calibri"/>
              <a:ea typeface="Calibri"/>
              <a:cs typeface="Calibri"/>
              <a:sym typeface="Calibri"/>
            </a:endParaRPr>
          </a:p>
        </p:txBody>
      </p:sp>
      <p:sp>
        <p:nvSpPr>
          <p:cNvPr id="510" name="Google Shape;510;p15"/>
          <p:cNvSpPr/>
          <p:nvPr/>
        </p:nvSpPr>
        <p:spPr>
          <a:xfrm>
            <a:off x="5294376" y="4599432"/>
            <a:ext cx="111556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810"/>
              <a:buFont typeface="Calibri"/>
              <a:buNone/>
            </a:pPr>
            <a:r>
              <a:rPr b="0" i="0" lang="en-US" sz="810" u="none" cap="none" strike="noStrike">
                <a:solidFill>
                  <a:srgbClr val="1B1F24"/>
                </a:solidFill>
                <a:latin typeface="Calibri"/>
                <a:ea typeface="Calibri"/>
                <a:cs typeface="Calibri"/>
                <a:sym typeface="Calibri"/>
              </a:rPr>
              <a:t>Books invoices</a:t>
            </a:r>
            <a:endParaRPr b="0" i="0" sz="810" u="none" cap="none" strike="noStrike">
              <a:solidFill>
                <a:schemeClr val="dk1"/>
              </a:solidFill>
              <a:latin typeface="Calibri"/>
              <a:ea typeface="Calibri"/>
              <a:cs typeface="Calibri"/>
              <a:sym typeface="Calibri"/>
            </a:endParaRPr>
          </a:p>
        </p:txBody>
      </p:sp>
      <p:sp>
        <p:nvSpPr>
          <p:cNvPr id="511" name="Google Shape;511;p15"/>
          <p:cNvSpPr/>
          <p:nvPr/>
        </p:nvSpPr>
        <p:spPr>
          <a:xfrm>
            <a:off x="6473952" y="4599432"/>
            <a:ext cx="86868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3,880</a:t>
            </a:r>
            <a:endParaRPr b="0" i="0" sz="800" u="none" cap="none" strike="noStrike">
              <a:solidFill>
                <a:schemeClr val="dk1"/>
              </a:solidFill>
              <a:latin typeface="Calibri"/>
              <a:ea typeface="Calibri"/>
              <a:cs typeface="Calibri"/>
              <a:sym typeface="Calibri"/>
            </a:endParaRPr>
          </a:p>
        </p:txBody>
      </p:sp>
      <p:sp>
        <p:nvSpPr>
          <p:cNvPr id="512" name="Google Shape;512;p15"/>
          <p:cNvSpPr/>
          <p:nvPr/>
        </p:nvSpPr>
        <p:spPr>
          <a:xfrm>
            <a:off x="5056632" y="4882896"/>
            <a:ext cx="146304" cy="146304"/>
          </a:xfrm>
          <a:prstGeom prst="roundRect">
            <a:avLst>
              <a:gd fmla="val 18750" name="adj"/>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5"/>
          <p:cNvSpPr/>
          <p:nvPr/>
        </p:nvSpPr>
        <p:spPr>
          <a:xfrm>
            <a:off x="5294376" y="4855464"/>
            <a:ext cx="111556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810"/>
              <a:buFont typeface="Calibri"/>
              <a:buNone/>
            </a:pPr>
            <a:r>
              <a:rPr b="0" i="0" lang="en-US" sz="810" u="none" cap="none" strike="noStrike">
                <a:solidFill>
                  <a:srgbClr val="1B1F24"/>
                </a:solidFill>
                <a:latin typeface="Calibri"/>
                <a:ea typeface="Calibri"/>
                <a:cs typeface="Calibri"/>
                <a:sym typeface="Calibri"/>
              </a:rPr>
              <a:t>Creator apps (3)</a:t>
            </a:r>
            <a:endParaRPr b="0" i="0" sz="810" u="none" cap="none" strike="noStrike">
              <a:solidFill>
                <a:schemeClr val="dk1"/>
              </a:solidFill>
              <a:latin typeface="Calibri"/>
              <a:ea typeface="Calibri"/>
              <a:cs typeface="Calibri"/>
              <a:sym typeface="Calibri"/>
            </a:endParaRPr>
          </a:p>
        </p:txBody>
      </p:sp>
      <p:sp>
        <p:nvSpPr>
          <p:cNvPr id="514" name="Google Shape;514;p15"/>
          <p:cNvSpPr/>
          <p:nvPr/>
        </p:nvSpPr>
        <p:spPr>
          <a:xfrm>
            <a:off x="6473952" y="4855464"/>
            <a:ext cx="86868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B7280"/>
              </a:buClr>
              <a:buSzPts val="800"/>
              <a:buFont typeface="Calibri"/>
              <a:buNone/>
            </a:pPr>
            <a:r>
              <a:rPr b="0" i="0" lang="en-US" sz="800" u="none" cap="none" strike="noStrike">
                <a:solidFill>
                  <a:srgbClr val="6B7280"/>
                </a:solidFill>
                <a:latin typeface="Calibri"/>
                <a:ea typeface="Calibri"/>
                <a:cs typeface="Calibri"/>
                <a:sym typeface="Calibri"/>
              </a:rPr>
              <a:t>metadata</a:t>
            </a:r>
            <a:endParaRPr b="0" i="0" sz="800" u="none" cap="none" strike="noStrike">
              <a:solidFill>
                <a:schemeClr val="dk1"/>
              </a:solidFill>
              <a:latin typeface="Calibri"/>
              <a:ea typeface="Calibri"/>
              <a:cs typeface="Calibri"/>
              <a:sym typeface="Calibri"/>
            </a:endParaRPr>
          </a:p>
        </p:txBody>
      </p:sp>
      <p:sp>
        <p:nvSpPr>
          <p:cNvPr id="515" name="Google Shape;515;p15"/>
          <p:cNvSpPr/>
          <p:nvPr/>
        </p:nvSpPr>
        <p:spPr>
          <a:xfrm>
            <a:off x="2542032" y="5212080"/>
            <a:ext cx="4846320" cy="566928"/>
          </a:xfrm>
          <a:prstGeom prst="rect">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5"/>
          <p:cNvSpPr/>
          <p:nvPr/>
        </p:nvSpPr>
        <p:spPr>
          <a:xfrm>
            <a:off x="2651760" y="5266944"/>
            <a:ext cx="462686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2A30"/>
              </a:buClr>
              <a:buSzPts val="839"/>
              <a:buFont typeface="Calibri"/>
              <a:buNone/>
            </a:pPr>
            <a:r>
              <a:rPr b="1" i="0" lang="en-US" sz="840" u="none" cap="none" strike="noStrike">
                <a:solidFill>
                  <a:srgbClr val="062A30"/>
                </a:solidFill>
                <a:latin typeface="Calibri"/>
                <a:ea typeface="Calibri"/>
                <a:cs typeface="Calibri"/>
                <a:sym typeface="Calibri"/>
              </a:rPr>
              <a:t>33,055 records in range  ·  4,120 of 25,000 API credits  ·  estimated runtime 26 minutes</a:t>
            </a:r>
            <a:endParaRPr b="0" i="0" sz="840" u="none" cap="none" strike="noStrike">
              <a:solidFill>
                <a:schemeClr val="dk1"/>
              </a:solidFill>
              <a:latin typeface="Calibri"/>
              <a:ea typeface="Calibri"/>
              <a:cs typeface="Calibri"/>
              <a:sym typeface="Calibri"/>
            </a:endParaRPr>
          </a:p>
        </p:txBody>
      </p:sp>
      <p:sp>
        <p:nvSpPr>
          <p:cNvPr id="517" name="Google Shape;517;p15"/>
          <p:cNvSpPr/>
          <p:nvPr/>
        </p:nvSpPr>
        <p:spPr>
          <a:xfrm>
            <a:off x="2651760" y="5486400"/>
            <a:ext cx="4626864"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820"/>
              <a:buFont typeface="Calibri"/>
              <a:buNone/>
            </a:pPr>
            <a:r>
              <a:rPr b="0" i="0" lang="en-US" sz="820" u="none" cap="none" strike="noStrike">
                <a:solidFill>
                  <a:srgbClr val="4B535C"/>
                </a:solidFill>
                <a:latin typeface="Calibri"/>
                <a:ea typeface="Calibri"/>
                <a:cs typeface="Calibri"/>
                <a:sym typeface="Calibri"/>
              </a:rPr>
              <a:t>Read only scopes only. Nothing in this org will be created, updated or deleted.</a:t>
            </a:r>
            <a:endParaRPr b="0" i="0" sz="820" u="none" cap="none" strike="noStrike">
              <a:solidFill>
                <a:schemeClr val="dk1"/>
              </a:solidFill>
              <a:latin typeface="Calibri"/>
              <a:ea typeface="Calibri"/>
              <a:cs typeface="Calibri"/>
              <a:sym typeface="Calibri"/>
            </a:endParaRPr>
          </a:p>
        </p:txBody>
      </p:sp>
      <p:sp>
        <p:nvSpPr>
          <p:cNvPr id="518" name="Google Shape;518;p15"/>
          <p:cNvSpPr/>
          <p:nvPr/>
        </p:nvSpPr>
        <p:spPr>
          <a:xfrm>
            <a:off x="8110728" y="1673352"/>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5"/>
          <p:cNvSpPr/>
          <p:nvPr/>
        </p:nvSpPr>
        <p:spPr>
          <a:xfrm>
            <a:off x="8110728" y="1673352"/>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1</a:t>
            </a:r>
            <a:endParaRPr b="0" i="0" sz="800" u="none" cap="none" strike="noStrike">
              <a:solidFill>
                <a:schemeClr val="dk1"/>
              </a:solidFill>
              <a:latin typeface="Calibri"/>
              <a:ea typeface="Calibri"/>
              <a:cs typeface="Calibri"/>
              <a:sym typeface="Calibri"/>
            </a:endParaRPr>
          </a:p>
        </p:txBody>
      </p:sp>
      <p:sp>
        <p:nvSpPr>
          <p:cNvPr id="520" name="Google Shape;520;p15"/>
          <p:cNvSpPr/>
          <p:nvPr/>
        </p:nvSpPr>
        <p:spPr>
          <a:xfrm>
            <a:off x="8385048" y="1645920"/>
            <a:ext cx="32397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Date range is a first class input</a:t>
            </a:r>
            <a:endParaRPr b="0" i="0" sz="1150" u="none" cap="none" strike="noStrike">
              <a:solidFill>
                <a:schemeClr val="dk1"/>
              </a:solidFill>
              <a:latin typeface="Calibri"/>
              <a:ea typeface="Calibri"/>
              <a:cs typeface="Calibri"/>
              <a:sym typeface="Calibri"/>
            </a:endParaRPr>
          </a:p>
        </p:txBody>
      </p:sp>
      <p:sp>
        <p:nvSpPr>
          <p:cNvPr id="521" name="Google Shape;521;p15"/>
          <p:cNvSpPr/>
          <p:nvPr/>
        </p:nvSpPr>
        <p:spPr>
          <a:xfrm>
            <a:off x="8385048" y="1883664"/>
            <a:ext cx="3239719"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Not a filter applied afterwards. It changes what is extracted, which is what keeps a live client scan inside twenty five minutes.</a:t>
            </a:r>
            <a:endParaRPr b="0" i="0" sz="1000" u="none" cap="none" strike="noStrike">
              <a:solidFill>
                <a:schemeClr val="dk1"/>
              </a:solidFill>
              <a:latin typeface="Calibri"/>
              <a:ea typeface="Calibri"/>
              <a:cs typeface="Calibri"/>
              <a:sym typeface="Calibri"/>
            </a:endParaRPr>
          </a:p>
        </p:txBody>
      </p:sp>
      <p:sp>
        <p:nvSpPr>
          <p:cNvPr id="522" name="Google Shape;522;p15"/>
          <p:cNvSpPr/>
          <p:nvPr/>
        </p:nvSpPr>
        <p:spPr>
          <a:xfrm>
            <a:off x="8110728" y="2843784"/>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5"/>
          <p:cNvSpPr/>
          <p:nvPr/>
        </p:nvSpPr>
        <p:spPr>
          <a:xfrm>
            <a:off x="8110728" y="2843784"/>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
        <p:nvSpPr>
          <p:cNvPr id="524" name="Google Shape;524;p15"/>
          <p:cNvSpPr/>
          <p:nvPr/>
        </p:nvSpPr>
        <p:spPr>
          <a:xfrm>
            <a:off x="8385048" y="2816352"/>
            <a:ext cx="32397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The clock is an explicit choice</a:t>
            </a:r>
            <a:endParaRPr b="0" i="0" sz="1150" u="none" cap="none" strike="noStrike">
              <a:solidFill>
                <a:schemeClr val="dk1"/>
              </a:solidFill>
              <a:latin typeface="Calibri"/>
              <a:ea typeface="Calibri"/>
              <a:cs typeface="Calibri"/>
              <a:sym typeface="Calibri"/>
            </a:endParaRPr>
          </a:p>
        </p:txBody>
      </p:sp>
      <p:sp>
        <p:nvSpPr>
          <p:cNvPr id="525" name="Google Shape;525;p15"/>
          <p:cNvSpPr/>
          <p:nvPr/>
        </p:nvSpPr>
        <p:spPr>
          <a:xfrm>
            <a:off x="8385048" y="3054096"/>
            <a:ext cx="3239719"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Created in range measures entry quality. Modified in range measures maintenance. Mixing them produces a number nobody can interpret.</a:t>
            </a:r>
            <a:endParaRPr b="0" i="0" sz="1000" u="none" cap="none" strike="noStrike">
              <a:solidFill>
                <a:schemeClr val="dk1"/>
              </a:solidFill>
              <a:latin typeface="Calibri"/>
              <a:ea typeface="Calibri"/>
              <a:cs typeface="Calibri"/>
              <a:sym typeface="Calibri"/>
            </a:endParaRPr>
          </a:p>
        </p:txBody>
      </p:sp>
      <p:sp>
        <p:nvSpPr>
          <p:cNvPr id="526" name="Google Shape;526;p15"/>
          <p:cNvSpPr/>
          <p:nvPr/>
        </p:nvSpPr>
        <p:spPr>
          <a:xfrm>
            <a:off x="8110728" y="4014216"/>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5"/>
          <p:cNvSpPr/>
          <p:nvPr/>
        </p:nvSpPr>
        <p:spPr>
          <a:xfrm>
            <a:off x="8110728" y="4014216"/>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
        <p:nvSpPr>
          <p:cNvPr id="528" name="Google Shape;528;p15"/>
          <p:cNvSpPr/>
          <p:nvPr/>
        </p:nvSpPr>
        <p:spPr>
          <a:xfrm>
            <a:off x="8385048" y="3986784"/>
            <a:ext cx="32397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Cost shown before the run</a:t>
            </a:r>
            <a:endParaRPr b="0" i="0" sz="1150" u="none" cap="none" strike="noStrike">
              <a:solidFill>
                <a:schemeClr val="dk1"/>
              </a:solidFill>
              <a:latin typeface="Calibri"/>
              <a:ea typeface="Calibri"/>
              <a:cs typeface="Calibri"/>
              <a:sym typeface="Calibri"/>
            </a:endParaRPr>
          </a:p>
        </p:txBody>
      </p:sp>
      <p:sp>
        <p:nvSpPr>
          <p:cNvPr id="529" name="Google Shape;529;p15"/>
          <p:cNvSpPr/>
          <p:nvPr/>
        </p:nvSpPr>
        <p:spPr>
          <a:xfrm>
            <a:off x="8385048" y="4224528"/>
            <a:ext cx="3239719"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Record count, credit consumption and runtime before commit. This is what stops a scan degrading a client production org.</a:t>
            </a:r>
            <a:endParaRPr b="0" i="0" sz="1000" u="none" cap="none" strike="noStrike">
              <a:solidFill>
                <a:schemeClr val="dk1"/>
              </a:solidFill>
              <a:latin typeface="Calibri"/>
              <a:ea typeface="Calibri"/>
              <a:cs typeface="Calibri"/>
              <a:sym typeface="Calibri"/>
            </a:endParaRPr>
          </a:p>
        </p:txBody>
      </p:sp>
      <p:sp>
        <p:nvSpPr>
          <p:cNvPr id="530" name="Google Shape;530;p15"/>
          <p:cNvSpPr/>
          <p:nvPr/>
        </p:nvSpPr>
        <p:spPr>
          <a:xfrm>
            <a:off x="8110728" y="5111496"/>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5"/>
          <p:cNvSpPr/>
          <p:nvPr/>
        </p:nvSpPr>
        <p:spPr>
          <a:xfrm>
            <a:off x="8110728" y="5111496"/>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
        <p:nvSpPr>
          <p:cNvPr id="532" name="Google Shape;532;p15"/>
          <p:cNvSpPr/>
          <p:nvPr/>
        </p:nvSpPr>
        <p:spPr>
          <a:xfrm>
            <a:off x="8385048" y="5084064"/>
            <a:ext cx="32397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A scope becomes a schedule</a:t>
            </a:r>
            <a:endParaRPr b="0" i="0" sz="1150" u="none" cap="none" strike="noStrike">
              <a:solidFill>
                <a:schemeClr val="dk1"/>
              </a:solidFill>
              <a:latin typeface="Calibri"/>
              <a:ea typeface="Calibri"/>
              <a:cs typeface="Calibri"/>
              <a:sym typeface="Calibri"/>
            </a:endParaRPr>
          </a:p>
        </p:txBody>
      </p:sp>
      <p:sp>
        <p:nvSpPr>
          <p:cNvPr id="533" name="Google Shape;533;p15"/>
          <p:cNvSpPr/>
          <p:nvPr/>
        </p:nvSpPr>
        <p:spPr>
          <a:xfrm>
            <a:off x="8385048" y="5321808"/>
            <a:ext cx="3239719"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Any saved scope turns into a monthly job with one click, which is how a one off audit becomes a retainer.</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p16"/>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Interface 2: the command centre</a:t>
            </a:r>
            <a:endParaRPr b="0" i="0" sz="3000" u="none" cap="none" strike="noStrike">
              <a:solidFill>
                <a:schemeClr val="dk1"/>
              </a:solidFill>
              <a:latin typeface="Calibri"/>
              <a:ea typeface="Calibri"/>
              <a:cs typeface="Calibri"/>
              <a:sym typeface="Calibri"/>
            </a:endParaRPr>
          </a:p>
        </p:txBody>
      </p:sp>
      <p:sp>
        <p:nvSpPr>
          <p:cNvPr id="540" name="Google Shape;540;p16"/>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One screen. Filter bar at the top drives everything below it. This is the screen we turn the laptop around for.</a:t>
            </a:r>
            <a:endParaRPr b="0" i="0" sz="1350" u="none" cap="none" strike="noStrike">
              <a:solidFill>
                <a:schemeClr val="dk1"/>
              </a:solidFill>
              <a:latin typeface="Calibri"/>
              <a:ea typeface="Calibri"/>
              <a:cs typeface="Calibri"/>
              <a:sym typeface="Calibri"/>
            </a:endParaRPr>
          </a:p>
        </p:txBody>
      </p:sp>
      <p:sp>
        <p:nvSpPr>
          <p:cNvPr id="541" name="Google Shape;541;p16"/>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542" name="Google Shape;542;p16"/>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16</a:t>
            </a:r>
            <a:endParaRPr b="0" i="0" sz="950" u="none" cap="none" strike="noStrike">
              <a:solidFill>
                <a:schemeClr val="dk1"/>
              </a:solidFill>
              <a:latin typeface="Calibri"/>
              <a:ea typeface="Calibri"/>
              <a:cs typeface="Calibri"/>
              <a:sym typeface="Calibri"/>
            </a:endParaRPr>
          </a:p>
        </p:txBody>
      </p:sp>
      <p:sp>
        <p:nvSpPr>
          <p:cNvPr id="543" name="Google Shape;543;p16"/>
          <p:cNvSpPr/>
          <p:nvPr/>
        </p:nvSpPr>
        <p:spPr>
          <a:xfrm>
            <a:off x="566928" y="1463040"/>
            <a:ext cx="11057839" cy="3840480"/>
          </a:xfrm>
          <a:prstGeom prst="roundRect">
            <a:avLst>
              <a:gd fmla="val 1190" name="adj"/>
            </a:avLst>
          </a:prstGeom>
          <a:solidFill>
            <a:srgbClr val="FFFFFF"/>
          </a:solidFill>
          <a:ln cap="flat" cmpd="sng" w="12700">
            <a:solidFill>
              <a:srgbClr val="9AA3AD"/>
            </a:solidFill>
            <a:prstDash val="solid"/>
            <a:round/>
            <a:headEnd len="sm" w="sm" type="none"/>
            <a:tailEnd len="sm" w="sm" type="none"/>
          </a:ln>
          <a:effectLst>
            <a:outerShdw blurRad="1270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6"/>
          <p:cNvSpPr/>
          <p:nvPr/>
        </p:nvSpPr>
        <p:spPr>
          <a:xfrm>
            <a:off x="576072" y="1472184"/>
            <a:ext cx="11039551" cy="384048"/>
          </a:xfrm>
          <a:prstGeom prst="rect">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a:off x="694944" y="1604772"/>
            <a:ext cx="100584" cy="100584"/>
          </a:xfrm>
          <a:prstGeom prst="ellipse">
            <a:avLst/>
          </a:prstGeom>
          <a:solidFill>
            <a:srgbClr val="E06C5A"/>
          </a:solidFill>
          <a:ln cap="flat" cmpd="sng" w="12700">
            <a:solidFill>
              <a:srgbClr val="E06C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6"/>
          <p:cNvSpPr/>
          <p:nvPr/>
        </p:nvSpPr>
        <p:spPr>
          <a:xfrm>
            <a:off x="850392" y="1604772"/>
            <a:ext cx="100584" cy="100584"/>
          </a:xfrm>
          <a:prstGeom prst="ellipse">
            <a:avLst/>
          </a:prstGeom>
          <a:solidFill>
            <a:srgbClr val="E0B84A"/>
          </a:solidFill>
          <a:ln cap="flat" cmpd="sng" w="12700">
            <a:solidFill>
              <a:srgbClr val="E0B8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6"/>
          <p:cNvSpPr/>
          <p:nvPr/>
        </p:nvSpPr>
        <p:spPr>
          <a:xfrm>
            <a:off x="1005840" y="1604772"/>
            <a:ext cx="100584" cy="100584"/>
          </a:xfrm>
          <a:prstGeom prst="ellipse">
            <a:avLst/>
          </a:prstGeom>
          <a:solidFill>
            <a:srgbClr val="5AB77A"/>
          </a:solidFill>
          <a:ln cap="flat" cmpd="sng" w="12700">
            <a:solidFill>
              <a:srgbClr val="5AB7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6"/>
          <p:cNvSpPr/>
          <p:nvPr/>
        </p:nvSpPr>
        <p:spPr>
          <a:xfrm>
            <a:off x="1225296" y="1490472"/>
            <a:ext cx="3108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FI Data Health Scanner  ·  Hira Industries FZE</a:t>
            </a:r>
            <a:endParaRPr b="0" i="0" sz="1050" u="none" cap="none" strike="noStrike">
              <a:solidFill>
                <a:schemeClr val="dk1"/>
              </a:solidFill>
              <a:latin typeface="Calibri"/>
              <a:ea typeface="Calibri"/>
              <a:cs typeface="Calibri"/>
              <a:sym typeface="Calibri"/>
            </a:endParaRPr>
          </a:p>
        </p:txBody>
      </p:sp>
      <p:sp>
        <p:nvSpPr>
          <p:cNvPr id="549" name="Google Shape;549;p16"/>
          <p:cNvSpPr/>
          <p:nvPr/>
        </p:nvSpPr>
        <p:spPr>
          <a:xfrm>
            <a:off x="11134649" y="1545336"/>
            <a:ext cx="343814"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a:off x="11134649" y="1545336"/>
            <a:ext cx="343814"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Fix</a:t>
            </a:r>
            <a:endParaRPr b="0" i="0" sz="850" u="none" cap="none" strike="noStrike">
              <a:solidFill>
                <a:schemeClr val="dk1"/>
              </a:solidFill>
              <a:latin typeface="Calibri"/>
              <a:ea typeface="Calibri"/>
              <a:cs typeface="Calibri"/>
              <a:sym typeface="Calibri"/>
            </a:endParaRPr>
          </a:p>
        </p:txBody>
      </p:sp>
      <p:sp>
        <p:nvSpPr>
          <p:cNvPr id="551" name="Google Shape;551;p16"/>
          <p:cNvSpPr/>
          <p:nvPr/>
        </p:nvSpPr>
        <p:spPr>
          <a:xfrm>
            <a:off x="10454335" y="1545336"/>
            <a:ext cx="607162"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6"/>
          <p:cNvSpPr/>
          <p:nvPr/>
        </p:nvSpPr>
        <p:spPr>
          <a:xfrm>
            <a:off x="10454335" y="1545336"/>
            <a:ext cx="60716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Records</a:t>
            </a:r>
            <a:endParaRPr b="0" i="0" sz="850" u="none" cap="none" strike="noStrike">
              <a:solidFill>
                <a:schemeClr val="dk1"/>
              </a:solidFill>
              <a:latin typeface="Calibri"/>
              <a:ea typeface="Calibri"/>
              <a:cs typeface="Calibri"/>
              <a:sym typeface="Calibri"/>
            </a:endParaRPr>
          </a:p>
        </p:txBody>
      </p:sp>
      <p:sp>
        <p:nvSpPr>
          <p:cNvPr id="553" name="Google Shape;553;p16"/>
          <p:cNvSpPr/>
          <p:nvPr/>
        </p:nvSpPr>
        <p:spPr>
          <a:xfrm>
            <a:off x="9905695" y="1545336"/>
            <a:ext cx="47548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a:off x="9905695" y="1545336"/>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Trend</a:t>
            </a:r>
            <a:endParaRPr b="0" i="0" sz="850" u="none" cap="none" strike="noStrike">
              <a:solidFill>
                <a:schemeClr val="dk1"/>
              </a:solidFill>
              <a:latin typeface="Calibri"/>
              <a:ea typeface="Calibri"/>
              <a:cs typeface="Calibri"/>
              <a:sym typeface="Calibri"/>
            </a:endParaRPr>
          </a:p>
        </p:txBody>
      </p:sp>
      <p:sp>
        <p:nvSpPr>
          <p:cNvPr id="555" name="Google Shape;555;p16"/>
          <p:cNvSpPr/>
          <p:nvPr/>
        </p:nvSpPr>
        <p:spPr>
          <a:xfrm>
            <a:off x="9225382" y="1545336"/>
            <a:ext cx="607162"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6"/>
          <p:cNvSpPr/>
          <p:nvPr/>
        </p:nvSpPr>
        <p:spPr>
          <a:xfrm>
            <a:off x="9225382" y="1545336"/>
            <a:ext cx="60716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Modules</a:t>
            </a:r>
            <a:endParaRPr b="0" i="0" sz="850" u="none" cap="none" strike="noStrike">
              <a:solidFill>
                <a:schemeClr val="dk1"/>
              </a:solidFill>
              <a:latin typeface="Calibri"/>
              <a:ea typeface="Calibri"/>
              <a:cs typeface="Calibri"/>
              <a:sym typeface="Calibri"/>
            </a:endParaRPr>
          </a:p>
        </p:txBody>
      </p:sp>
      <p:sp>
        <p:nvSpPr>
          <p:cNvPr id="557" name="Google Shape;557;p16"/>
          <p:cNvSpPr/>
          <p:nvPr/>
        </p:nvSpPr>
        <p:spPr>
          <a:xfrm>
            <a:off x="8676742" y="1545336"/>
            <a:ext cx="47548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a:off x="8676742" y="1545336"/>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Users</a:t>
            </a:r>
            <a:endParaRPr b="0" i="0" sz="850" u="none" cap="none" strike="noStrike">
              <a:solidFill>
                <a:schemeClr val="dk1"/>
              </a:solidFill>
              <a:latin typeface="Calibri"/>
              <a:ea typeface="Calibri"/>
              <a:cs typeface="Calibri"/>
              <a:sym typeface="Calibri"/>
            </a:endParaRPr>
          </a:p>
        </p:txBody>
      </p:sp>
      <p:sp>
        <p:nvSpPr>
          <p:cNvPr id="559" name="Google Shape;559;p16"/>
          <p:cNvSpPr/>
          <p:nvPr/>
        </p:nvSpPr>
        <p:spPr>
          <a:xfrm>
            <a:off x="7930591" y="1545336"/>
            <a:ext cx="672998" cy="228600"/>
          </a:xfrm>
          <a:prstGeom prst="roundRect">
            <a:avLst>
              <a:gd fmla="val 2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6"/>
          <p:cNvSpPr/>
          <p:nvPr/>
        </p:nvSpPr>
        <p:spPr>
          <a:xfrm>
            <a:off x="7930591" y="1545336"/>
            <a:ext cx="67299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Overview</a:t>
            </a:r>
            <a:endParaRPr b="0" i="0" sz="850" u="none" cap="none" strike="noStrike">
              <a:solidFill>
                <a:schemeClr val="dk1"/>
              </a:solidFill>
              <a:latin typeface="Calibri"/>
              <a:ea typeface="Calibri"/>
              <a:cs typeface="Calibri"/>
              <a:sym typeface="Calibri"/>
            </a:endParaRPr>
          </a:p>
        </p:txBody>
      </p:sp>
      <p:sp>
        <p:nvSpPr>
          <p:cNvPr id="561" name="Google Shape;561;p16"/>
          <p:cNvSpPr/>
          <p:nvPr/>
        </p:nvSpPr>
        <p:spPr>
          <a:xfrm>
            <a:off x="713232" y="1938528"/>
            <a:ext cx="1742846" cy="256032"/>
          </a:xfrm>
          <a:prstGeom prst="roundRect">
            <a:avLst>
              <a:gd fmla="val 17857"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6"/>
          <p:cNvSpPr/>
          <p:nvPr/>
        </p:nvSpPr>
        <p:spPr>
          <a:xfrm>
            <a:off x="804672" y="1938528"/>
            <a:ext cx="155996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60"/>
              <a:buFont typeface="Calibri"/>
              <a:buNone/>
            </a:pPr>
            <a:r>
              <a:rPr b="1" i="0" lang="en-US" sz="760" u="none" cap="none" strike="noStrike">
                <a:solidFill>
                  <a:srgbClr val="046B73"/>
                </a:solidFill>
                <a:latin typeface="Calibri"/>
                <a:ea typeface="Calibri"/>
                <a:cs typeface="Calibri"/>
                <a:sym typeface="Calibri"/>
              </a:rPr>
              <a:t>Period  01 May to 07 Aug 2026</a:t>
            </a:r>
            <a:endParaRPr b="0" i="0" sz="760" u="none" cap="none" strike="noStrike">
              <a:solidFill>
                <a:schemeClr val="dk1"/>
              </a:solidFill>
              <a:latin typeface="Calibri"/>
              <a:ea typeface="Calibri"/>
              <a:cs typeface="Calibri"/>
              <a:sym typeface="Calibri"/>
            </a:endParaRPr>
          </a:p>
        </p:txBody>
      </p:sp>
      <p:sp>
        <p:nvSpPr>
          <p:cNvPr id="563" name="Google Shape;563;p16"/>
          <p:cNvSpPr/>
          <p:nvPr/>
        </p:nvSpPr>
        <p:spPr>
          <a:xfrm>
            <a:off x="2547518" y="1938528"/>
            <a:ext cx="1424635" cy="256032"/>
          </a:xfrm>
          <a:prstGeom prst="roundRect">
            <a:avLst>
              <a:gd fmla="val 17857"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6"/>
          <p:cNvSpPr/>
          <p:nvPr/>
        </p:nvSpPr>
        <p:spPr>
          <a:xfrm>
            <a:off x="2638958" y="1938528"/>
            <a:ext cx="1241755"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60"/>
              <a:buFont typeface="Calibri"/>
              <a:buNone/>
            </a:pPr>
            <a:r>
              <a:rPr b="1" i="0" lang="en-US" sz="760" u="none" cap="none" strike="noStrike">
                <a:solidFill>
                  <a:srgbClr val="046B73"/>
                </a:solidFill>
                <a:latin typeface="Calibri"/>
                <a:ea typeface="Calibri"/>
                <a:cs typeface="Calibri"/>
                <a:sym typeface="Calibri"/>
              </a:rPr>
              <a:t>Clock  Created in range</a:t>
            </a:r>
            <a:endParaRPr b="0" i="0" sz="760" u="none" cap="none" strike="noStrike">
              <a:solidFill>
                <a:schemeClr val="dk1"/>
              </a:solidFill>
              <a:latin typeface="Calibri"/>
              <a:ea typeface="Calibri"/>
              <a:cs typeface="Calibri"/>
              <a:sym typeface="Calibri"/>
            </a:endParaRPr>
          </a:p>
        </p:txBody>
      </p:sp>
      <p:sp>
        <p:nvSpPr>
          <p:cNvPr id="565" name="Google Shape;565;p16"/>
          <p:cNvSpPr/>
          <p:nvPr/>
        </p:nvSpPr>
        <p:spPr>
          <a:xfrm>
            <a:off x="4063594" y="1938528"/>
            <a:ext cx="947318" cy="256032"/>
          </a:xfrm>
          <a:prstGeom prst="roundRect">
            <a:avLst>
              <a:gd fmla="val 17857" name="adj"/>
            </a:avLst>
          </a:prstGeom>
          <a:solidFill>
            <a:srgbClr val="FFFFFF"/>
          </a:solid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6"/>
          <p:cNvSpPr/>
          <p:nvPr/>
        </p:nvSpPr>
        <p:spPr>
          <a:xfrm>
            <a:off x="4155034" y="1938528"/>
            <a:ext cx="76443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60"/>
              <a:buFont typeface="Calibri"/>
              <a:buNone/>
            </a:pPr>
            <a:r>
              <a:rPr b="0" i="0" lang="en-US" sz="760" u="none" cap="none" strike="noStrike">
                <a:solidFill>
                  <a:srgbClr val="4B535C"/>
                </a:solidFill>
                <a:latin typeface="Calibri"/>
                <a:ea typeface="Calibri"/>
                <a:cs typeface="Calibri"/>
                <a:sym typeface="Calibri"/>
              </a:rPr>
              <a:t>Modules  All 7</a:t>
            </a:r>
            <a:endParaRPr b="0" i="0" sz="760" u="none" cap="none" strike="noStrike">
              <a:solidFill>
                <a:schemeClr val="dk1"/>
              </a:solidFill>
              <a:latin typeface="Calibri"/>
              <a:ea typeface="Calibri"/>
              <a:cs typeface="Calibri"/>
              <a:sym typeface="Calibri"/>
            </a:endParaRPr>
          </a:p>
        </p:txBody>
      </p:sp>
      <p:sp>
        <p:nvSpPr>
          <p:cNvPr id="567" name="Google Shape;567;p16"/>
          <p:cNvSpPr/>
          <p:nvPr/>
        </p:nvSpPr>
        <p:spPr>
          <a:xfrm>
            <a:off x="5102352" y="1938528"/>
            <a:ext cx="894283" cy="256032"/>
          </a:xfrm>
          <a:prstGeom prst="roundRect">
            <a:avLst>
              <a:gd fmla="val 17857" name="adj"/>
            </a:avLst>
          </a:prstGeom>
          <a:solidFill>
            <a:srgbClr val="FFFFFF"/>
          </a:solid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6"/>
          <p:cNvSpPr/>
          <p:nvPr/>
        </p:nvSpPr>
        <p:spPr>
          <a:xfrm>
            <a:off x="5193792" y="1938528"/>
            <a:ext cx="711403"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60"/>
              <a:buFont typeface="Calibri"/>
              <a:buNone/>
            </a:pPr>
            <a:r>
              <a:rPr b="0" i="0" lang="en-US" sz="760" u="none" cap="none" strike="noStrike">
                <a:solidFill>
                  <a:srgbClr val="4B535C"/>
                </a:solidFill>
                <a:latin typeface="Calibri"/>
                <a:ea typeface="Calibri"/>
                <a:cs typeface="Calibri"/>
                <a:sym typeface="Calibri"/>
              </a:rPr>
              <a:t>Users  All 48</a:t>
            </a:r>
            <a:endParaRPr b="0" i="0" sz="760" u="none" cap="none" strike="noStrike">
              <a:solidFill>
                <a:schemeClr val="dk1"/>
              </a:solidFill>
              <a:latin typeface="Calibri"/>
              <a:ea typeface="Calibri"/>
              <a:cs typeface="Calibri"/>
              <a:sym typeface="Calibri"/>
            </a:endParaRPr>
          </a:p>
        </p:txBody>
      </p:sp>
      <p:sp>
        <p:nvSpPr>
          <p:cNvPr id="569" name="Google Shape;569;p16"/>
          <p:cNvSpPr/>
          <p:nvPr/>
        </p:nvSpPr>
        <p:spPr>
          <a:xfrm>
            <a:off x="6088075" y="1938528"/>
            <a:ext cx="1371600" cy="256032"/>
          </a:xfrm>
          <a:prstGeom prst="roundRect">
            <a:avLst>
              <a:gd fmla="val 17857"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6"/>
          <p:cNvSpPr/>
          <p:nvPr/>
        </p:nvSpPr>
        <p:spPr>
          <a:xfrm>
            <a:off x="6179515" y="1938528"/>
            <a:ext cx="11887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60"/>
              <a:buFont typeface="Calibri"/>
              <a:buNone/>
            </a:pPr>
            <a:r>
              <a:rPr b="1" i="0" lang="en-US" sz="760" u="none" cap="none" strike="noStrike">
                <a:solidFill>
                  <a:srgbClr val="046B73"/>
                </a:solidFill>
                <a:latin typeface="Calibri"/>
                <a:ea typeface="Calibri"/>
                <a:cs typeface="Calibri"/>
                <a:sym typeface="Calibri"/>
              </a:rPr>
              <a:t>Compare  Prior 99 days</a:t>
            </a:r>
            <a:endParaRPr b="0" i="0" sz="760" u="none" cap="none" strike="noStrike">
              <a:solidFill>
                <a:schemeClr val="dk1"/>
              </a:solidFill>
              <a:latin typeface="Calibri"/>
              <a:ea typeface="Calibri"/>
              <a:cs typeface="Calibri"/>
              <a:sym typeface="Calibri"/>
            </a:endParaRPr>
          </a:p>
        </p:txBody>
      </p:sp>
      <p:sp>
        <p:nvSpPr>
          <p:cNvPr id="571" name="Google Shape;571;p16"/>
          <p:cNvSpPr/>
          <p:nvPr/>
        </p:nvSpPr>
        <p:spPr>
          <a:xfrm>
            <a:off x="9329623" y="1938528"/>
            <a:ext cx="1051560" cy="256032"/>
          </a:xfrm>
          <a:prstGeom prst="roundRect">
            <a:avLst>
              <a:gd fmla="val 17857" name="adj"/>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6"/>
          <p:cNvSpPr/>
          <p:nvPr/>
        </p:nvSpPr>
        <p:spPr>
          <a:xfrm>
            <a:off x="9329623" y="1938528"/>
            <a:ext cx="10515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Export PDF</a:t>
            </a:r>
            <a:endParaRPr b="0" i="0" sz="850" u="none" cap="none" strike="noStrike">
              <a:solidFill>
                <a:schemeClr val="dk1"/>
              </a:solidFill>
              <a:latin typeface="Calibri"/>
              <a:ea typeface="Calibri"/>
              <a:cs typeface="Calibri"/>
              <a:sym typeface="Calibri"/>
            </a:endParaRPr>
          </a:p>
        </p:txBody>
      </p:sp>
      <p:sp>
        <p:nvSpPr>
          <p:cNvPr id="573" name="Google Shape;573;p16"/>
          <p:cNvSpPr/>
          <p:nvPr/>
        </p:nvSpPr>
        <p:spPr>
          <a:xfrm>
            <a:off x="10472623" y="1938528"/>
            <a:ext cx="1005840" cy="256032"/>
          </a:xfrm>
          <a:prstGeom prst="roundRect">
            <a:avLst>
              <a:gd fmla="val 17857"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6"/>
          <p:cNvSpPr/>
          <p:nvPr/>
        </p:nvSpPr>
        <p:spPr>
          <a:xfrm>
            <a:off x="10472623" y="1938528"/>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Fix list</a:t>
            </a:r>
            <a:endParaRPr b="0" i="0" sz="850" u="none" cap="none" strike="noStrike">
              <a:solidFill>
                <a:schemeClr val="dk1"/>
              </a:solidFill>
              <a:latin typeface="Calibri"/>
              <a:ea typeface="Calibri"/>
              <a:cs typeface="Calibri"/>
              <a:sym typeface="Calibri"/>
            </a:endParaRPr>
          </a:p>
        </p:txBody>
      </p:sp>
      <p:sp>
        <p:nvSpPr>
          <p:cNvPr id="575" name="Google Shape;575;p16"/>
          <p:cNvSpPr/>
          <p:nvPr/>
        </p:nvSpPr>
        <p:spPr>
          <a:xfrm>
            <a:off x="713232" y="2313432"/>
            <a:ext cx="1702765" cy="713232"/>
          </a:xfrm>
          <a:prstGeom prst="roundRect">
            <a:avLst>
              <a:gd fmla="val 6410" name="adj"/>
            </a:avLst>
          </a:prstGeom>
          <a:solidFill>
            <a:srgbClr val="F7F9FA"/>
          </a:solidFill>
          <a:ln cap="flat" cmpd="sng" w="9525">
            <a:solidFill>
              <a:srgbClr val="E3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6"/>
          <p:cNvSpPr/>
          <p:nvPr/>
        </p:nvSpPr>
        <p:spPr>
          <a:xfrm>
            <a:off x="813816" y="2368296"/>
            <a:ext cx="1501597"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680"/>
              <a:buFont typeface="Calibri"/>
              <a:buNone/>
            </a:pPr>
            <a:r>
              <a:rPr b="1" i="0" lang="en-US" sz="680" u="none" cap="none" strike="noStrike">
                <a:solidFill>
                  <a:srgbClr val="6B7280"/>
                </a:solidFill>
                <a:latin typeface="Calibri"/>
                <a:ea typeface="Calibri"/>
                <a:cs typeface="Calibri"/>
                <a:sym typeface="Calibri"/>
              </a:rPr>
              <a:t>HEALTH SCORE</a:t>
            </a:r>
            <a:endParaRPr b="0" i="0" sz="680" u="none" cap="none" strike="noStrike">
              <a:solidFill>
                <a:schemeClr val="dk1"/>
              </a:solidFill>
              <a:latin typeface="Calibri"/>
              <a:ea typeface="Calibri"/>
              <a:cs typeface="Calibri"/>
              <a:sym typeface="Calibri"/>
            </a:endParaRPr>
          </a:p>
        </p:txBody>
      </p:sp>
      <p:sp>
        <p:nvSpPr>
          <p:cNvPr id="577" name="Google Shape;577;p16"/>
          <p:cNvSpPr/>
          <p:nvPr/>
        </p:nvSpPr>
        <p:spPr>
          <a:xfrm>
            <a:off x="813816" y="2514600"/>
            <a:ext cx="1501597"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700"/>
              </a:buClr>
              <a:buSzPts val="1700"/>
              <a:buFont typeface="Cambria"/>
              <a:buNone/>
            </a:pPr>
            <a:r>
              <a:rPr b="1" i="0" lang="en-US" sz="1700" u="none" cap="none" strike="noStrike">
                <a:solidFill>
                  <a:srgbClr val="C77700"/>
                </a:solidFill>
                <a:latin typeface="Cambria"/>
                <a:ea typeface="Cambria"/>
                <a:cs typeface="Cambria"/>
                <a:sym typeface="Cambria"/>
              </a:rPr>
              <a:t>53</a:t>
            </a:r>
            <a:endParaRPr b="0" i="0" sz="1700" u="none" cap="none" strike="noStrike">
              <a:solidFill>
                <a:schemeClr val="dk1"/>
              </a:solidFill>
              <a:latin typeface="Calibri"/>
              <a:ea typeface="Calibri"/>
              <a:cs typeface="Calibri"/>
              <a:sym typeface="Calibri"/>
            </a:endParaRPr>
          </a:p>
        </p:txBody>
      </p:sp>
      <p:sp>
        <p:nvSpPr>
          <p:cNvPr id="578" name="Google Shape;578;p16"/>
          <p:cNvSpPr/>
          <p:nvPr/>
        </p:nvSpPr>
        <p:spPr>
          <a:xfrm>
            <a:off x="813816" y="2825496"/>
            <a:ext cx="1501597"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20"/>
              <a:buFont typeface="Calibri"/>
              <a:buNone/>
            </a:pPr>
            <a:r>
              <a:rPr b="0" i="0" lang="en-US" sz="720" u="none" cap="none" strike="noStrike">
                <a:solidFill>
                  <a:srgbClr val="6B7280"/>
                </a:solidFill>
                <a:latin typeface="Calibri"/>
                <a:ea typeface="Calibri"/>
                <a:cs typeface="Calibri"/>
                <a:sym typeface="Calibri"/>
              </a:rPr>
              <a:t>prior period 47</a:t>
            </a:r>
            <a:endParaRPr b="0" i="0" sz="720" u="none" cap="none" strike="noStrike">
              <a:solidFill>
                <a:schemeClr val="dk1"/>
              </a:solidFill>
              <a:latin typeface="Calibri"/>
              <a:ea typeface="Calibri"/>
              <a:cs typeface="Calibri"/>
              <a:sym typeface="Calibri"/>
            </a:endParaRPr>
          </a:p>
        </p:txBody>
      </p:sp>
      <p:sp>
        <p:nvSpPr>
          <p:cNvPr id="579" name="Google Shape;579;p16"/>
          <p:cNvSpPr/>
          <p:nvPr/>
        </p:nvSpPr>
        <p:spPr>
          <a:xfrm>
            <a:off x="2525725" y="2313432"/>
            <a:ext cx="1702765" cy="713232"/>
          </a:xfrm>
          <a:prstGeom prst="roundRect">
            <a:avLst>
              <a:gd fmla="val 6410" name="adj"/>
            </a:avLst>
          </a:prstGeom>
          <a:solidFill>
            <a:srgbClr val="F7F9FA"/>
          </a:solidFill>
          <a:ln cap="flat" cmpd="sng" w="9525">
            <a:solidFill>
              <a:srgbClr val="E3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6"/>
          <p:cNvSpPr/>
          <p:nvPr/>
        </p:nvSpPr>
        <p:spPr>
          <a:xfrm>
            <a:off x="2626309" y="2368296"/>
            <a:ext cx="1501597"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680"/>
              <a:buFont typeface="Calibri"/>
              <a:buNone/>
            </a:pPr>
            <a:r>
              <a:rPr b="1" i="0" lang="en-US" sz="680" u="none" cap="none" strike="noStrike">
                <a:solidFill>
                  <a:srgbClr val="6B7280"/>
                </a:solidFill>
                <a:latin typeface="Calibri"/>
                <a:ea typeface="Calibri"/>
                <a:cs typeface="Calibri"/>
                <a:sym typeface="Calibri"/>
              </a:rPr>
              <a:t>RECORDS IN RANGE</a:t>
            </a:r>
            <a:endParaRPr b="0" i="0" sz="680" u="none" cap="none" strike="noStrike">
              <a:solidFill>
                <a:schemeClr val="dk1"/>
              </a:solidFill>
              <a:latin typeface="Calibri"/>
              <a:ea typeface="Calibri"/>
              <a:cs typeface="Calibri"/>
              <a:sym typeface="Calibri"/>
            </a:endParaRPr>
          </a:p>
        </p:txBody>
      </p:sp>
      <p:sp>
        <p:nvSpPr>
          <p:cNvPr id="581" name="Google Shape;581;p16"/>
          <p:cNvSpPr/>
          <p:nvPr/>
        </p:nvSpPr>
        <p:spPr>
          <a:xfrm>
            <a:off x="2626309" y="2514600"/>
            <a:ext cx="1501597"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6B73"/>
              </a:buClr>
              <a:buSzPts val="1700"/>
              <a:buFont typeface="Cambria"/>
              <a:buNone/>
            </a:pPr>
            <a:r>
              <a:rPr b="1" i="0" lang="en-US" sz="1700" u="none" cap="none" strike="noStrike">
                <a:solidFill>
                  <a:srgbClr val="046B73"/>
                </a:solidFill>
                <a:latin typeface="Cambria"/>
                <a:ea typeface="Cambria"/>
                <a:cs typeface="Cambria"/>
                <a:sym typeface="Cambria"/>
              </a:rPr>
              <a:t>33,055</a:t>
            </a:r>
            <a:endParaRPr b="0" i="0" sz="1700" u="none" cap="none" strike="noStrike">
              <a:solidFill>
                <a:schemeClr val="dk1"/>
              </a:solidFill>
              <a:latin typeface="Calibri"/>
              <a:ea typeface="Calibri"/>
              <a:cs typeface="Calibri"/>
              <a:sym typeface="Calibri"/>
            </a:endParaRPr>
          </a:p>
        </p:txBody>
      </p:sp>
      <p:sp>
        <p:nvSpPr>
          <p:cNvPr id="582" name="Google Shape;582;p16"/>
          <p:cNvSpPr/>
          <p:nvPr/>
        </p:nvSpPr>
        <p:spPr>
          <a:xfrm>
            <a:off x="2626309" y="2825496"/>
            <a:ext cx="1501597"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20"/>
              <a:buFont typeface="Calibri"/>
              <a:buNone/>
            </a:pPr>
            <a:r>
              <a:rPr b="0" i="0" lang="en-US" sz="720" u="none" cap="none" strike="noStrike">
                <a:solidFill>
                  <a:srgbClr val="6B7280"/>
                </a:solidFill>
                <a:latin typeface="Calibri"/>
                <a:ea typeface="Calibri"/>
                <a:cs typeface="Calibri"/>
                <a:sym typeface="Calibri"/>
              </a:rPr>
              <a:t>of 190,842 total</a:t>
            </a:r>
            <a:endParaRPr b="0" i="0" sz="720" u="none" cap="none" strike="noStrike">
              <a:solidFill>
                <a:schemeClr val="dk1"/>
              </a:solidFill>
              <a:latin typeface="Calibri"/>
              <a:ea typeface="Calibri"/>
              <a:cs typeface="Calibri"/>
              <a:sym typeface="Calibri"/>
            </a:endParaRPr>
          </a:p>
        </p:txBody>
      </p:sp>
      <p:sp>
        <p:nvSpPr>
          <p:cNvPr id="583" name="Google Shape;583;p16"/>
          <p:cNvSpPr/>
          <p:nvPr/>
        </p:nvSpPr>
        <p:spPr>
          <a:xfrm>
            <a:off x="4338218" y="2313432"/>
            <a:ext cx="1702765" cy="713232"/>
          </a:xfrm>
          <a:prstGeom prst="roundRect">
            <a:avLst>
              <a:gd fmla="val 6410" name="adj"/>
            </a:avLst>
          </a:prstGeom>
          <a:solidFill>
            <a:srgbClr val="F7F9FA"/>
          </a:solidFill>
          <a:ln cap="flat" cmpd="sng" w="9525">
            <a:solidFill>
              <a:srgbClr val="E3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6"/>
          <p:cNvSpPr/>
          <p:nvPr/>
        </p:nvSpPr>
        <p:spPr>
          <a:xfrm>
            <a:off x="4438802" y="2368296"/>
            <a:ext cx="1501597"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680"/>
              <a:buFont typeface="Calibri"/>
              <a:buNone/>
            </a:pPr>
            <a:r>
              <a:rPr b="1" i="0" lang="en-US" sz="680" u="none" cap="none" strike="noStrike">
                <a:solidFill>
                  <a:srgbClr val="6B7280"/>
                </a:solidFill>
                <a:latin typeface="Calibri"/>
                <a:ea typeface="Calibri"/>
                <a:cs typeface="Calibri"/>
                <a:sym typeface="Calibri"/>
              </a:rPr>
              <a:t>PROPER RECORDS</a:t>
            </a:r>
            <a:endParaRPr b="0" i="0" sz="680" u="none" cap="none" strike="noStrike">
              <a:solidFill>
                <a:schemeClr val="dk1"/>
              </a:solidFill>
              <a:latin typeface="Calibri"/>
              <a:ea typeface="Calibri"/>
              <a:cs typeface="Calibri"/>
              <a:sym typeface="Calibri"/>
            </a:endParaRPr>
          </a:p>
        </p:txBody>
      </p:sp>
      <p:sp>
        <p:nvSpPr>
          <p:cNvPr id="585" name="Google Shape;585;p16"/>
          <p:cNvSpPr/>
          <p:nvPr/>
        </p:nvSpPr>
        <p:spPr>
          <a:xfrm>
            <a:off x="4438802" y="2514600"/>
            <a:ext cx="1501597"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8B57"/>
              </a:buClr>
              <a:buSzPts val="1700"/>
              <a:buFont typeface="Cambria"/>
              <a:buNone/>
            </a:pPr>
            <a:r>
              <a:rPr b="1" i="0" lang="en-US" sz="1700" u="none" cap="none" strike="noStrike">
                <a:solidFill>
                  <a:srgbClr val="2E8B57"/>
                </a:solidFill>
                <a:latin typeface="Cambria"/>
                <a:ea typeface="Cambria"/>
                <a:cs typeface="Cambria"/>
                <a:sym typeface="Cambria"/>
              </a:rPr>
              <a:t>61%</a:t>
            </a:r>
            <a:endParaRPr b="0" i="0" sz="1700" u="none" cap="none" strike="noStrike">
              <a:solidFill>
                <a:schemeClr val="dk1"/>
              </a:solidFill>
              <a:latin typeface="Calibri"/>
              <a:ea typeface="Calibri"/>
              <a:cs typeface="Calibri"/>
              <a:sym typeface="Calibri"/>
            </a:endParaRPr>
          </a:p>
        </p:txBody>
      </p:sp>
      <p:sp>
        <p:nvSpPr>
          <p:cNvPr id="586" name="Google Shape;586;p16"/>
          <p:cNvSpPr/>
          <p:nvPr/>
        </p:nvSpPr>
        <p:spPr>
          <a:xfrm>
            <a:off x="4438802" y="2825496"/>
            <a:ext cx="1501597"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20"/>
              <a:buFont typeface="Calibri"/>
              <a:buNone/>
            </a:pPr>
            <a:r>
              <a:rPr b="0" i="0" lang="en-US" sz="720" u="none" cap="none" strike="noStrike">
                <a:solidFill>
                  <a:srgbClr val="6B7280"/>
                </a:solidFill>
                <a:latin typeface="Calibri"/>
                <a:ea typeface="Calibri"/>
                <a:cs typeface="Calibri"/>
                <a:sym typeface="Calibri"/>
              </a:rPr>
              <a:t>prior period 54%</a:t>
            </a:r>
            <a:endParaRPr b="0" i="0" sz="720" u="none" cap="none" strike="noStrike">
              <a:solidFill>
                <a:schemeClr val="dk1"/>
              </a:solidFill>
              <a:latin typeface="Calibri"/>
              <a:ea typeface="Calibri"/>
              <a:cs typeface="Calibri"/>
              <a:sym typeface="Calibri"/>
            </a:endParaRPr>
          </a:p>
        </p:txBody>
      </p:sp>
      <p:sp>
        <p:nvSpPr>
          <p:cNvPr id="587" name="Google Shape;587;p16"/>
          <p:cNvSpPr/>
          <p:nvPr/>
        </p:nvSpPr>
        <p:spPr>
          <a:xfrm>
            <a:off x="6150712" y="2313432"/>
            <a:ext cx="1702765" cy="713232"/>
          </a:xfrm>
          <a:prstGeom prst="roundRect">
            <a:avLst>
              <a:gd fmla="val 6410" name="adj"/>
            </a:avLst>
          </a:prstGeom>
          <a:solidFill>
            <a:srgbClr val="F7F9FA"/>
          </a:solidFill>
          <a:ln cap="flat" cmpd="sng" w="9525">
            <a:solidFill>
              <a:srgbClr val="E3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6"/>
          <p:cNvSpPr/>
          <p:nvPr/>
        </p:nvSpPr>
        <p:spPr>
          <a:xfrm>
            <a:off x="6251296" y="2368296"/>
            <a:ext cx="1501597"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680"/>
              <a:buFont typeface="Calibri"/>
              <a:buNone/>
            </a:pPr>
            <a:r>
              <a:rPr b="1" i="0" lang="en-US" sz="680" u="none" cap="none" strike="noStrike">
                <a:solidFill>
                  <a:srgbClr val="6B7280"/>
                </a:solidFill>
                <a:latin typeface="Calibri"/>
                <a:ea typeface="Calibri"/>
                <a:cs typeface="Calibri"/>
                <a:sym typeface="Calibri"/>
              </a:rPr>
              <a:t>NEEDS ACTION</a:t>
            </a:r>
            <a:endParaRPr b="0" i="0" sz="680" u="none" cap="none" strike="noStrike">
              <a:solidFill>
                <a:schemeClr val="dk1"/>
              </a:solidFill>
              <a:latin typeface="Calibri"/>
              <a:ea typeface="Calibri"/>
              <a:cs typeface="Calibri"/>
              <a:sym typeface="Calibri"/>
            </a:endParaRPr>
          </a:p>
        </p:txBody>
      </p:sp>
      <p:sp>
        <p:nvSpPr>
          <p:cNvPr id="589" name="Google Shape;589;p16"/>
          <p:cNvSpPr/>
          <p:nvPr/>
        </p:nvSpPr>
        <p:spPr>
          <a:xfrm>
            <a:off x="6251296" y="2514600"/>
            <a:ext cx="1501597"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443A"/>
              </a:buClr>
              <a:buSzPts val="1700"/>
              <a:buFont typeface="Cambria"/>
              <a:buNone/>
            </a:pPr>
            <a:r>
              <a:rPr b="1" i="0" lang="en-US" sz="1700" u="none" cap="none" strike="noStrike">
                <a:solidFill>
                  <a:srgbClr val="B8443A"/>
                </a:solidFill>
                <a:latin typeface="Cambria"/>
                <a:ea typeface="Cambria"/>
                <a:cs typeface="Cambria"/>
                <a:sym typeface="Cambria"/>
              </a:rPr>
              <a:t>12,891</a:t>
            </a:r>
            <a:endParaRPr b="0" i="0" sz="1700" u="none" cap="none" strike="noStrike">
              <a:solidFill>
                <a:schemeClr val="dk1"/>
              </a:solidFill>
              <a:latin typeface="Calibri"/>
              <a:ea typeface="Calibri"/>
              <a:cs typeface="Calibri"/>
              <a:sym typeface="Calibri"/>
            </a:endParaRPr>
          </a:p>
        </p:txBody>
      </p:sp>
      <p:sp>
        <p:nvSpPr>
          <p:cNvPr id="590" name="Google Shape;590;p16"/>
          <p:cNvSpPr/>
          <p:nvPr/>
        </p:nvSpPr>
        <p:spPr>
          <a:xfrm>
            <a:off x="6251296" y="2825496"/>
            <a:ext cx="1501597"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20"/>
              <a:buFont typeface="Calibri"/>
              <a:buNone/>
            </a:pPr>
            <a:r>
              <a:rPr b="0" i="0" lang="en-US" sz="720" u="none" cap="none" strike="noStrike">
                <a:solidFill>
                  <a:srgbClr val="6B7280"/>
                </a:solidFill>
                <a:latin typeface="Calibri"/>
                <a:ea typeface="Calibri"/>
                <a:cs typeface="Calibri"/>
                <a:sym typeface="Calibri"/>
              </a:rPr>
              <a:t>39% of range</a:t>
            </a:r>
            <a:endParaRPr b="0" i="0" sz="720" u="none" cap="none" strike="noStrike">
              <a:solidFill>
                <a:schemeClr val="dk1"/>
              </a:solidFill>
              <a:latin typeface="Calibri"/>
              <a:ea typeface="Calibri"/>
              <a:cs typeface="Calibri"/>
              <a:sym typeface="Calibri"/>
            </a:endParaRPr>
          </a:p>
        </p:txBody>
      </p:sp>
      <p:sp>
        <p:nvSpPr>
          <p:cNvPr id="591" name="Google Shape;591;p16"/>
          <p:cNvSpPr/>
          <p:nvPr/>
        </p:nvSpPr>
        <p:spPr>
          <a:xfrm>
            <a:off x="7963205" y="2313432"/>
            <a:ext cx="1702765" cy="713232"/>
          </a:xfrm>
          <a:prstGeom prst="roundRect">
            <a:avLst>
              <a:gd fmla="val 6410" name="adj"/>
            </a:avLst>
          </a:prstGeom>
          <a:solidFill>
            <a:srgbClr val="F7F9FA"/>
          </a:solidFill>
          <a:ln cap="flat" cmpd="sng" w="9525">
            <a:solidFill>
              <a:srgbClr val="E3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6"/>
          <p:cNvSpPr/>
          <p:nvPr/>
        </p:nvSpPr>
        <p:spPr>
          <a:xfrm>
            <a:off x="8063789" y="2368296"/>
            <a:ext cx="1501597"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680"/>
              <a:buFont typeface="Calibri"/>
              <a:buNone/>
            </a:pPr>
            <a:r>
              <a:rPr b="1" i="0" lang="en-US" sz="680" u="none" cap="none" strike="noStrike">
                <a:solidFill>
                  <a:srgbClr val="6B7280"/>
                </a:solidFill>
                <a:latin typeface="Calibri"/>
                <a:ea typeface="Calibri"/>
                <a:cs typeface="Calibri"/>
                <a:sym typeface="Calibri"/>
              </a:rPr>
              <a:t>USERS BELOW FLOOR</a:t>
            </a:r>
            <a:endParaRPr b="0" i="0" sz="680" u="none" cap="none" strike="noStrike">
              <a:solidFill>
                <a:schemeClr val="dk1"/>
              </a:solidFill>
              <a:latin typeface="Calibri"/>
              <a:ea typeface="Calibri"/>
              <a:cs typeface="Calibri"/>
              <a:sym typeface="Calibri"/>
            </a:endParaRPr>
          </a:p>
        </p:txBody>
      </p:sp>
      <p:sp>
        <p:nvSpPr>
          <p:cNvPr id="593" name="Google Shape;593;p16"/>
          <p:cNvSpPr/>
          <p:nvPr/>
        </p:nvSpPr>
        <p:spPr>
          <a:xfrm>
            <a:off x="8063789" y="2514600"/>
            <a:ext cx="1501597"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443A"/>
              </a:buClr>
              <a:buSzPts val="1700"/>
              <a:buFont typeface="Cambria"/>
              <a:buNone/>
            </a:pPr>
            <a:r>
              <a:rPr b="1" i="0" lang="en-US" sz="1700" u="none" cap="none" strike="noStrike">
                <a:solidFill>
                  <a:srgbClr val="B8443A"/>
                </a:solidFill>
                <a:latin typeface="Cambria"/>
                <a:ea typeface="Cambria"/>
                <a:cs typeface="Cambria"/>
                <a:sym typeface="Cambria"/>
              </a:rPr>
              <a:t>11</a:t>
            </a:r>
            <a:endParaRPr b="0" i="0" sz="1700" u="none" cap="none" strike="noStrike">
              <a:solidFill>
                <a:schemeClr val="dk1"/>
              </a:solidFill>
              <a:latin typeface="Calibri"/>
              <a:ea typeface="Calibri"/>
              <a:cs typeface="Calibri"/>
              <a:sym typeface="Calibri"/>
            </a:endParaRPr>
          </a:p>
        </p:txBody>
      </p:sp>
      <p:sp>
        <p:nvSpPr>
          <p:cNvPr id="594" name="Google Shape;594;p16"/>
          <p:cNvSpPr/>
          <p:nvPr/>
        </p:nvSpPr>
        <p:spPr>
          <a:xfrm>
            <a:off x="8063789" y="2825496"/>
            <a:ext cx="1501597"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20"/>
              <a:buFont typeface="Calibri"/>
              <a:buNone/>
            </a:pPr>
            <a:r>
              <a:rPr b="0" i="0" lang="en-US" sz="720" u="none" cap="none" strike="noStrike">
                <a:solidFill>
                  <a:srgbClr val="6B7280"/>
                </a:solidFill>
                <a:latin typeface="Calibri"/>
                <a:ea typeface="Calibri"/>
                <a:cs typeface="Calibri"/>
                <a:sym typeface="Calibri"/>
              </a:rPr>
              <a:t>of 48 active</a:t>
            </a:r>
            <a:endParaRPr b="0" i="0" sz="720" u="none" cap="none" strike="noStrike">
              <a:solidFill>
                <a:schemeClr val="dk1"/>
              </a:solidFill>
              <a:latin typeface="Calibri"/>
              <a:ea typeface="Calibri"/>
              <a:cs typeface="Calibri"/>
              <a:sym typeface="Calibri"/>
            </a:endParaRPr>
          </a:p>
        </p:txBody>
      </p:sp>
      <p:sp>
        <p:nvSpPr>
          <p:cNvPr id="595" name="Google Shape;595;p16"/>
          <p:cNvSpPr/>
          <p:nvPr/>
        </p:nvSpPr>
        <p:spPr>
          <a:xfrm>
            <a:off x="9775698" y="2313432"/>
            <a:ext cx="1702765" cy="713232"/>
          </a:xfrm>
          <a:prstGeom prst="roundRect">
            <a:avLst>
              <a:gd fmla="val 6410" name="adj"/>
            </a:avLst>
          </a:prstGeom>
          <a:solidFill>
            <a:srgbClr val="F7F9FA"/>
          </a:solidFill>
          <a:ln cap="flat" cmpd="sng" w="9525">
            <a:solidFill>
              <a:srgbClr val="E3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6"/>
          <p:cNvSpPr/>
          <p:nvPr/>
        </p:nvSpPr>
        <p:spPr>
          <a:xfrm>
            <a:off x="9876282" y="2368296"/>
            <a:ext cx="1501597"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680"/>
              <a:buFont typeface="Calibri"/>
              <a:buNone/>
            </a:pPr>
            <a:r>
              <a:rPr b="1" i="0" lang="en-US" sz="680" u="none" cap="none" strike="noStrike">
                <a:solidFill>
                  <a:srgbClr val="6B7280"/>
                </a:solidFill>
                <a:latin typeface="Calibri"/>
                <a:ea typeface="Calibri"/>
                <a:cs typeface="Calibri"/>
                <a:sym typeface="Calibri"/>
              </a:rPr>
              <a:t>DUPLICATE CLUSTERS</a:t>
            </a:r>
            <a:endParaRPr b="0" i="0" sz="680" u="none" cap="none" strike="noStrike">
              <a:solidFill>
                <a:schemeClr val="dk1"/>
              </a:solidFill>
              <a:latin typeface="Calibri"/>
              <a:ea typeface="Calibri"/>
              <a:cs typeface="Calibri"/>
              <a:sym typeface="Calibri"/>
            </a:endParaRPr>
          </a:p>
        </p:txBody>
      </p:sp>
      <p:sp>
        <p:nvSpPr>
          <p:cNvPr id="597" name="Google Shape;597;p16"/>
          <p:cNvSpPr/>
          <p:nvPr/>
        </p:nvSpPr>
        <p:spPr>
          <a:xfrm>
            <a:off x="9876282" y="2514600"/>
            <a:ext cx="1501597"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7700"/>
              </a:buClr>
              <a:buSzPts val="1700"/>
              <a:buFont typeface="Cambria"/>
              <a:buNone/>
            </a:pPr>
            <a:r>
              <a:rPr b="1" i="0" lang="en-US" sz="1700" u="none" cap="none" strike="noStrike">
                <a:solidFill>
                  <a:srgbClr val="C77700"/>
                </a:solidFill>
                <a:latin typeface="Cambria"/>
                <a:ea typeface="Cambria"/>
                <a:cs typeface="Cambria"/>
                <a:sym typeface="Cambria"/>
              </a:rPr>
              <a:t>1,204</a:t>
            </a:r>
            <a:endParaRPr b="0" i="0" sz="1700" u="none" cap="none" strike="noStrike">
              <a:solidFill>
                <a:schemeClr val="dk1"/>
              </a:solidFill>
              <a:latin typeface="Calibri"/>
              <a:ea typeface="Calibri"/>
              <a:cs typeface="Calibri"/>
              <a:sym typeface="Calibri"/>
            </a:endParaRPr>
          </a:p>
        </p:txBody>
      </p:sp>
      <p:sp>
        <p:nvSpPr>
          <p:cNvPr id="598" name="Google Shape;598;p16"/>
          <p:cNvSpPr/>
          <p:nvPr/>
        </p:nvSpPr>
        <p:spPr>
          <a:xfrm>
            <a:off x="9876282" y="2825496"/>
            <a:ext cx="1501597"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20"/>
              <a:buFont typeface="Calibri"/>
              <a:buNone/>
            </a:pPr>
            <a:r>
              <a:rPr b="0" i="0" lang="en-US" sz="720" u="none" cap="none" strike="noStrike">
                <a:solidFill>
                  <a:srgbClr val="6B7280"/>
                </a:solidFill>
                <a:latin typeface="Calibri"/>
                <a:ea typeface="Calibri"/>
                <a:cs typeface="Calibri"/>
                <a:sym typeface="Calibri"/>
              </a:rPr>
              <a:t>9% of range</a:t>
            </a:r>
            <a:endParaRPr b="0" i="0" sz="720" u="none" cap="none" strike="noStrike">
              <a:solidFill>
                <a:schemeClr val="dk1"/>
              </a:solidFill>
              <a:latin typeface="Calibri"/>
              <a:ea typeface="Calibri"/>
              <a:cs typeface="Calibri"/>
              <a:sym typeface="Calibri"/>
            </a:endParaRPr>
          </a:p>
        </p:txBody>
      </p:sp>
      <p:sp>
        <p:nvSpPr>
          <p:cNvPr id="599" name="Google Shape;599;p16"/>
          <p:cNvSpPr/>
          <p:nvPr/>
        </p:nvSpPr>
        <p:spPr>
          <a:xfrm>
            <a:off x="713232" y="3136392"/>
            <a:ext cx="2240280" cy="2066544"/>
          </a:xfrm>
          <a:prstGeom prst="rect">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600" name="Google Shape;600;p16"/>
          <p:cNvGraphicFramePr/>
          <p:nvPr/>
        </p:nvGraphicFramePr>
        <p:xfrm>
          <a:off x="896112" y="3227832"/>
          <a:ext cx="1600200" cy="1280160"/>
        </p:xfrm>
        <a:graphic>
          <a:graphicData uri="http://schemas.openxmlformats.org/drawingml/2006/chart">
            <c:chart r:id="rId3"/>
          </a:graphicData>
        </a:graphic>
      </p:graphicFrame>
      <p:sp>
        <p:nvSpPr>
          <p:cNvPr id="601" name="Google Shape;601;p16"/>
          <p:cNvSpPr/>
          <p:nvPr/>
        </p:nvSpPr>
        <p:spPr>
          <a:xfrm>
            <a:off x="896112" y="3703320"/>
            <a:ext cx="160020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46B73"/>
              </a:buClr>
              <a:buSzPts val="2400"/>
              <a:buFont typeface="Cambria"/>
              <a:buNone/>
            </a:pPr>
            <a:r>
              <a:rPr b="1" i="0" lang="en-US" sz="2400" u="none" cap="none" strike="noStrike">
                <a:solidFill>
                  <a:srgbClr val="046B73"/>
                </a:solidFill>
                <a:latin typeface="Cambria"/>
                <a:ea typeface="Cambria"/>
                <a:cs typeface="Cambria"/>
                <a:sym typeface="Cambria"/>
              </a:rPr>
              <a:t>53</a:t>
            </a:r>
            <a:endParaRPr b="0" i="0" sz="2400" u="none" cap="none" strike="noStrike">
              <a:solidFill>
                <a:schemeClr val="dk1"/>
              </a:solidFill>
              <a:latin typeface="Calibri"/>
              <a:ea typeface="Calibri"/>
              <a:cs typeface="Calibri"/>
              <a:sym typeface="Calibri"/>
            </a:endParaRPr>
          </a:p>
        </p:txBody>
      </p:sp>
      <p:sp>
        <p:nvSpPr>
          <p:cNvPr id="602" name="Google Shape;602;p16"/>
          <p:cNvSpPr/>
          <p:nvPr/>
        </p:nvSpPr>
        <p:spPr>
          <a:xfrm>
            <a:off x="896112" y="4069080"/>
            <a:ext cx="1600200"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A3AD"/>
              </a:buClr>
              <a:buSzPts val="700"/>
              <a:buFont typeface="Calibri"/>
              <a:buNone/>
            </a:pPr>
            <a:r>
              <a:rPr b="0" i="0" lang="en-US" sz="700" u="none" cap="none" strike="noStrike">
                <a:solidFill>
                  <a:srgbClr val="9AA3AD"/>
                </a:solidFill>
                <a:latin typeface="Calibri"/>
                <a:ea typeface="Calibri"/>
                <a:cs typeface="Calibri"/>
                <a:sym typeface="Calibri"/>
              </a:rPr>
              <a:t>of 100</a:t>
            </a:r>
            <a:endParaRPr b="0" i="0" sz="700" u="none" cap="none" strike="noStrike">
              <a:solidFill>
                <a:schemeClr val="dk1"/>
              </a:solidFill>
              <a:latin typeface="Calibri"/>
              <a:ea typeface="Calibri"/>
              <a:cs typeface="Calibri"/>
              <a:sym typeface="Calibri"/>
            </a:endParaRPr>
          </a:p>
        </p:txBody>
      </p:sp>
      <p:sp>
        <p:nvSpPr>
          <p:cNvPr id="603" name="Google Shape;603;p16"/>
          <p:cNvSpPr/>
          <p:nvPr/>
        </p:nvSpPr>
        <p:spPr>
          <a:xfrm>
            <a:off x="1353312" y="4562856"/>
            <a:ext cx="868680" cy="201168"/>
          </a:xfrm>
          <a:prstGeom prst="roundRect">
            <a:avLst>
              <a:gd fmla="val 27273" name="adj"/>
            </a:avLst>
          </a:prstGeom>
          <a:solidFill>
            <a:srgbClr val="C77700"/>
          </a:solidFill>
          <a:ln cap="flat" cmpd="sng" w="12700">
            <a:solidFill>
              <a:srgbClr val="C77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6"/>
          <p:cNvSpPr/>
          <p:nvPr/>
        </p:nvSpPr>
        <p:spPr>
          <a:xfrm>
            <a:off x="1353312" y="4562856"/>
            <a:ext cx="86868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AT RISK</a:t>
            </a:r>
            <a:endParaRPr b="0" i="0" sz="760" u="none" cap="none" strike="noStrike">
              <a:solidFill>
                <a:schemeClr val="dk1"/>
              </a:solidFill>
              <a:latin typeface="Calibri"/>
              <a:ea typeface="Calibri"/>
              <a:cs typeface="Calibri"/>
              <a:sym typeface="Calibri"/>
            </a:endParaRPr>
          </a:p>
        </p:txBody>
      </p:sp>
      <p:sp>
        <p:nvSpPr>
          <p:cNvPr id="605" name="Google Shape;605;p16"/>
          <p:cNvSpPr/>
          <p:nvPr/>
        </p:nvSpPr>
        <p:spPr>
          <a:xfrm>
            <a:off x="758952" y="4837176"/>
            <a:ext cx="214884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760"/>
              <a:buFont typeface="Calibri"/>
              <a:buNone/>
            </a:pPr>
            <a:r>
              <a:rPr b="0" i="0" lang="en-US" sz="760" u="none" cap="none" strike="noStrike">
                <a:solidFill>
                  <a:srgbClr val="6B7280"/>
                </a:solidFill>
                <a:latin typeface="Calibri"/>
                <a:ea typeface="Calibri"/>
                <a:cs typeface="Calibri"/>
                <a:sym typeface="Calibri"/>
              </a:rPr>
              <a:t>Prior period 47   ·   Peer median 68</a:t>
            </a:r>
            <a:endParaRPr b="0" i="0" sz="760" u="none" cap="none" strike="noStrike">
              <a:solidFill>
                <a:schemeClr val="dk1"/>
              </a:solidFill>
              <a:latin typeface="Calibri"/>
              <a:ea typeface="Calibri"/>
              <a:cs typeface="Calibri"/>
              <a:sym typeface="Calibri"/>
            </a:endParaRPr>
          </a:p>
        </p:txBody>
      </p:sp>
      <p:sp>
        <p:nvSpPr>
          <p:cNvPr id="606" name="Google Shape;606;p16"/>
          <p:cNvSpPr/>
          <p:nvPr/>
        </p:nvSpPr>
        <p:spPr>
          <a:xfrm>
            <a:off x="758952" y="5001768"/>
            <a:ext cx="214884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B7280"/>
              </a:buClr>
              <a:buSzPts val="760"/>
              <a:buFont typeface="Calibri"/>
              <a:buNone/>
            </a:pPr>
            <a:r>
              <a:rPr b="0" i="0" lang="en-US" sz="760" u="none" cap="none" strike="noStrike">
                <a:solidFill>
                  <a:srgbClr val="6B7280"/>
                </a:solidFill>
                <a:latin typeface="Calibri"/>
                <a:ea typeface="Calibri"/>
                <a:cs typeface="Calibri"/>
                <a:sym typeface="Calibri"/>
              </a:rPr>
              <a:t>Full history score 52</a:t>
            </a:r>
            <a:endParaRPr b="0" i="0" sz="760" u="none" cap="none" strike="noStrike">
              <a:solidFill>
                <a:schemeClr val="dk1"/>
              </a:solidFill>
              <a:latin typeface="Calibri"/>
              <a:ea typeface="Calibri"/>
              <a:cs typeface="Calibri"/>
              <a:sym typeface="Calibri"/>
            </a:endParaRPr>
          </a:p>
        </p:txBody>
      </p:sp>
      <p:sp>
        <p:nvSpPr>
          <p:cNvPr id="607" name="Google Shape;607;p16"/>
          <p:cNvSpPr/>
          <p:nvPr/>
        </p:nvSpPr>
        <p:spPr>
          <a:xfrm>
            <a:off x="3090672" y="3136392"/>
            <a:ext cx="4526280" cy="2066544"/>
          </a:xfrm>
          <a:prstGeom prst="rect">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6"/>
          <p:cNvSpPr/>
          <p:nvPr/>
        </p:nvSpPr>
        <p:spPr>
          <a:xfrm>
            <a:off x="3200400" y="3191256"/>
            <a:ext cx="429768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40"/>
              <a:buFont typeface="Calibri"/>
              <a:buNone/>
            </a:pPr>
            <a:r>
              <a:rPr b="1" i="0" lang="en-US" sz="740" u="none" cap="none" strike="noStrike">
                <a:solidFill>
                  <a:srgbClr val="6B7280"/>
                </a:solidFill>
                <a:latin typeface="Calibri"/>
                <a:ea typeface="Calibri"/>
                <a:cs typeface="Calibri"/>
                <a:sym typeface="Calibri"/>
              </a:rPr>
              <a:t>RECORD STATES IN RANGE  ·  33,055 records</a:t>
            </a:r>
            <a:endParaRPr b="0" i="0" sz="740" u="none" cap="none" strike="noStrike">
              <a:solidFill>
                <a:schemeClr val="dk1"/>
              </a:solidFill>
              <a:latin typeface="Calibri"/>
              <a:ea typeface="Calibri"/>
              <a:cs typeface="Calibri"/>
              <a:sym typeface="Calibri"/>
            </a:endParaRPr>
          </a:p>
        </p:txBody>
      </p:sp>
      <p:sp>
        <p:nvSpPr>
          <p:cNvPr id="609" name="Google Shape;609;p16"/>
          <p:cNvSpPr/>
          <p:nvPr/>
        </p:nvSpPr>
        <p:spPr>
          <a:xfrm>
            <a:off x="3200400" y="3374136"/>
            <a:ext cx="2621585" cy="237744"/>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6"/>
          <p:cNvSpPr/>
          <p:nvPr/>
        </p:nvSpPr>
        <p:spPr>
          <a:xfrm>
            <a:off x="3200400" y="3374136"/>
            <a:ext cx="2621585"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Calibri"/>
              <a:buNone/>
            </a:pPr>
            <a:r>
              <a:rPr b="1" i="0" lang="en-US" sz="720" u="none" cap="none" strike="noStrike">
                <a:solidFill>
                  <a:srgbClr val="FFFFFF"/>
                </a:solidFill>
                <a:latin typeface="Calibri"/>
                <a:ea typeface="Calibri"/>
                <a:cs typeface="Calibri"/>
                <a:sym typeface="Calibri"/>
              </a:rPr>
              <a:t>61%</a:t>
            </a:r>
            <a:endParaRPr b="0" i="0" sz="720" u="none" cap="none" strike="noStrike">
              <a:solidFill>
                <a:schemeClr val="dk1"/>
              </a:solidFill>
              <a:latin typeface="Calibri"/>
              <a:ea typeface="Calibri"/>
              <a:cs typeface="Calibri"/>
              <a:sym typeface="Calibri"/>
            </a:endParaRPr>
          </a:p>
        </p:txBody>
      </p:sp>
      <p:sp>
        <p:nvSpPr>
          <p:cNvPr id="611" name="Google Shape;611;p16"/>
          <p:cNvSpPr/>
          <p:nvPr/>
        </p:nvSpPr>
        <p:spPr>
          <a:xfrm>
            <a:off x="5821985" y="3374136"/>
            <a:ext cx="730606" cy="237744"/>
          </a:xfrm>
          <a:prstGeom prst="rect">
            <a:avLst/>
          </a:prstGeom>
          <a:solidFill>
            <a:srgbClr val="E0A33C"/>
          </a:solidFill>
          <a:ln cap="flat" cmpd="sng" w="12700">
            <a:solidFill>
              <a:srgbClr val="E0A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6"/>
          <p:cNvSpPr/>
          <p:nvPr/>
        </p:nvSpPr>
        <p:spPr>
          <a:xfrm>
            <a:off x="5821985" y="3374136"/>
            <a:ext cx="73060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Calibri"/>
              <a:buNone/>
            </a:pPr>
            <a:r>
              <a:rPr b="1" i="0" lang="en-US" sz="720" u="none" cap="none" strike="noStrike">
                <a:solidFill>
                  <a:srgbClr val="FFFFFF"/>
                </a:solidFill>
                <a:latin typeface="Calibri"/>
                <a:ea typeface="Calibri"/>
                <a:cs typeface="Calibri"/>
                <a:sym typeface="Calibri"/>
              </a:rPr>
              <a:t>17%</a:t>
            </a:r>
            <a:endParaRPr b="0" i="0" sz="720" u="none" cap="none" strike="noStrike">
              <a:solidFill>
                <a:schemeClr val="dk1"/>
              </a:solidFill>
              <a:latin typeface="Calibri"/>
              <a:ea typeface="Calibri"/>
              <a:cs typeface="Calibri"/>
              <a:sym typeface="Calibri"/>
            </a:endParaRPr>
          </a:p>
        </p:txBody>
      </p:sp>
      <p:sp>
        <p:nvSpPr>
          <p:cNvPr id="613" name="Google Shape;613;p16"/>
          <p:cNvSpPr/>
          <p:nvPr/>
        </p:nvSpPr>
        <p:spPr>
          <a:xfrm>
            <a:off x="6552590" y="3374136"/>
            <a:ext cx="386791" cy="237744"/>
          </a:xfrm>
          <a:prstGeom prst="rect">
            <a:avLst/>
          </a:prstGeom>
          <a:solidFill>
            <a:srgbClr val="D1603D"/>
          </a:solidFill>
          <a:ln cap="flat" cmpd="sng" w="12700">
            <a:solidFill>
              <a:srgbClr val="D16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6"/>
          <p:cNvSpPr/>
          <p:nvPr/>
        </p:nvSpPr>
        <p:spPr>
          <a:xfrm>
            <a:off x="6939382" y="3374136"/>
            <a:ext cx="171907" cy="237744"/>
          </a:xfrm>
          <a:prstGeom prst="rect">
            <a:avLst/>
          </a:prstGeom>
          <a:solidFill>
            <a:srgbClr val="7A5AA6"/>
          </a:solidFill>
          <a:ln cap="flat" cmpd="sng" w="12700">
            <a:solidFill>
              <a:srgbClr val="7A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6"/>
          <p:cNvSpPr/>
          <p:nvPr/>
        </p:nvSpPr>
        <p:spPr>
          <a:xfrm>
            <a:off x="7111289" y="3374136"/>
            <a:ext cx="257861" cy="237744"/>
          </a:xfrm>
          <a:prstGeom prst="rect">
            <a:avLst/>
          </a:prstGeom>
          <a:solidFill>
            <a:srgbClr val="4A87A8"/>
          </a:solidFill>
          <a:ln cap="flat" cmpd="sng" w="12700">
            <a:solidFill>
              <a:srgbClr val="4A8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6"/>
          <p:cNvSpPr/>
          <p:nvPr/>
        </p:nvSpPr>
        <p:spPr>
          <a:xfrm>
            <a:off x="7369150" y="3374136"/>
            <a:ext cx="128930" cy="237744"/>
          </a:xfrm>
          <a:prstGeom prst="rect">
            <a:avLst/>
          </a:prstGeom>
          <a:solidFill>
            <a:srgbClr val="A8352B"/>
          </a:solidFill>
          <a:ln cap="flat" cmpd="sng" w="12700">
            <a:solidFill>
              <a:srgbClr val="A835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6"/>
          <p:cNvSpPr/>
          <p:nvPr/>
        </p:nvSpPr>
        <p:spPr>
          <a:xfrm>
            <a:off x="3200400" y="3374136"/>
            <a:ext cx="4297680" cy="237744"/>
          </a:xfrm>
          <a:prstGeom prst="rect">
            <a:avLst/>
          </a:prstGeom>
          <a:solidFill>
            <a:srgbClr val="FFFFFF">
              <a:alpha val="0"/>
            </a:srgbClr>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6"/>
          <p:cNvSpPr/>
          <p:nvPr/>
        </p:nvSpPr>
        <p:spPr>
          <a:xfrm>
            <a:off x="3200400" y="3703320"/>
            <a:ext cx="100584" cy="100584"/>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6"/>
          <p:cNvSpPr/>
          <p:nvPr/>
        </p:nvSpPr>
        <p:spPr>
          <a:xfrm>
            <a:off x="3346704" y="3648456"/>
            <a:ext cx="354787"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3038"/>
              </a:buClr>
              <a:buSzPts val="700"/>
              <a:buFont typeface="Calibri"/>
              <a:buNone/>
            </a:pPr>
            <a:r>
              <a:rPr b="0" i="0" lang="en-US" sz="700" u="none" cap="none" strike="noStrike">
                <a:solidFill>
                  <a:srgbClr val="2B3038"/>
                </a:solidFill>
                <a:latin typeface="Calibri"/>
                <a:ea typeface="Calibri"/>
                <a:cs typeface="Calibri"/>
                <a:sym typeface="Calibri"/>
              </a:rPr>
              <a:t>Proper</a:t>
            </a:r>
            <a:endParaRPr b="0" i="0" sz="700" u="none" cap="none" strike="noStrike">
              <a:solidFill>
                <a:schemeClr val="dk1"/>
              </a:solidFill>
              <a:latin typeface="Calibri"/>
              <a:ea typeface="Calibri"/>
              <a:cs typeface="Calibri"/>
              <a:sym typeface="Calibri"/>
            </a:endParaRPr>
          </a:p>
        </p:txBody>
      </p:sp>
      <p:sp>
        <p:nvSpPr>
          <p:cNvPr id="620" name="Google Shape;620;p16"/>
          <p:cNvSpPr/>
          <p:nvPr/>
        </p:nvSpPr>
        <p:spPr>
          <a:xfrm>
            <a:off x="3811219" y="3703320"/>
            <a:ext cx="100584" cy="100584"/>
          </a:xfrm>
          <a:prstGeom prst="rect">
            <a:avLst/>
          </a:prstGeom>
          <a:solidFill>
            <a:srgbClr val="E0A33C"/>
          </a:solidFill>
          <a:ln cap="flat" cmpd="sng" w="12700">
            <a:solidFill>
              <a:srgbClr val="E0A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6"/>
          <p:cNvSpPr/>
          <p:nvPr/>
        </p:nvSpPr>
        <p:spPr>
          <a:xfrm>
            <a:off x="3957523" y="3648456"/>
            <a:ext cx="53035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3038"/>
              </a:buClr>
              <a:buSzPts val="700"/>
              <a:buFont typeface="Calibri"/>
              <a:buNone/>
            </a:pPr>
            <a:r>
              <a:rPr b="0" i="0" lang="en-US" sz="700" u="none" cap="none" strike="noStrike">
                <a:solidFill>
                  <a:srgbClr val="2B3038"/>
                </a:solidFill>
                <a:latin typeface="Calibri"/>
                <a:ea typeface="Calibri"/>
                <a:cs typeface="Calibri"/>
                <a:sym typeface="Calibri"/>
              </a:rPr>
              <a:t>Incomplete</a:t>
            </a:r>
            <a:endParaRPr b="0" i="0" sz="700" u="none" cap="none" strike="noStrike">
              <a:solidFill>
                <a:schemeClr val="dk1"/>
              </a:solidFill>
              <a:latin typeface="Calibri"/>
              <a:ea typeface="Calibri"/>
              <a:cs typeface="Calibri"/>
              <a:sym typeface="Calibri"/>
            </a:endParaRPr>
          </a:p>
        </p:txBody>
      </p:sp>
      <p:sp>
        <p:nvSpPr>
          <p:cNvPr id="622" name="Google Shape;622;p16"/>
          <p:cNvSpPr/>
          <p:nvPr/>
        </p:nvSpPr>
        <p:spPr>
          <a:xfrm>
            <a:off x="4597603" y="3703320"/>
            <a:ext cx="100584" cy="100584"/>
          </a:xfrm>
          <a:prstGeom prst="rect">
            <a:avLst/>
          </a:prstGeom>
          <a:solidFill>
            <a:srgbClr val="D1603D"/>
          </a:solidFill>
          <a:ln cap="flat" cmpd="sng" w="12700">
            <a:solidFill>
              <a:srgbClr val="D16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6"/>
          <p:cNvSpPr/>
          <p:nvPr/>
        </p:nvSpPr>
        <p:spPr>
          <a:xfrm>
            <a:off x="4743907" y="3648456"/>
            <a:ext cx="53035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3038"/>
              </a:buClr>
              <a:buSzPts val="700"/>
              <a:buFont typeface="Calibri"/>
              <a:buNone/>
            </a:pPr>
            <a:r>
              <a:rPr b="0" i="0" lang="en-US" sz="700" u="none" cap="none" strike="noStrike">
                <a:solidFill>
                  <a:srgbClr val="2B3038"/>
                </a:solidFill>
                <a:latin typeface="Calibri"/>
                <a:ea typeface="Calibri"/>
                <a:cs typeface="Calibri"/>
                <a:sym typeface="Calibri"/>
              </a:rPr>
              <a:t>Inaccurate</a:t>
            </a:r>
            <a:endParaRPr b="0" i="0" sz="700" u="none" cap="none" strike="noStrike">
              <a:solidFill>
                <a:schemeClr val="dk1"/>
              </a:solidFill>
              <a:latin typeface="Calibri"/>
              <a:ea typeface="Calibri"/>
              <a:cs typeface="Calibri"/>
              <a:sym typeface="Calibri"/>
            </a:endParaRPr>
          </a:p>
        </p:txBody>
      </p:sp>
      <p:sp>
        <p:nvSpPr>
          <p:cNvPr id="624" name="Google Shape;624;p16"/>
          <p:cNvSpPr/>
          <p:nvPr/>
        </p:nvSpPr>
        <p:spPr>
          <a:xfrm>
            <a:off x="3200400" y="3867912"/>
            <a:ext cx="100584" cy="100584"/>
          </a:xfrm>
          <a:prstGeom prst="rect">
            <a:avLst/>
          </a:prstGeom>
          <a:solidFill>
            <a:srgbClr val="7A5AA6"/>
          </a:solidFill>
          <a:ln cap="flat" cmpd="sng" w="12700">
            <a:solidFill>
              <a:srgbClr val="7A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6"/>
          <p:cNvSpPr/>
          <p:nvPr/>
        </p:nvSpPr>
        <p:spPr>
          <a:xfrm>
            <a:off x="3346704" y="3813048"/>
            <a:ext cx="530352"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3038"/>
              </a:buClr>
              <a:buSzPts val="700"/>
              <a:buFont typeface="Calibri"/>
              <a:buNone/>
            </a:pPr>
            <a:r>
              <a:rPr b="0" i="0" lang="en-US" sz="700" u="none" cap="none" strike="noStrike">
                <a:solidFill>
                  <a:srgbClr val="2B3038"/>
                </a:solidFill>
                <a:latin typeface="Calibri"/>
                <a:ea typeface="Calibri"/>
                <a:cs typeface="Calibri"/>
                <a:sym typeface="Calibri"/>
              </a:rPr>
              <a:t>Suspicious</a:t>
            </a:r>
            <a:endParaRPr b="0" i="0" sz="700" u="none" cap="none" strike="noStrike">
              <a:solidFill>
                <a:schemeClr val="dk1"/>
              </a:solidFill>
              <a:latin typeface="Calibri"/>
              <a:ea typeface="Calibri"/>
              <a:cs typeface="Calibri"/>
              <a:sym typeface="Calibri"/>
            </a:endParaRPr>
          </a:p>
        </p:txBody>
      </p:sp>
      <p:sp>
        <p:nvSpPr>
          <p:cNvPr id="626" name="Google Shape;626;p16"/>
          <p:cNvSpPr/>
          <p:nvPr/>
        </p:nvSpPr>
        <p:spPr>
          <a:xfrm>
            <a:off x="3986784" y="3867912"/>
            <a:ext cx="100584" cy="100584"/>
          </a:xfrm>
          <a:prstGeom prst="rect">
            <a:avLst/>
          </a:prstGeom>
          <a:solidFill>
            <a:srgbClr val="4A87A8"/>
          </a:solidFill>
          <a:ln cap="flat" cmpd="sng" w="12700">
            <a:solidFill>
              <a:srgbClr val="4A8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6"/>
          <p:cNvSpPr/>
          <p:nvPr/>
        </p:nvSpPr>
        <p:spPr>
          <a:xfrm>
            <a:off x="4133088" y="3813048"/>
            <a:ext cx="925373"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3038"/>
              </a:buClr>
              <a:buSzPts val="700"/>
              <a:buFont typeface="Calibri"/>
              <a:buNone/>
            </a:pPr>
            <a:r>
              <a:rPr b="0" i="0" lang="en-US" sz="700" u="none" cap="none" strike="noStrike">
                <a:solidFill>
                  <a:srgbClr val="2B3038"/>
                </a:solidFill>
                <a:latin typeface="Calibri"/>
                <a:ea typeface="Calibri"/>
                <a:cs typeface="Calibri"/>
                <a:sym typeface="Calibri"/>
              </a:rPr>
              <a:t>Suspected duplicate</a:t>
            </a:r>
            <a:endParaRPr b="0" i="0" sz="700" u="none" cap="none" strike="noStrike">
              <a:solidFill>
                <a:schemeClr val="dk1"/>
              </a:solidFill>
              <a:latin typeface="Calibri"/>
              <a:ea typeface="Calibri"/>
              <a:cs typeface="Calibri"/>
              <a:sym typeface="Calibri"/>
            </a:endParaRPr>
          </a:p>
        </p:txBody>
      </p:sp>
      <p:sp>
        <p:nvSpPr>
          <p:cNvPr id="628" name="Google Shape;628;p16"/>
          <p:cNvSpPr/>
          <p:nvPr/>
        </p:nvSpPr>
        <p:spPr>
          <a:xfrm>
            <a:off x="5168189" y="3867912"/>
            <a:ext cx="100584" cy="100584"/>
          </a:xfrm>
          <a:prstGeom prst="rect">
            <a:avLst/>
          </a:prstGeom>
          <a:solidFill>
            <a:srgbClr val="A8352B"/>
          </a:solidFill>
          <a:ln cap="flat" cmpd="sng" w="12700">
            <a:solidFill>
              <a:srgbClr val="A835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6"/>
          <p:cNvSpPr/>
          <p:nvPr/>
        </p:nvSpPr>
        <p:spPr>
          <a:xfrm>
            <a:off x="5314493" y="3813048"/>
            <a:ext cx="925373"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3038"/>
              </a:buClr>
              <a:buSzPts val="700"/>
              <a:buFont typeface="Calibri"/>
              <a:buNone/>
            </a:pPr>
            <a:r>
              <a:rPr b="0" i="0" lang="en-US" sz="700" u="none" cap="none" strike="noStrike">
                <a:solidFill>
                  <a:srgbClr val="2B3038"/>
                </a:solidFill>
                <a:latin typeface="Calibri"/>
                <a:ea typeface="Calibri"/>
                <a:cs typeface="Calibri"/>
                <a:sym typeface="Calibri"/>
              </a:rPr>
              <a:t>Confirmed duplicate</a:t>
            </a:r>
            <a:endParaRPr b="0" i="0" sz="700" u="none" cap="none" strike="noStrike">
              <a:solidFill>
                <a:schemeClr val="dk1"/>
              </a:solidFill>
              <a:latin typeface="Calibri"/>
              <a:ea typeface="Calibri"/>
              <a:cs typeface="Calibri"/>
              <a:sym typeface="Calibri"/>
            </a:endParaRPr>
          </a:p>
        </p:txBody>
      </p:sp>
      <p:sp>
        <p:nvSpPr>
          <p:cNvPr id="630" name="Google Shape;630;p16"/>
          <p:cNvSpPr/>
          <p:nvPr/>
        </p:nvSpPr>
        <p:spPr>
          <a:xfrm>
            <a:off x="3200400" y="4050792"/>
            <a:ext cx="429768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40"/>
              <a:buFont typeface="Calibri"/>
              <a:buNone/>
            </a:pPr>
            <a:r>
              <a:rPr b="1" i="0" lang="en-US" sz="740" u="none" cap="none" strike="noStrike">
                <a:solidFill>
                  <a:srgbClr val="6B7280"/>
                </a:solidFill>
                <a:latin typeface="Calibri"/>
                <a:ea typeface="Calibri"/>
                <a:cs typeface="Calibri"/>
                <a:sym typeface="Calibri"/>
              </a:rPr>
              <a:t>DOMAIN SCORES IN RANGE</a:t>
            </a:r>
            <a:endParaRPr b="0" i="0" sz="740" u="none" cap="none" strike="noStrike">
              <a:solidFill>
                <a:schemeClr val="dk1"/>
              </a:solidFill>
              <a:latin typeface="Calibri"/>
              <a:ea typeface="Calibri"/>
              <a:cs typeface="Calibri"/>
              <a:sym typeface="Calibri"/>
            </a:endParaRPr>
          </a:p>
        </p:txBody>
      </p:sp>
      <p:sp>
        <p:nvSpPr>
          <p:cNvPr id="631" name="Google Shape;631;p16"/>
          <p:cNvSpPr/>
          <p:nvPr/>
        </p:nvSpPr>
        <p:spPr>
          <a:xfrm>
            <a:off x="3200400" y="4233672"/>
            <a:ext cx="9601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40"/>
              <a:buFont typeface="Calibri"/>
              <a:buNone/>
            </a:pPr>
            <a:r>
              <a:rPr b="0" i="0" lang="en-US" sz="740" u="none" cap="none" strike="noStrike">
                <a:solidFill>
                  <a:srgbClr val="1B1F24"/>
                </a:solidFill>
                <a:latin typeface="Calibri"/>
                <a:ea typeface="Calibri"/>
                <a:cs typeface="Calibri"/>
                <a:sym typeface="Calibri"/>
              </a:rPr>
              <a:t>Completeness</a:t>
            </a:r>
            <a:endParaRPr b="0" i="0" sz="740" u="none" cap="none" strike="noStrike">
              <a:solidFill>
                <a:schemeClr val="dk1"/>
              </a:solidFill>
              <a:latin typeface="Calibri"/>
              <a:ea typeface="Calibri"/>
              <a:cs typeface="Calibri"/>
              <a:sym typeface="Calibri"/>
            </a:endParaRPr>
          </a:p>
        </p:txBody>
      </p:sp>
      <p:sp>
        <p:nvSpPr>
          <p:cNvPr id="632" name="Google Shape;632;p16"/>
          <p:cNvSpPr/>
          <p:nvPr/>
        </p:nvSpPr>
        <p:spPr>
          <a:xfrm>
            <a:off x="4206240" y="4270248"/>
            <a:ext cx="704088" cy="118872"/>
          </a:xfrm>
          <a:prstGeom prst="roundRect">
            <a:avLst>
              <a:gd fmla="val 23077"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6"/>
          <p:cNvSpPr/>
          <p:nvPr/>
        </p:nvSpPr>
        <p:spPr>
          <a:xfrm>
            <a:off x="4206240" y="4270248"/>
            <a:ext cx="408371" cy="118872"/>
          </a:xfrm>
          <a:prstGeom prst="roundRect">
            <a:avLst>
              <a:gd fmla="val 23077" name="adj"/>
            </a:avLst>
          </a:prstGeom>
          <a:solidFill>
            <a:srgbClr val="D9A23C"/>
          </a:solidFill>
          <a:ln cap="flat" cmpd="sng" w="12700">
            <a:solidFill>
              <a:srgbClr val="D9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6"/>
          <p:cNvSpPr/>
          <p:nvPr/>
        </p:nvSpPr>
        <p:spPr>
          <a:xfrm>
            <a:off x="4956048" y="4233672"/>
            <a:ext cx="256032"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B1F24"/>
              </a:buClr>
              <a:buSzPts val="740"/>
              <a:buFont typeface="Calibri"/>
              <a:buNone/>
            </a:pPr>
            <a:r>
              <a:rPr b="1" i="0" lang="en-US" sz="740" u="none" cap="none" strike="noStrike">
                <a:solidFill>
                  <a:srgbClr val="1B1F24"/>
                </a:solidFill>
                <a:latin typeface="Calibri"/>
                <a:ea typeface="Calibri"/>
                <a:cs typeface="Calibri"/>
                <a:sym typeface="Calibri"/>
              </a:rPr>
              <a:t>58</a:t>
            </a:r>
            <a:endParaRPr b="0" i="0" sz="740" u="none" cap="none" strike="noStrike">
              <a:solidFill>
                <a:schemeClr val="dk1"/>
              </a:solidFill>
              <a:latin typeface="Calibri"/>
              <a:ea typeface="Calibri"/>
              <a:cs typeface="Calibri"/>
              <a:sym typeface="Calibri"/>
            </a:endParaRPr>
          </a:p>
        </p:txBody>
      </p:sp>
      <p:sp>
        <p:nvSpPr>
          <p:cNvPr id="635" name="Google Shape;635;p16"/>
          <p:cNvSpPr/>
          <p:nvPr/>
        </p:nvSpPr>
        <p:spPr>
          <a:xfrm>
            <a:off x="3200400" y="4498848"/>
            <a:ext cx="9601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40"/>
              <a:buFont typeface="Calibri"/>
              <a:buNone/>
            </a:pPr>
            <a:r>
              <a:rPr b="0" i="0" lang="en-US" sz="740" u="none" cap="none" strike="noStrike">
                <a:solidFill>
                  <a:srgbClr val="1B1F24"/>
                </a:solidFill>
                <a:latin typeface="Calibri"/>
                <a:ea typeface="Calibri"/>
                <a:cs typeface="Calibri"/>
                <a:sym typeface="Calibri"/>
              </a:rPr>
              <a:t>Duplication</a:t>
            </a:r>
            <a:endParaRPr b="0" i="0" sz="740" u="none" cap="none" strike="noStrike">
              <a:solidFill>
                <a:schemeClr val="dk1"/>
              </a:solidFill>
              <a:latin typeface="Calibri"/>
              <a:ea typeface="Calibri"/>
              <a:cs typeface="Calibri"/>
              <a:sym typeface="Calibri"/>
            </a:endParaRPr>
          </a:p>
        </p:txBody>
      </p:sp>
      <p:sp>
        <p:nvSpPr>
          <p:cNvPr id="636" name="Google Shape;636;p16"/>
          <p:cNvSpPr/>
          <p:nvPr/>
        </p:nvSpPr>
        <p:spPr>
          <a:xfrm>
            <a:off x="4206240" y="4535424"/>
            <a:ext cx="704088" cy="118872"/>
          </a:xfrm>
          <a:prstGeom prst="roundRect">
            <a:avLst>
              <a:gd fmla="val 23077"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6"/>
          <p:cNvSpPr/>
          <p:nvPr/>
        </p:nvSpPr>
        <p:spPr>
          <a:xfrm>
            <a:off x="4206240" y="4535424"/>
            <a:ext cx="239390" cy="118872"/>
          </a:xfrm>
          <a:prstGeom prst="roundRect">
            <a:avLst>
              <a:gd fmla="val 23077" name="adj"/>
            </a:avLst>
          </a:prstGeom>
          <a:solidFill>
            <a:srgbClr val="A8352B"/>
          </a:solidFill>
          <a:ln cap="flat" cmpd="sng" w="12700">
            <a:solidFill>
              <a:srgbClr val="A835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6"/>
          <p:cNvSpPr/>
          <p:nvPr/>
        </p:nvSpPr>
        <p:spPr>
          <a:xfrm>
            <a:off x="4956048" y="4498848"/>
            <a:ext cx="256032"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B1F24"/>
              </a:buClr>
              <a:buSzPts val="740"/>
              <a:buFont typeface="Calibri"/>
              <a:buNone/>
            </a:pPr>
            <a:r>
              <a:rPr b="1" i="0" lang="en-US" sz="740" u="none" cap="none" strike="noStrike">
                <a:solidFill>
                  <a:srgbClr val="1B1F24"/>
                </a:solidFill>
                <a:latin typeface="Calibri"/>
                <a:ea typeface="Calibri"/>
                <a:cs typeface="Calibri"/>
                <a:sym typeface="Calibri"/>
              </a:rPr>
              <a:t>34</a:t>
            </a:r>
            <a:endParaRPr b="0" i="0" sz="740" u="none" cap="none" strike="noStrike">
              <a:solidFill>
                <a:schemeClr val="dk1"/>
              </a:solidFill>
              <a:latin typeface="Calibri"/>
              <a:ea typeface="Calibri"/>
              <a:cs typeface="Calibri"/>
              <a:sym typeface="Calibri"/>
            </a:endParaRPr>
          </a:p>
        </p:txBody>
      </p:sp>
      <p:sp>
        <p:nvSpPr>
          <p:cNvPr id="639" name="Google Shape;639;p16"/>
          <p:cNvSpPr/>
          <p:nvPr/>
        </p:nvSpPr>
        <p:spPr>
          <a:xfrm>
            <a:off x="3200400" y="4764024"/>
            <a:ext cx="9601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40"/>
              <a:buFont typeface="Calibri"/>
              <a:buNone/>
            </a:pPr>
            <a:r>
              <a:rPr b="0" i="0" lang="en-US" sz="740" u="none" cap="none" strike="noStrike">
                <a:solidFill>
                  <a:srgbClr val="1B1F24"/>
                </a:solidFill>
                <a:latin typeface="Calibri"/>
                <a:ea typeface="Calibri"/>
                <a:cs typeface="Calibri"/>
                <a:sym typeface="Calibri"/>
              </a:rPr>
              <a:t>Validity</a:t>
            </a:r>
            <a:endParaRPr b="0" i="0" sz="740" u="none" cap="none" strike="noStrike">
              <a:solidFill>
                <a:schemeClr val="dk1"/>
              </a:solidFill>
              <a:latin typeface="Calibri"/>
              <a:ea typeface="Calibri"/>
              <a:cs typeface="Calibri"/>
              <a:sym typeface="Calibri"/>
            </a:endParaRPr>
          </a:p>
        </p:txBody>
      </p:sp>
      <p:sp>
        <p:nvSpPr>
          <p:cNvPr id="640" name="Google Shape;640;p16"/>
          <p:cNvSpPr/>
          <p:nvPr/>
        </p:nvSpPr>
        <p:spPr>
          <a:xfrm>
            <a:off x="4206240" y="4800600"/>
            <a:ext cx="704088" cy="118872"/>
          </a:xfrm>
          <a:prstGeom prst="roundRect">
            <a:avLst>
              <a:gd fmla="val 23077"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6"/>
          <p:cNvSpPr/>
          <p:nvPr/>
        </p:nvSpPr>
        <p:spPr>
          <a:xfrm>
            <a:off x="4206240" y="4800600"/>
            <a:ext cx="549189" cy="118872"/>
          </a:xfrm>
          <a:prstGeom prst="roundRect">
            <a:avLst>
              <a:gd fmla="val 23077" name="adj"/>
            </a:avLst>
          </a:prstGeom>
          <a:solidFill>
            <a:srgbClr val="6AA55B"/>
          </a:solidFill>
          <a:ln cap="flat" cmpd="sng" w="12700">
            <a:solidFill>
              <a:srgbClr val="6AA5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6"/>
          <p:cNvSpPr/>
          <p:nvPr/>
        </p:nvSpPr>
        <p:spPr>
          <a:xfrm>
            <a:off x="4956048" y="4764024"/>
            <a:ext cx="256032"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B1F24"/>
              </a:buClr>
              <a:buSzPts val="740"/>
              <a:buFont typeface="Calibri"/>
              <a:buNone/>
            </a:pPr>
            <a:r>
              <a:rPr b="1" i="0" lang="en-US" sz="740" u="none" cap="none" strike="noStrike">
                <a:solidFill>
                  <a:srgbClr val="1B1F24"/>
                </a:solidFill>
                <a:latin typeface="Calibri"/>
                <a:ea typeface="Calibri"/>
                <a:cs typeface="Calibri"/>
                <a:sym typeface="Calibri"/>
              </a:rPr>
              <a:t>78</a:t>
            </a:r>
            <a:endParaRPr b="0" i="0" sz="740" u="none" cap="none" strike="noStrike">
              <a:solidFill>
                <a:schemeClr val="dk1"/>
              </a:solidFill>
              <a:latin typeface="Calibri"/>
              <a:ea typeface="Calibri"/>
              <a:cs typeface="Calibri"/>
              <a:sym typeface="Calibri"/>
            </a:endParaRPr>
          </a:p>
        </p:txBody>
      </p:sp>
      <p:sp>
        <p:nvSpPr>
          <p:cNvPr id="643" name="Google Shape;643;p16"/>
          <p:cNvSpPr/>
          <p:nvPr/>
        </p:nvSpPr>
        <p:spPr>
          <a:xfrm>
            <a:off x="3200400" y="5029200"/>
            <a:ext cx="9601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40"/>
              <a:buFont typeface="Calibri"/>
              <a:buNone/>
            </a:pPr>
            <a:r>
              <a:rPr b="0" i="0" lang="en-US" sz="740" u="none" cap="none" strike="noStrike">
                <a:solidFill>
                  <a:srgbClr val="1B1F24"/>
                </a:solidFill>
                <a:latin typeface="Calibri"/>
                <a:ea typeface="Calibri"/>
                <a:cs typeface="Calibri"/>
                <a:sym typeface="Calibri"/>
              </a:rPr>
              <a:t>Plausibility</a:t>
            </a:r>
            <a:endParaRPr b="0" i="0" sz="740" u="none" cap="none" strike="noStrike">
              <a:solidFill>
                <a:schemeClr val="dk1"/>
              </a:solidFill>
              <a:latin typeface="Calibri"/>
              <a:ea typeface="Calibri"/>
              <a:cs typeface="Calibri"/>
              <a:sym typeface="Calibri"/>
            </a:endParaRPr>
          </a:p>
        </p:txBody>
      </p:sp>
      <p:sp>
        <p:nvSpPr>
          <p:cNvPr id="644" name="Google Shape;644;p16"/>
          <p:cNvSpPr/>
          <p:nvPr/>
        </p:nvSpPr>
        <p:spPr>
          <a:xfrm>
            <a:off x="4206240" y="5065776"/>
            <a:ext cx="704088" cy="118872"/>
          </a:xfrm>
          <a:prstGeom prst="roundRect">
            <a:avLst>
              <a:gd fmla="val 23077"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6"/>
          <p:cNvSpPr/>
          <p:nvPr/>
        </p:nvSpPr>
        <p:spPr>
          <a:xfrm>
            <a:off x="4206240" y="5065776"/>
            <a:ext cx="401330" cy="118872"/>
          </a:xfrm>
          <a:prstGeom prst="roundRect">
            <a:avLst>
              <a:gd fmla="val 23077" name="adj"/>
            </a:avLst>
          </a:prstGeom>
          <a:solidFill>
            <a:srgbClr val="D9A23C"/>
          </a:solidFill>
          <a:ln cap="flat" cmpd="sng" w="12700">
            <a:solidFill>
              <a:srgbClr val="D9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6"/>
          <p:cNvSpPr/>
          <p:nvPr/>
        </p:nvSpPr>
        <p:spPr>
          <a:xfrm>
            <a:off x="4956048" y="5029200"/>
            <a:ext cx="256032"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B1F24"/>
              </a:buClr>
              <a:buSzPts val="740"/>
              <a:buFont typeface="Calibri"/>
              <a:buNone/>
            </a:pPr>
            <a:r>
              <a:rPr b="1" i="0" lang="en-US" sz="740" u="none" cap="none" strike="noStrike">
                <a:solidFill>
                  <a:srgbClr val="1B1F24"/>
                </a:solidFill>
                <a:latin typeface="Calibri"/>
                <a:ea typeface="Calibri"/>
                <a:cs typeface="Calibri"/>
                <a:sym typeface="Calibri"/>
              </a:rPr>
              <a:t>57</a:t>
            </a:r>
            <a:endParaRPr b="0" i="0" sz="740" u="none" cap="none" strike="noStrike">
              <a:solidFill>
                <a:schemeClr val="dk1"/>
              </a:solidFill>
              <a:latin typeface="Calibri"/>
              <a:ea typeface="Calibri"/>
              <a:cs typeface="Calibri"/>
              <a:sym typeface="Calibri"/>
            </a:endParaRPr>
          </a:p>
        </p:txBody>
      </p:sp>
      <p:sp>
        <p:nvSpPr>
          <p:cNvPr id="647" name="Google Shape;647;p16"/>
          <p:cNvSpPr/>
          <p:nvPr/>
        </p:nvSpPr>
        <p:spPr>
          <a:xfrm>
            <a:off x="5422392" y="4233672"/>
            <a:ext cx="102412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40"/>
              <a:buFont typeface="Calibri"/>
              <a:buNone/>
            </a:pPr>
            <a:r>
              <a:rPr b="0" i="0" lang="en-US" sz="740" u="none" cap="none" strike="noStrike">
                <a:solidFill>
                  <a:srgbClr val="1B1F24"/>
                </a:solidFill>
                <a:latin typeface="Calibri"/>
                <a:ea typeface="Calibri"/>
                <a:cs typeface="Calibri"/>
                <a:sym typeface="Calibri"/>
              </a:rPr>
              <a:t>Freshness</a:t>
            </a:r>
            <a:endParaRPr b="0" i="0" sz="740" u="none" cap="none" strike="noStrike">
              <a:solidFill>
                <a:schemeClr val="dk1"/>
              </a:solidFill>
              <a:latin typeface="Calibri"/>
              <a:ea typeface="Calibri"/>
              <a:cs typeface="Calibri"/>
              <a:sym typeface="Calibri"/>
            </a:endParaRPr>
          </a:p>
        </p:txBody>
      </p:sp>
      <p:sp>
        <p:nvSpPr>
          <p:cNvPr id="648" name="Google Shape;648;p16"/>
          <p:cNvSpPr/>
          <p:nvPr/>
        </p:nvSpPr>
        <p:spPr>
          <a:xfrm>
            <a:off x="6492240" y="4270248"/>
            <a:ext cx="713232" cy="118872"/>
          </a:xfrm>
          <a:prstGeom prst="roundRect">
            <a:avLst>
              <a:gd fmla="val 23077"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6"/>
          <p:cNvSpPr/>
          <p:nvPr/>
        </p:nvSpPr>
        <p:spPr>
          <a:xfrm>
            <a:off x="6492240" y="4270248"/>
            <a:ext cx="292425" cy="118872"/>
          </a:xfrm>
          <a:prstGeom prst="roundRect">
            <a:avLst>
              <a:gd fmla="val 23077" name="adj"/>
            </a:avLst>
          </a:prstGeom>
          <a:solidFill>
            <a:srgbClr val="D1603D"/>
          </a:solidFill>
          <a:ln cap="flat" cmpd="sng" w="12700">
            <a:solidFill>
              <a:srgbClr val="D16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6"/>
          <p:cNvSpPr/>
          <p:nvPr/>
        </p:nvSpPr>
        <p:spPr>
          <a:xfrm>
            <a:off x="7251192" y="4233672"/>
            <a:ext cx="256032"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B1F24"/>
              </a:buClr>
              <a:buSzPts val="740"/>
              <a:buFont typeface="Calibri"/>
              <a:buNone/>
            </a:pPr>
            <a:r>
              <a:rPr b="1" i="0" lang="en-US" sz="740" u="none" cap="none" strike="noStrike">
                <a:solidFill>
                  <a:srgbClr val="1B1F24"/>
                </a:solidFill>
                <a:latin typeface="Calibri"/>
                <a:ea typeface="Calibri"/>
                <a:cs typeface="Calibri"/>
                <a:sym typeface="Calibri"/>
              </a:rPr>
              <a:t>41</a:t>
            </a:r>
            <a:endParaRPr b="0" i="0" sz="740" u="none" cap="none" strike="noStrike">
              <a:solidFill>
                <a:schemeClr val="dk1"/>
              </a:solidFill>
              <a:latin typeface="Calibri"/>
              <a:ea typeface="Calibri"/>
              <a:cs typeface="Calibri"/>
              <a:sym typeface="Calibri"/>
            </a:endParaRPr>
          </a:p>
        </p:txBody>
      </p:sp>
      <p:sp>
        <p:nvSpPr>
          <p:cNvPr id="651" name="Google Shape;651;p16"/>
          <p:cNvSpPr/>
          <p:nvPr/>
        </p:nvSpPr>
        <p:spPr>
          <a:xfrm>
            <a:off x="5422392" y="4498848"/>
            <a:ext cx="102412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40"/>
              <a:buFont typeface="Calibri"/>
              <a:buNone/>
            </a:pPr>
            <a:r>
              <a:rPr b="0" i="0" lang="en-US" sz="740" u="none" cap="none" strike="noStrike">
                <a:solidFill>
                  <a:srgbClr val="1B1F24"/>
                </a:solidFill>
                <a:latin typeface="Calibri"/>
                <a:ea typeface="Calibri"/>
                <a:cs typeface="Calibri"/>
                <a:sym typeface="Calibri"/>
              </a:rPr>
              <a:t>Integrity</a:t>
            </a:r>
            <a:endParaRPr b="0" i="0" sz="740" u="none" cap="none" strike="noStrike">
              <a:solidFill>
                <a:schemeClr val="dk1"/>
              </a:solidFill>
              <a:latin typeface="Calibri"/>
              <a:ea typeface="Calibri"/>
              <a:cs typeface="Calibri"/>
              <a:sym typeface="Calibri"/>
            </a:endParaRPr>
          </a:p>
        </p:txBody>
      </p:sp>
      <p:sp>
        <p:nvSpPr>
          <p:cNvPr id="652" name="Google Shape;652;p16"/>
          <p:cNvSpPr/>
          <p:nvPr/>
        </p:nvSpPr>
        <p:spPr>
          <a:xfrm>
            <a:off x="6492240" y="4535424"/>
            <a:ext cx="713232" cy="118872"/>
          </a:xfrm>
          <a:prstGeom prst="roundRect">
            <a:avLst>
              <a:gd fmla="val 23077"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6"/>
          <p:cNvSpPr/>
          <p:nvPr/>
        </p:nvSpPr>
        <p:spPr>
          <a:xfrm>
            <a:off x="6492240" y="4535424"/>
            <a:ext cx="470733" cy="118872"/>
          </a:xfrm>
          <a:prstGeom prst="roundRect">
            <a:avLst>
              <a:gd fmla="val 23077" name="adj"/>
            </a:avLst>
          </a:prstGeom>
          <a:solidFill>
            <a:srgbClr val="6AA55B"/>
          </a:solidFill>
          <a:ln cap="flat" cmpd="sng" w="12700">
            <a:solidFill>
              <a:srgbClr val="6AA5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6"/>
          <p:cNvSpPr/>
          <p:nvPr/>
        </p:nvSpPr>
        <p:spPr>
          <a:xfrm>
            <a:off x="7251192" y="4498848"/>
            <a:ext cx="256032"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B1F24"/>
              </a:buClr>
              <a:buSzPts val="740"/>
              <a:buFont typeface="Calibri"/>
              <a:buNone/>
            </a:pPr>
            <a:r>
              <a:rPr b="1" i="0" lang="en-US" sz="740" u="none" cap="none" strike="noStrike">
                <a:solidFill>
                  <a:srgbClr val="1B1F24"/>
                </a:solidFill>
                <a:latin typeface="Calibri"/>
                <a:ea typeface="Calibri"/>
                <a:cs typeface="Calibri"/>
                <a:sym typeface="Calibri"/>
              </a:rPr>
              <a:t>66</a:t>
            </a:r>
            <a:endParaRPr b="0" i="0" sz="740" u="none" cap="none" strike="noStrike">
              <a:solidFill>
                <a:schemeClr val="dk1"/>
              </a:solidFill>
              <a:latin typeface="Calibri"/>
              <a:ea typeface="Calibri"/>
              <a:cs typeface="Calibri"/>
              <a:sym typeface="Calibri"/>
            </a:endParaRPr>
          </a:p>
        </p:txBody>
      </p:sp>
      <p:sp>
        <p:nvSpPr>
          <p:cNvPr id="655" name="Google Shape;655;p16"/>
          <p:cNvSpPr/>
          <p:nvPr/>
        </p:nvSpPr>
        <p:spPr>
          <a:xfrm>
            <a:off x="5422392" y="4764024"/>
            <a:ext cx="102412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40"/>
              <a:buFont typeface="Calibri"/>
              <a:buNone/>
            </a:pPr>
            <a:r>
              <a:rPr b="0" i="0" lang="en-US" sz="740" u="none" cap="none" strike="noStrike">
                <a:solidFill>
                  <a:srgbClr val="1B1F24"/>
                </a:solidFill>
                <a:latin typeface="Calibri"/>
                <a:ea typeface="Calibri"/>
                <a:cs typeface="Calibri"/>
                <a:sym typeface="Calibri"/>
              </a:rPr>
              <a:t>Config hygiene</a:t>
            </a:r>
            <a:endParaRPr b="0" i="0" sz="740" u="none" cap="none" strike="noStrike">
              <a:solidFill>
                <a:schemeClr val="dk1"/>
              </a:solidFill>
              <a:latin typeface="Calibri"/>
              <a:ea typeface="Calibri"/>
              <a:cs typeface="Calibri"/>
              <a:sym typeface="Calibri"/>
            </a:endParaRPr>
          </a:p>
        </p:txBody>
      </p:sp>
      <p:sp>
        <p:nvSpPr>
          <p:cNvPr id="656" name="Google Shape;656;p16"/>
          <p:cNvSpPr/>
          <p:nvPr/>
        </p:nvSpPr>
        <p:spPr>
          <a:xfrm>
            <a:off x="6492240" y="4800600"/>
            <a:ext cx="713232" cy="118872"/>
          </a:xfrm>
          <a:prstGeom prst="roundRect">
            <a:avLst>
              <a:gd fmla="val 23077"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6"/>
          <p:cNvSpPr/>
          <p:nvPr/>
        </p:nvSpPr>
        <p:spPr>
          <a:xfrm>
            <a:off x="6492240" y="4800600"/>
            <a:ext cx="271028" cy="118872"/>
          </a:xfrm>
          <a:prstGeom prst="roundRect">
            <a:avLst>
              <a:gd fmla="val 23077" name="adj"/>
            </a:avLst>
          </a:prstGeom>
          <a:solidFill>
            <a:srgbClr val="D1603D"/>
          </a:solidFill>
          <a:ln cap="flat" cmpd="sng" w="12700">
            <a:solidFill>
              <a:srgbClr val="D16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6"/>
          <p:cNvSpPr/>
          <p:nvPr/>
        </p:nvSpPr>
        <p:spPr>
          <a:xfrm>
            <a:off x="7251192" y="4764024"/>
            <a:ext cx="256032"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B1F24"/>
              </a:buClr>
              <a:buSzPts val="740"/>
              <a:buFont typeface="Calibri"/>
              <a:buNone/>
            </a:pPr>
            <a:r>
              <a:rPr b="1" i="0" lang="en-US" sz="740" u="none" cap="none" strike="noStrike">
                <a:solidFill>
                  <a:srgbClr val="1B1F24"/>
                </a:solidFill>
                <a:latin typeface="Calibri"/>
                <a:ea typeface="Calibri"/>
                <a:cs typeface="Calibri"/>
                <a:sym typeface="Calibri"/>
              </a:rPr>
              <a:t>38</a:t>
            </a:r>
            <a:endParaRPr b="0" i="0" sz="740" u="none" cap="none" strike="noStrike">
              <a:solidFill>
                <a:schemeClr val="dk1"/>
              </a:solidFill>
              <a:latin typeface="Calibri"/>
              <a:ea typeface="Calibri"/>
              <a:cs typeface="Calibri"/>
              <a:sym typeface="Calibri"/>
            </a:endParaRPr>
          </a:p>
        </p:txBody>
      </p:sp>
      <p:sp>
        <p:nvSpPr>
          <p:cNvPr id="659" name="Google Shape;659;p16"/>
          <p:cNvSpPr/>
          <p:nvPr/>
        </p:nvSpPr>
        <p:spPr>
          <a:xfrm>
            <a:off x="5422392" y="5029200"/>
            <a:ext cx="102412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40"/>
              <a:buFont typeface="Calibri"/>
              <a:buNone/>
            </a:pPr>
            <a:r>
              <a:rPr b="0" i="0" lang="en-US" sz="740" u="none" cap="none" strike="noStrike">
                <a:solidFill>
                  <a:srgbClr val="1B1F24"/>
                </a:solidFill>
                <a:latin typeface="Calibri"/>
                <a:ea typeface="Calibri"/>
                <a:cs typeface="Calibri"/>
                <a:sym typeface="Calibri"/>
              </a:rPr>
              <a:t>PII and access</a:t>
            </a:r>
            <a:endParaRPr b="0" i="0" sz="740" u="none" cap="none" strike="noStrike">
              <a:solidFill>
                <a:schemeClr val="dk1"/>
              </a:solidFill>
              <a:latin typeface="Calibri"/>
              <a:ea typeface="Calibri"/>
              <a:cs typeface="Calibri"/>
              <a:sym typeface="Calibri"/>
            </a:endParaRPr>
          </a:p>
        </p:txBody>
      </p:sp>
      <p:sp>
        <p:nvSpPr>
          <p:cNvPr id="660" name="Google Shape;660;p16"/>
          <p:cNvSpPr/>
          <p:nvPr/>
        </p:nvSpPr>
        <p:spPr>
          <a:xfrm>
            <a:off x="6492240" y="5065776"/>
            <a:ext cx="713232" cy="118872"/>
          </a:xfrm>
          <a:prstGeom prst="roundRect">
            <a:avLst>
              <a:gd fmla="val 23077"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6"/>
          <p:cNvSpPr/>
          <p:nvPr/>
        </p:nvSpPr>
        <p:spPr>
          <a:xfrm>
            <a:off x="6492240" y="5065776"/>
            <a:ext cx="313822" cy="118872"/>
          </a:xfrm>
          <a:prstGeom prst="roundRect">
            <a:avLst>
              <a:gd fmla="val 23077" name="adj"/>
            </a:avLst>
          </a:prstGeom>
          <a:solidFill>
            <a:srgbClr val="D1603D"/>
          </a:solidFill>
          <a:ln cap="flat" cmpd="sng" w="12700">
            <a:solidFill>
              <a:srgbClr val="D16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6"/>
          <p:cNvSpPr/>
          <p:nvPr/>
        </p:nvSpPr>
        <p:spPr>
          <a:xfrm>
            <a:off x="7251192" y="5029200"/>
            <a:ext cx="256032"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B1F24"/>
              </a:buClr>
              <a:buSzPts val="740"/>
              <a:buFont typeface="Calibri"/>
              <a:buNone/>
            </a:pPr>
            <a:r>
              <a:rPr b="1" i="0" lang="en-US" sz="740" u="none" cap="none" strike="noStrike">
                <a:solidFill>
                  <a:srgbClr val="1B1F24"/>
                </a:solidFill>
                <a:latin typeface="Calibri"/>
                <a:ea typeface="Calibri"/>
                <a:cs typeface="Calibri"/>
                <a:sym typeface="Calibri"/>
              </a:rPr>
              <a:t>44</a:t>
            </a:r>
            <a:endParaRPr b="0" i="0" sz="740" u="none" cap="none" strike="noStrike">
              <a:solidFill>
                <a:schemeClr val="dk1"/>
              </a:solidFill>
              <a:latin typeface="Calibri"/>
              <a:ea typeface="Calibri"/>
              <a:cs typeface="Calibri"/>
              <a:sym typeface="Calibri"/>
            </a:endParaRPr>
          </a:p>
        </p:txBody>
      </p:sp>
      <p:sp>
        <p:nvSpPr>
          <p:cNvPr id="663" name="Google Shape;663;p16"/>
          <p:cNvSpPr/>
          <p:nvPr/>
        </p:nvSpPr>
        <p:spPr>
          <a:xfrm>
            <a:off x="7754112" y="3136392"/>
            <a:ext cx="3657600" cy="2066544"/>
          </a:xfrm>
          <a:prstGeom prst="rect">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6"/>
          <p:cNvSpPr/>
          <p:nvPr/>
        </p:nvSpPr>
        <p:spPr>
          <a:xfrm>
            <a:off x="7863840" y="3191256"/>
            <a:ext cx="3438144"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40"/>
              <a:buFont typeface="Calibri"/>
              <a:buNone/>
            </a:pPr>
            <a:r>
              <a:rPr b="1" i="0" lang="en-US" sz="740" u="none" cap="none" strike="noStrike">
                <a:solidFill>
                  <a:srgbClr val="6B7280"/>
                </a:solidFill>
                <a:latin typeface="Calibri"/>
                <a:ea typeface="Calibri"/>
                <a:cs typeface="Calibri"/>
                <a:sym typeface="Calibri"/>
              </a:rPr>
              <a:t>CREATED IN PERIOD SCORE, LAST 8 MONTHS</a:t>
            </a:r>
            <a:endParaRPr b="0" i="0" sz="740" u="none" cap="none" strike="noStrike">
              <a:solidFill>
                <a:schemeClr val="dk1"/>
              </a:solidFill>
              <a:latin typeface="Calibri"/>
              <a:ea typeface="Calibri"/>
              <a:cs typeface="Calibri"/>
              <a:sym typeface="Calibri"/>
            </a:endParaRPr>
          </a:p>
        </p:txBody>
      </p:sp>
      <p:sp>
        <p:nvSpPr>
          <p:cNvPr id="665" name="Google Shape;665;p16"/>
          <p:cNvSpPr/>
          <p:nvPr/>
        </p:nvSpPr>
        <p:spPr>
          <a:xfrm>
            <a:off x="7863840" y="3782324"/>
            <a:ext cx="283647" cy="85588"/>
          </a:xfrm>
          <a:prstGeom prst="rect">
            <a:avLst/>
          </a:prstGeom>
          <a:solidFill>
            <a:srgbClr val="C9D6DA"/>
          </a:solidFill>
          <a:ln cap="flat" cmpd="sng" w="12700">
            <a:solidFill>
              <a:srgbClr val="C9D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6"/>
          <p:cNvSpPr/>
          <p:nvPr/>
        </p:nvSpPr>
        <p:spPr>
          <a:xfrm>
            <a:off x="8293608" y="3729156"/>
            <a:ext cx="283647" cy="138756"/>
          </a:xfrm>
          <a:prstGeom prst="rect">
            <a:avLst/>
          </a:prstGeom>
          <a:solidFill>
            <a:srgbClr val="C9D6DA"/>
          </a:solidFill>
          <a:ln cap="flat" cmpd="sng" w="12700">
            <a:solidFill>
              <a:srgbClr val="C9D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6"/>
          <p:cNvSpPr/>
          <p:nvPr/>
        </p:nvSpPr>
        <p:spPr>
          <a:xfrm>
            <a:off x="8723376" y="3746879"/>
            <a:ext cx="283647" cy="121033"/>
          </a:xfrm>
          <a:prstGeom prst="rect">
            <a:avLst/>
          </a:prstGeom>
          <a:solidFill>
            <a:srgbClr val="C9D6DA"/>
          </a:solidFill>
          <a:ln cap="flat" cmpd="sng" w="12700">
            <a:solidFill>
              <a:srgbClr val="C9D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6"/>
          <p:cNvSpPr/>
          <p:nvPr/>
        </p:nvSpPr>
        <p:spPr>
          <a:xfrm>
            <a:off x="9153144" y="3640542"/>
            <a:ext cx="283647" cy="227370"/>
          </a:xfrm>
          <a:prstGeom prst="rect">
            <a:avLst/>
          </a:prstGeom>
          <a:solidFill>
            <a:srgbClr val="C9D6DA"/>
          </a:solidFill>
          <a:ln cap="flat" cmpd="sng" w="12700">
            <a:solidFill>
              <a:srgbClr val="C9D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6"/>
          <p:cNvSpPr/>
          <p:nvPr/>
        </p:nvSpPr>
        <p:spPr>
          <a:xfrm>
            <a:off x="9582912" y="3693710"/>
            <a:ext cx="283647" cy="174202"/>
          </a:xfrm>
          <a:prstGeom prst="rect">
            <a:avLst/>
          </a:prstGeom>
          <a:solidFill>
            <a:srgbClr val="C9D6DA"/>
          </a:solidFill>
          <a:ln cap="flat" cmpd="sng" w="12700">
            <a:solidFill>
              <a:srgbClr val="C9D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6"/>
          <p:cNvSpPr/>
          <p:nvPr/>
        </p:nvSpPr>
        <p:spPr>
          <a:xfrm>
            <a:off x="10012680" y="3569651"/>
            <a:ext cx="283647" cy="298261"/>
          </a:xfrm>
          <a:prstGeom prst="rect">
            <a:avLst/>
          </a:prstGeom>
          <a:solidFill>
            <a:srgbClr val="C9D6DA"/>
          </a:solidFill>
          <a:ln cap="flat" cmpd="sng" w="12700">
            <a:solidFill>
              <a:srgbClr val="C9D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6"/>
          <p:cNvSpPr/>
          <p:nvPr/>
        </p:nvSpPr>
        <p:spPr>
          <a:xfrm>
            <a:off x="10442448" y="3445592"/>
            <a:ext cx="283647" cy="422320"/>
          </a:xfrm>
          <a:prstGeom prst="rect">
            <a:avLst/>
          </a:prstGeom>
          <a:solidFill>
            <a:srgbClr val="C9D6DA"/>
          </a:solidFill>
          <a:ln cap="flat" cmpd="sng" w="12700">
            <a:solidFill>
              <a:srgbClr val="C9D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6"/>
          <p:cNvSpPr/>
          <p:nvPr/>
        </p:nvSpPr>
        <p:spPr>
          <a:xfrm>
            <a:off x="10872216" y="3392424"/>
            <a:ext cx="283647" cy="475488"/>
          </a:xfrm>
          <a:prstGeom prst="rect">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6"/>
          <p:cNvSpPr/>
          <p:nvPr/>
        </p:nvSpPr>
        <p:spPr>
          <a:xfrm>
            <a:off x="7863840" y="3904488"/>
            <a:ext cx="3438144"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20"/>
              <a:buFont typeface="Calibri"/>
              <a:buNone/>
            </a:pPr>
            <a:r>
              <a:rPr b="0" i="1" lang="en-US" sz="720" u="none" cap="none" strike="noStrike">
                <a:solidFill>
                  <a:srgbClr val="6B7280"/>
                </a:solidFill>
                <a:latin typeface="Calibri"/>
                <a:ea typeface="Calibri"/>
                <a:cs typeface="Calibri"/>
                <a:sym typeface="Calibri"/>
              </a:rPr>
              <a:t>Jan 39  →  Aug 61.  Org score is flat at 52 because history dominates it.</a:t>
            </a:r>
            <a:endParaRPr b="0" i="0" sz="720" u="none" cap="none" strike="noStrike">
              <a:solidFill>
                <a:schemeClr val="dk1"/>
              </a:solidFill>
              <a:latin typeface="Calibri"/>
              <a:ea typeface="Calibri"/>
              <a:cs typeface="Calibri"/>
              <a:sym typeface="Calibri"/>
            </a:endParaRPr>
          </a:p>
        </p:txBody>
      </p:sp>
      <p:sp>
        <p:nvSpPr>
          <p:cNvPr id="674" name="Google Shape;674;p16"/>
          <p:cNvSpPr/>
          <p:nvPr/>
        </p:nvSpPr>
        <p:spPr>
          <a:xfrm>
            <a:off x="7863840" y="4123944"/>
            <a:ext cx="3438144"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40"/>
              <a:buFont typeface="Calibri"/>
              <a:buNone/>
            </a:pPr>
            <a:r>
              <a:rPr b="1" i="0" lang="en-US" sz="740" u="none" cap="none" strike="noStrike">
                <a:solidFill>
                  <a:srgbClr val="6B7280"/>
                </a:solidFill>
                <a:latin typeface="Calibri"/>
                <a:ea typeface="Calibri"/>
                <a:cs typeface="Calibri"/>
                <a:sym typeface="Calibri"/>
              </a:rPr>
              <a:t>BIGGEST MOVERS THIS PERIOD</a:t>
            </a:r>
            <a:endParaRPr b="0" i="0" sz="740" u="none" cap="none" strike="noStrike">
              <a:solidFill>
                <a:schemeClr val="dk1"/>
              </a:solidFill>
              <a:latin typeface="Calibri"/>
              <a:ea typeface="Calibri"/>
              <a:cs typeface="Calibri"/>
              <a:sym typeface="Calibri"/>
            </a:endParaRPr>
          </a:p>
        </p:txBody>
      </p:sp>
      <p:sp>
        <p:nvSpPr>
          <p:cNvPr id="675" name="Google Shape;675;p16"/>
          <p:cNvSpPr/>
          <p:nvPr/>
        </p:nvSpPr>
        <p:spPr>
          <a:xfrm>
            <a:off x="7863840" y="4306824"/>
            <a:ext cx="2651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60"/>
              <a:buFont typeface="Calibri"/>
              <a:buNone/>
            </a:pPr>
            <a:r>
              <a:rPr b="0" i="0" lang="en-US" sz="760" u="none" cap="none" strike="noStrike">
                <a:solidFill>
                  <a:srgbClr val="1B1F24"/>
                </a:solidFill>
                <a:latin typeface="Calibri"/>
                <a:ea typeface="Calibri"/>
                <a:cs typeface="Calibri"/>
                <a:sym typeface="Calibri"/>
              </a:rPr>
              <a:t>Deals module</a:t>
            </a:r>
            <a:endParaRPr b="0" i="0" sz="760" u="none" cap="none" strike="noStrike">
              <a:solidFill>
                <a:schemeClr val="dk1"/>
              </a:solidFill>
              <a:latin typeface="Calibri"/>
              <a:ea typeface="Calibri"/>
              <a:cs typeface="Calibri"/>
              <a:sym typeface="Calibri"/>
            </a:endParaRPr>
          </a:p>
        </p:txBody>
      </p:sp>
      <p:sp>
        <p:nvSpPr>
          <p:cNvPr id="676" name="Google Shape;676;p16"/>
          <p:cNvSpPr/>
          <p:nvPr/>
        </p:nvSpPr>
        <p:spPr>
          <a:xfrm>
            <a:off x="10753344" y="4315968"/>
            <a:ext cx="548640" cy="164592"/>
          </a:xfrm>
          <a:prstGeom prst="roundRect">
            <a:avLst>
              <a:gd fmla="val 33333" name="adj"/>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6"/>
          <p:cNvSpPr/>
          <p:nvPr/>
        </p:nvSpPr>
        <p:spPr>
          <a:xfrm>
            <a:off x="10753344" y="4315968"/>
            <a:ext cx="5486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+14</a:t>
            </a:r>
            <a:endParaRPr b="0" i="0" sz="760" u="none" cap="none" strike="noStrike">
              <a:solidFill>
                <a:schemeClr val="dk1"/>
              </a:solidFill>
              <a:latin typeface="Calibri"/>
              <a:ea typeface="Calibri"/>
              <a:cs typeface="Calibri"/>
              <a:sym typeface="Calibri"/>
            </a:endParaRPr>
          </a:p>
        </p:txBody>
      </p:sp>
      <p:sp>
        <p:nvSpPr>
          <p:cNvPr id="678" name="Google Shape;678;p16"/>
          <p:cNvSpPr/>
          <p:nvPr/>
        </p:nvSpPr>
        <p:spPr>
          <a:xfrm>
            <a:off x="7863840" y="4489704"/>
            <a:ext cx="2651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60"/>
              <a:buFont typeface="Calibri"/>
              <a:buNone/>
            </a:pPr>
            <a:r>
              <a:rPr b="0" i="0" lang="en-US" sz="760" u="none" cap="none" strike="noStrike">
                <a:solidFill>
                  <a:srgbClr val="1B1F24"/>
                </a:solidFill>
                <a:latin typeface="Calibri"/>
                <a:ea typeface="Calibri"/>
                <a:cs typeface="Calibri"/>
                <a:sym typeface="Calibri"/>
              </a:rPr>
              <a:t>A. Deshmukh, Sales West</a:t>
            </a:r>
            <a:endParaRPr b="0" i="0" sz="760" u="none" cap="none" strike="noStrike">
              <a:solidFill>
                <a:schemeClr val="dk1"/>
              </a:solidFill>
              <a:latin typeface="Calibri"/>
              <a:ea typeface="Calibri"/>
              <a:cs typeface="Calibri"/>
              <a:sym typeface="Calibri"/>
            </a:endParaRPr>
          </a:p>
        </p:txBody>
      </p:sp>
      <p:sp>
        <p:nvSpPr>
          <p:cNvPr id="679" name="Google Shape;679;p16"/>
          <p:cNvSpPr/>
          <p:nvPr/>
        </p:nvSpPr>
        <p:spPr>
          <a:xfrm>
            <a:off x="10753344" y="4498848"/>
            <a:ext cx="548640" cy="164592"/>
          </a:xfrm>
          <a:prstGeom prst="roundRect">
            <a:avLst>
              <a:gd fmla="val 33333" name="adj"/>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6"/>
          <p:cNvSpPr/>
          <p:nvPr/>
        </p:nvSpPr>
        <p:spPr>
          <a:xfrm>
            <a:off x="10753344" y="4498848"/>
            <a:ext cx="5486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+22</a:t>
            </a:r>
            <a:endParaRPr b="0" i="0" sz="760" u="none" cap="none" strike="noStrike">
              <a:solidFill>
                <a:schemeClr val="dk1"/>
              </a:solidFill>
              <a:latin typeface="Calibri"/>
              <a:ea typeface="Calibri"/>
              <a:cs typeface="Calibri"/>
              <a:sym typeface="Calibri"/>
            </a:endParaRPr>
          </a:p>
        </p:txBody>
      </p:sp>
      <p:sp>
        <p:nvSpPr>
          <p:cNvPr id="681" name="Google Shape;681;p16"/>
          <p:cNvSpPr/>
          <p:nvPr/>
        </p:nvSpPr>
        <p:spPr>
          <a:xfrm>
            <a:off x="7863840" y="4672584"/>
            <a:ext cx="2651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60"/>
              <a:buFont typeface="Calibri"/>
              <a:buNone/>
            </a:pPr>
            <a:r>
              <a:rPr b="0" i="0" lang="en-US" sz="760" u="none" cap="none" strike="noStrike">
                <a:solidFill>
                  <a:srgbClr val="1B1F24"/>
                </a:solidFill>
                <a:latin typeface="Calibri"/>
                <a:ea typeface="Calibri"/>
                <a:cs typeface="Calibri"/>
                <a:sym typeface="Calibri"/>
              </a:rPr>
              <a:t>Lead source completeness</a:t>
            </a:r>
            <a:endParaRPr b="0" i="0" sz="760" u="none" cap="none" strike="noStrike">
              <a:solidFill>
                <a:schemeClr val="dk1"/>
              </a:solidFill>
              <a:latin typeface="Calibri"/>
              <a:ea typeface="Calibri"/>
              <a:cs typeface="Calibri"/>
              <a:sym typeface="Calibri"/>
            </a:endParaRPr>
          </a:p>
        </p:txBody>
      </p:sp>
      <p:sp>
        <p:nvSpPr>
          <p:cNvPr id="682" name="Google Shape;682;p16"/>
          <p:cNvSpPr/>
          <p:nvPr/>
        </p:nvSpPr>
        <p:spPr>
          <a:xfrm>
            <a:off x="10753344" y="4681728"/>
            <a:ext cx="548640" cy="164592"/>
          </a:xfrm>
          <a:prstGeom prst="roundRect">
            <a:avLst>
              <a:gd fmla="val 33333" name="adj"/>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6"/>
          <p:cNvSpPr/>
          <p:nvPr/>
        </p:nvSpPr>
        <p:spPr>
          <a:xfrm>
            <a:off x="10753344" y="4681728"/>
            <a:ext cx="5486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+19</a:t>
            </a:r>
            <a:endParaRPr b="0" i="0" sz="760" u="none" cap="none" strike="noStrike">
              <a:solidFill>
                <a:schemeClr val="dk1"/>
              </a:solidFill>
              <a:latin typeface="Calibri"/>
              <a:ea typeface="Calibri"/>
              <a:cs typeface="Calibri"/>
              <a:sym typeface="Calibri"/>
            </a:endParaRPr>
          </a:p>
        </p:txBody>
      </p:sp>
      <p:sp>
        <p:nvSpPr>
          <p:cNvPr id="684" name="Google Shape;684;p16"/>
          <p:cNvSpPr/>
          <p:nvPr/>
        </p:nvSpPr>
        <p:spPr>
          <a:xfrm>
            <a:off x="7863840" y="4855464"/>
            <a:ext cx="2651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60"/>
              <a:buFont typeface="Calibri"/>
              <a:buNone/>
            </a:pPr>
            <a:r>
              <a:rPr b="0" i="0" lang="en-US" sz="760" u="none" cap="none" strike="noStrike">
                <a:solidFill>
                  <a:srgbClr val="1B1F24"/>
                </a:solidFill>
                <a:latin typeface="Calibri"/>
                <a:ea typeface="Calibri"/>
                <a:cs typeface="Calibri"/>
                <a:sym typeface="Calibri"/>
              </a:rPr>
              <a:t>Vendors module</a:t>
            </a:r>
            <a:endParaRPr b="0" i="0" sz="760" u="none" cap="none" strike="noStrike">
              <a:solidFill>
                <a:schemeClr val="dk1"/>
              </a:solidFill>
              <a:latin typeface="Calibri"/>
              <a:ea typeface="Calibri"/>
              <a:cs typeface="Calibri"/>
              <a:sym typeface="Calibri"/>
            </a:endParaRPr>
          </a:p>
        </p:txBody>
      </p:sp>
      <p:sp>
        <p:nvSpPr>
          <p:cNvPr id="685" name="Google Shape;685;p16"/>
          <p:cNvSpPr/>
          <p:nvPr/>
        </p:nvSpPr>
        <p:spPr>
          <a:xfrm>
            <a:off x="10753344" y="4864608"/>
            <a:ext cx="548640" cy="164592"/>
          </a:xfrm>
          <a:prstGeom prst="roundRect">
            <a:avLst>
              <a:gd fmla="val 33333" name="adj"/>
            </a:avLst>
          </a:prstGeom>
          <a:solidFill>
            <a:srgbClr val="B8443A"/>
          </a:solidFill>
          <a:ln cap="flat" cmpd="sng" w="12700">
            <a:solidFill>
              <a:srgbClr val="B844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6"/>
          <p:cNvSpPr/>
          <p:nvPr/>
        </p:nvSpPr>
        <p:spPr>
          <a:xfrm>
            <a:off x="10753344" y="4864608"/>
            <a:ext cx="5486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-11</a:t>
            </a:r>
            <a:endParaRPr b="0" i="0" sz="760" u="none" cap="none" strike="noStrike">
              <a:solidFill>
                <a:schemeClr val="dk1"/>
              </a:solidFill>
              <a:latin typeface="Calibri"/>
              <a:ea typeface="Calibri"/>
              <a:cs typeface="Calibri"/>
              <a:sym typeface="Calibri"/>
            </a:endParaRPr>
          </a:p>
        </p:txBody>
      </p:sp>
      <p:sp>
        <p:nvSpPr>
          <p:cNvPr id="687" name="Google Shape;687;p16"/>
          <p:cNvSpPr/>
          <p:nvPr/>
        </p:nvSpPr>
        <p:spPr>
          <a:xfrm>
            <a:off x="7863840" y="5038344"/>
            <a:ext cx="26517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60"/>
              <a:buFont typeface="Calibri"/>
              <a:buNone/>
            </a:pPr>
            <a:r>
              <a:rPr b="0" i="0" lang="en-US" sz="760" u="none" cap="none" strike="noStrike">
                <a:solidFill>
                  <a:srgbClr val="1B1F24"/>
                </a:solidFill>
                <a:latin typeface="Calibri"/>
                <a:ea typeface="Calibri"/>
                <a:cs typeface="Calibri"/>
                <a:sym typeface="Calibri"/>
              </a:rPr>
              <a:t>S. Iyer, Inside Sales</a:t>
            </a:r>
            <a:endParaRPr b="0" i="0" sz="760" u="none" cap="none" strike="noStrike">
              <a:solidFill>
                <a:schemeClr val="dk1"/>
              </a:solidFill>
              <a:latin typeface="Calibri"/>
              <a:ea typeface="Calibri"/>
              <a:cs typeface="Calibri"/>
              <a:sym typeface="Calibri"/>
            </a:endParaRPr>
          </a:p>
        </p:txBody>
      </p:sp>
      <p:sp>
        <p:nvSpPr>
          <p:cNvPr id="688" name="Google Shape;688;p16"/>
          <p:cNvSpPr/>
          <p:nvPr/>
        </p:nvSpPr>
        <p:spPr>
          <a:xfrm>
            <a:off x="10753344" y="5047488"/>
            <a:ext cx="548640" cy="164592"/>
          </a:xfrm>
          <a:prstGeom prst="roundRect">
            <a:avLst>
              <a:gd fmla="val 33333" name="adj"/>
            </a:avLst>
          </a:prstGeom>
          <a:solidFill>
            <a:srgbClr val="B8443A"/>
          </a:solidFill>
          <a:ln cap="flat" cmpd="sng" w="12700">
            <a:solidFill>
              <a:srgbClr val="B844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6"/>
          <p:cNvSpPr/>
          <p:nvPr/>
        </p:nvSpPr>
        <p:spPr>
          <a:xfrm>
            <a:off x="10753344" y="5047488"/>
            <a:ext cx="5486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-16</a:t>
            </a:r>
            <a:endParaRPr b="0" i="0" sz="760" u="none" cap="none" strike="noStrike">
              <a:solidFill>
                <a:schemeClr val="dk1"/>
              </a:solidFill>
              <a:latin typeface="Calibri"/>
              <a:ea typeface="Calibri"/>
              <a:cs typeface="Calibri"/>
              <a:sym typeface="Calibri"/>
            </a:endParaRPr>
          </a:p>
        </p:txBody>
      </p:sp>
      <p:sp>
        <p:nvSpPr>
          <p:cNvPr id="690" name="Google Shape;690;p16"/>
          <p:cNvSpPr/>
          <p:nvPr/>
        </p:nvSpPr>
        <p:spPr>
          <a:xfrm>
            <a:off x="566928" y="5440680"/>
            <a:ext cx="3564026" cy="804672"/>
          </a:xfrm>
          <a:prstGeom prst="roundRect">
            <a:avLst>
              <a:gd fmla="val 7955"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6"/>
          <p:cNvSpPr/>
          <p:nvPr/>
        </p:nvSpPr>
        <p:spPr>
          <a:xfrm>
            <a:off x="694944" y="5486400"/>
            <a:ext cx="330799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2A30"/>
              </a:buClr>
              <a:buSzPts val="1050"/>
              <a:buFont typeface="Cambria"/>
              <a:buNone/>
            </a:pPr>
            <a:r>
              <a:rPr b="1" i="0" lang="en-US" sz="1050" u="none" cap="none" strike="noStrike">
                <a:solidFill>
                  <a:srgbClr val="062A30"/>
                </a:solidFill>
                <a:latin typeface="Cambria"/>
                <a:ea typeface="Cambria"/>
                <a:cs typeface="Cambria"/>
                <a:sym typeface="Cambria"/>
              </a:rPr>
              <a:t>Filter once, everything follows</a:t>
            </a:r>
            <a:endParaRPr b="0" i="0" sz="1050" u="none" cap="none" strike="noStrike">
              <a:solidFill>
                <a:schemeClr val="dk1"/>
              </a:solidFill>
              <a:latin typeface="Calibri"/>
              <a:ea typeface="Calibri"/>
              <a:cs typeface="Calibri"/>
              <a:sym typeface="Calibri"/>
            </a:endParaRPr>
          </a:p>
        </p:txBody>
      </p:sp>
      <p:sp>
        <p:nvSpPr>
          <p:cNvPr id="692" name="Google Shape;692;p16"/>
          <p:cNvSpPr/>
          <p:nvPr/>
        </p:nvSpPr>
        <p:spPr>
          <a:xfrm>
            <a:off x="694944" y="5687568"/>
            <a:ext cx="3307994" cy="51206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The period, clock, module and user filters at the top drive every panel below. One filter change re cuts the whole screen in under a second because the cube is pre aggregated.</a:t>
            </a:r>
            <a:endParaRPr b="0" i="0" sz="880" u="none" cap="none" strike="noStrike">
              <a:solidFill>
                <a:schemeClr val="dk1"/>
              </a:solidFill>
              <a:latin typeface="Calibri"/>
              <a:ea typeface="Calibri"/>
              <a:cs typeface="Calibri"/>
              <a:sym typeface="Calibri"/>
            </a:endParaRPr>
          </a:p>
        </p:txBody>
      </p:sp>
      <p:sp>
        <p:nvSpPr>
          <p:cNvPr id="693" name="Google Shape;693;p16"/>
          <p:cNvSpPr/>
          <p:nvPr/>
        </p:nvSpPr>
        <p:spPr>
          <a:xfrm>
            <a:off x="4313834" y="5440680"/>
            <a:ext cx="3564026" cy="804672"/>
          </a:xfrm>
          <a:prstGeom prst="roundRect">
            <a:avLst>
              <a:gd fmla="val 7955"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6"/>
          <p:cNvSpPr/>
          <p:nvPr/>
        </p:nvSpPr>
        <p:spPr>
          <a:xfrm>
            <a:off x="4441850" y="5486400"/>
            <a:ext cx="330799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2A30"/>
              </a:buClr>
              <a:buSzPts val="1050"/>
              <a:buFont typeface="Cambria"/>
              <a:buNone/>
            </a:pPr>
            <a:r>
              <a:rPr b="1" i="0" lang="en-US" sz="1050" u="none" cap="none" strike="noStrike">
                <a:solidFill>
                  <a:srgbClr val="062A30"/>
                </a:solidFill>
                <a:latin typeface="Cambria"/>
                <a:ea typeface="Cambria"/>
                <a:cs typeface="Cambria"/>
                <a:sym typeface="Cambria"/>
              </a:rPr>
              <a:t>Six numbers before any detail</a:t>
            </a:r>
            <a:endParaRPr b="0" i="0" sz="1050" u="none" cap="none" strike="noStrike">
              <a:solidFill>
                <a:schemeClr val="dk1"/>
              </a:solidFill>
              <a:latin typeface="Calibri"/>
              <a:ea typeface="Calibri"/>
              <a:cs typeface="Calibri"/>
              <a:sym typeface="Calibri"/>
            </a:endParaRPr>
          </a:p>
        </p:txBody>
      </p:sp>
      <p:sp>
        <p:nvSpPr>
          <p:cNvPr id="695" name="Google Shape;695;p16"/>
          <p:cNvSpPr/>
          <p:nvPr/>
        </p:nvSpPr>
        <p:spPr>
          <a:xfrm>
            <a:off x="4441850" y="5687568"/>
            <a:ext cx="3307994" cy="51206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Score, volume, proper percentage, records needing action, users below floor and duplicate clusters. A client understands their situation before anyone explains anything.</a:t>
            </a:r>
            <a:endParaRPr b="0" i="0" sz="880" u="none" cap="none" strike="noStrike">
              <a:solidFill>
                <a:schemeClr val="dk1"/>
              </a:solidFill>
              <a:latin typeface="Calibri"/>
              <a:ea typeface="Calibri"/>
              <a:cs typeface="Calibri"/>
              <a:sym typeface="Calibri"/>
            </a:endParaRPr>
          </a:p>
        </p:txBody>
      </p:sp>
      <p:sp>
        <p:nvSpPr>
          <p:cNvPr id="696" name="Google Shape;696;p16"/>
          <p:cNvSpPr/>
          <p:nvPr/>
        </p:nvSpPr>
        <p:spPr>
          <a:xfrm>
            <a:off x="8060741" y="5440680"/>
            <a:ext cx="3564026" cy="804672"/>
          </a:xfrm>
          <a:prstGeom prst="roundRect">
            <a:avLst>
              <a:gd fmla="val 7955"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6"/>
          <p:cNvSpPr/>
          <p:nvPr/>
        </p:nvSpPr>
        <p:spPr>
          <a:xfrm>
            <a:off x="8188757" y="5486400"/>
            <a:ext cx="330799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2A30"/>
              </a:buClr>
              <a:buSzPts val="1050"/>
              <a:buFont typeface="Cambria"/>
              <a:buNone/>
            </a:pPr>
            <a:r>
              <a:rPr b="1" i="0" lang="en-US" sz="1050" u="none" cap="none" strike="noStrike">
                <a:solidFill>
                  <a:srgbClr val="062A30"/>
                </a:solidFill>
                <a:latin typeface="Cambria"/>
                <a:ea typeface="Cambria"/>
                <a:cs typeface="Cambria"/>
                <a:sym typeface="Cambria"/>
              </a:rPr>
              <a:t>The trend is the argument</a:t>
            </a:r>
            <a:endParaRPr b="0" i="0" sz="1050" u="none" cap="none" strike="noStrike">
              <a:solidFill>
                <a:schemeClr val="dk1"/>
              </a:solidFill>
              <a:latin typeface="Calibri"/>
              <a:ea typeface="Calibri"/>
              <a:cs typeface="Calibri"/>
              <a:sym typeface="Calibri"/>
            </a:endParaRPr>
          </a:p>
        </p:txBody>
      </p:sp>
      <p:sp>
        <p:nvSpPr>
          <p:cNvPr id="698" name="Google Shape;698;p16"/>
          <p:cNvSpPr/>
          <p:nvPr/>
        </p:nvSpPr>
        <p:spPr>
          <a:xfrm>
            <a:off x="8188757" y="5687568"/>
            <a:ext cx="3307994" cy="51206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Org score flat at 52 while the created in period score climbs from 39 to 61 is the single most persuasive chart in the product. It proves the fix worked.</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3" name="Shape 703"/>
        <p:cNvGrpSpPr/>
        <p:nvPr/>
      </p:nvGrpSpPr>
      <p:grpSpPr>
        <a:xfrm>
          <a:off x="0" y="0"/>
          <a:ext cx="0" cy="0"/>
          <a:chOff x="0" y="0"/>
          <a:chExt cx="0" cy="0"/>
        </a:xfrm>
      </p:grpSpPr>
      <p:sp>
        <p:nvSpPr>
          <p:cNvPr id="704" name="Google Shape;704;p17"/>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Interface 3: user accountability</a:t>
            </a:r>
            <a:endParaRPr b="0" i="0" sz="3000" u="none" cap="none" strike="noStrike">
              <a:solidFill>
                <a:schemeClr val="dk1"/>
              </a:solidFill>
              <a:latin typeface="Calibri"/>
              <a:ea typeface="Calibri"/>
              <a:cs typeface="Calibri"/>
              <a:sym typeface="Calibri"/>
            </a:endParaRPr>
          </a:p>
        </p:txBody>
      </p:sp>
      <p:sp>
        <p:nvSpPr>
          <p:cNvPr id="705" name="Google Shape;705;p17"/>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Who creates clean data and who does not. The screen that turns a report into a management action.</a:t>
            </a:r>
            <a:endParaRPr b="0" i="0" sz="1350" u="none" cap="none" strike="noStrike">
              <a:solidFill>
                <a:schemeClr val="dk1"/>
              </a:solidFill>
              <a:latin typeface="Calibri"/>
              <a:ea typeface="Calibri"/>
              <a:cs typeface="Calibri"/>
              <a:sym typeface="Calibri"/>
            </a:endParaRPr>
          </a:p>
        </p:txBody>
      </p:sp>
      <p:sp>
        <p:nvSpPr>
          <p:cNvPr id="706" name="Google Shape;706;p17"/>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707" name="Google Shape;707;p17"/>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17</a:t>
            </a:r>
            <a:endParaRPr b="0" i="0" sz="950" u="none" cap="none" strike="noStrike">
              <a:solidFill>
                <a:schemeClr val="dk1"/>
              </a:solidFill>
              <a:latin typeface="Calibri"/>
              <a:ea typeface="Calibri"/>
              <a:cs typeface="Calibri"/>
              <a:sym typeface="Calibri"/>
            </a:endParaRPr>
          </a:p>
        </p:txBody>
      </p:sp>
      <p:sp>
        <p:nvSpPr>
          <p:cNvPr id="708" name="Google Shape;708;p17"/>
          <p:cNvSpPr/>
          <p:nvPr/>
        </p:nvSpPr>
        <p:spPr>
          <a:xfrm>
            <a:off x="566928" y="1463040"/>
            <a:ext cx="11057839" cy="3840480"/>
          </a:xfrm>
          <a:prstGeom prst="roundRect">
            <a:avLst>
              <a:gd fmla="val 1190" name="adj"/>
            </a:avLst>
          </a:prstGeom>
          <a:solidFill>
            <a:srgbClr val="FFFFFF"/>
          </a:solidFill>
          <a:ln cap="flat" cmpd="sng" w="12700">
            <a:solidFill>
              <a:srgbClr val="9AA3AD"/>
            </a:solidFill>
            <a:prstDash val="solid"/>
            <a:round/>
            <a:headEnd len="sm" w="sm" type="none"/>
            <a:tailEnd len="sm" w="sm" type="none"/>
          </a:ln>
          <a:effectLst>
            <a:outerShdw blurRad="1270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7"/>
          <p:cNvSpPr/>
          <p:nvPr/>
        </p:nvSpPr>
        <p:spPr>
          <a:xfrm>
            <a:off x="576072" y="1472184"/>
            <a:ext cx="11039551" cy="384048"/>
          </a:xfrm>
          <a:prstGeom prst="rect">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7"/>
          <p:cNvSpPr/>
          <p:nvPr/>
        </p:nvSpPr>
        <p:spPr>
          <a:xfrm>
            <a:off x="694944" y="1604772"/>
            <a:ext cx="100584" cy="100584"/>
          </a:xfrm>
          <a:prstGeom prst="ellipse">
            <a:avLst/>
          </a:prstGeom>
          <a:solidFill>
            <a:srgbClr val="E06C5A"/>
          </a:solidFill>
          <a:ln cap="flat" cmpd="sng" w="12700">
            <a:solidFill>
              <a:srgbClr val="E06C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7"/>
          <p:cNvSpPr/>
          <p:nvPr/>
        </p:nvSpPr>
        <p:spPr>
          <a:xfrm>
            <a:off x="850392" y="1604772"/>
            <a:ext cx="100584" cy="100584"/>
          </a:xfrm>
          <a:prstGeom prst="ellipse">
            <a:avLst/>
          </a:prstGeom>
          <a:solidFill>
            <a:srgbClr val="E0B84A"/>
          </a:solidFill>
          <a:ln cap="flat" cmpd="sng" w="12700">
            <a:solidFill>
              <a:srgbClr val="E0B8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7"/>
          <p:cNvSpPr/>
          <p:nvPr/>
        </p:nvSpPr>
        <p:spPr>
          <a:xfrm>
            <a:off x="1005840" y="1604772"/>
            <a:ext cx="100584" cy="100584"/>
          </a:xfrm>
          <a:prstGeom prst="ellipse">
            <a:avLst/>
          </a:prstGeom>
          <a:solidFill>
            <a:srgbClr val="5AB77A"/>
          </a:solidFill>
          <a:ln cap="flat" cmpd="sng" w="12700">
            <a:solidFill>
              <a:srgbClr val="5AB7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7"/>
          <p:cNvSpPr/>
          <p:nvPr/>
        </p:nvSpPr>
        <p:spPr>
          <a:xfrm>
            <a:off x="1225296" y="1490472"/>
            <a:ext cx="3108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FI Data Health Scanner  ·  Users</a:t>
            </a:r>
            <a:endParaRPr b="0" i="0" sz="1050" u="none" cap="none" strike="noStrike">
              <a:solidFill>
                <a:schemeClr val="dk1"/>
              </a:solidFill>
              <a:latin typeface="Calibri"/>
              <a:ea typeface="Calibri"/>
              <a:cs typeface="Calibri"/>
              <a:sym typeface="Calibri"/>
            </a:endParaRPr>
          </a:p>
        </p:txBody>
      </p:sp>
      <p:sp>
        <p:nvSpPr>
          <p:cNvPr id="714" name="Google Shape;714;p17"/>
          <p:cNvSpPr/>
          <p:nvPr/>
        </p:nvSpPr>
        <p:spPr>
          <a:xfrm>
            <a:off x="11134649" y="1545336"/>
            <a:ext cx="343814"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7"/>
          <p:cNvSpPr/>
          <p:nvPr/>
        </p:nvSpPr>
        <p:spPr>
          <a:xfrm>
            <a:off x="11134649" y="1545336"/>
            <a:ext cx="343814"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Fix</a:t>
            </a:r>
            <a:endParaRPr b="0" i="0" sz="850" u="none" cap="none" strike="noStrike">
              <a:solidFill>
                <a:schemeClr val="dk1"/>
              </a:solidFill>
              <a:latin typeface="Calibri"/>
              <a:ea typeface="Calibri"/>
              <a:cs typeface="Calibri"/>
              <a:sym typeface="Calibri"/>
            </a:endParaRPr>
          </a:p>
        </p:txBody>
      </p:sp>
      <p:sp>
        <p:nvSpPr>
          <p:cNvPr id="716" name="Google Shape;716;p17"/>
          <p:cNvSpPr/>
          <p:nvPr/>
        </p:nvSpPr>
        <p:spPr>
          <a:xfrm>
            <a:off x="10454335" y="1545336"/>
            <a:ext cx="607162"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7"/>
          <p:cNvSpPr/>
          <p:nvPr/>
        </p:nvSpPr>
        <p:spPr>
          <a:xfrm>
            <a:off x="10454335" y="1545336"/>
            <a:ext cx="60716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Records</a:t>
            </a:r>
            <a:endParaRPr b="0" i="0" sz="850" u="none" cap="none" strike="noStrike">
              <a:solidFill>
                <a:schemeClr val="dk1"/>
              </a:solidFill>
              <a:latin typeface="Calibri"/>
              <a:ea typeface="Calibri"/>
              <a:cs typeface="Calibri"/>
              <a:sym typeface="Calibri"/>
            </a:endParaRPr>
          </a:p>
        </p:txBody>
      </p:sp>
      <p:sp>
        <p:nvSpPr>
          <p:cNvPr id="718" name="Google Shape;718;p17"/>
          <p:cNvSpPr/>
          <p:nvPr/>
        </p:nvSpPr>
        <p:spPr>
          <a:xfrm>
            <a:off x="9905695" y="1545336"/>
            <a:ext cx="47548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7"/>
          <p:cNvSpPr/>
          <p:nvPr/>
        </p:nvSpPr>
        <p:spPr>
          <a:xfrm>
            <a:off x="9905695" y="1545336"/>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Trend</a:t>
            </a:r>
            <a:endParaRPr b="0" i="0" sz="850" u="none" cap="none" strike="noStrike">
              <a:solidFill>
                <a:schemeClr val="dk1"/>
              </a:solidFill>
              <a:latin typeface="Calibri"/>
              <a:ea typeface="Calibri"/>
              <a:cs typeface="Calibri"/>
              <a:sym typeface="Calibri"/>
            </a:endParaRPr>
          </a:p>
        </p:txBody>
      </p:sp>
      <p:sp>
        <p:nvSpPr>
          <p:cNvPr id="720" name="Google Shape;720;p17"/>
          <p:cNvSpPr/>
          <p:nvPr/>
        </p:nvSpPr>
        <p:spPr>
          <a:xfrm>
            <a:off x="9225382" y="1545336"/>
            <a:ext cx="607162"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7"/>
          <p:cNvSpPr/>
          <p:nvPr/>
        </p:nvSpPr>
        <p:spPr>
          <a:xfrm>
            <a:off x="9225382" y="1545336"/>
            <a:ext cx="60716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Modules</a:t>
            </a:r>
            <a:endParaRPr b="0" i="0" sz="850" u="none" cap="none" strike="noStrike">
              <a:solidFill>
                <a:schemeClr val="dk1"/>
              </a:solidFill>
              <a:latin typeface="Calibri"/>
              <a:ea typeface="Calibri"/>
              <a:cs typeface="Calibri"/>
              <a:sym typeface="Calibri"/>
            </a:endParaRPr>
          </a:p>
        </p:txBody>
      </p:sp>
      <p:sp>
        <p:nvSpPr>
          <p:cNvPr id="722" name="Google Shape;722;p17"/>
          <p:cNvSpPr/>
          <p:nvPr/>
        </p:nvSpPr>
        <p:spPr>
          <a:xfrm>
            <a:off x="8676742" y="1545336"/>
            <a:ext cx="475488" cy="228600"/>
          </a:xfrm>
          <a:prstGeom prst="roundRect">
            <a:avLst>
              <a:gd fmla="val 2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7"/>
          <p:cNvSpPr/>
          <p:nvPr/>
        </p:nvSpPr>
        <p:spPr>
          <a:xfrm>
            <a:off x="8676742" y="1545336"/>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Users</a:t>
            </a:r>
            <a:endParaRPr b="0" i="0" sz="850" u="none" cap="none" strike="noStrike">
              <a:solidFill>
                <a:schemeClr val="dk1"/>
              </a:solidFill>
              <a:latin typeface="Calibri"/>
              <a:ea typeface="Calibri"/>
              <a:cs typeface="Calibri"/>
              <a:sym typeface="Calibri"/>
            </a:endParaRPr>
          </a:p>
        </p:txBody>
      </p:sp>
      <p:sp>
        <p:nvSpPr>
          <p:cNvPr id="724" name="Google Shape;724;p17"/>
          <p:cNvSpPr/>
          <p:nvPr/>
        </p:nvSpPr>
        <p:spPr>
          <a:xfrm>
            <a:off x="7930591" y="1545336"/>
            <a:ext cx="67299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7"/>
          <p:cNvSpPr/>
          <p:nvPr/>
        </p:nvSpPr>
        <p:spPr>
          <a:xfrm>
            <a:off x="7930591" y="1545336"/>
            <a:ext cx="67299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Overview</a:t>
            </a:r>
            <a:endParaRPr b="0" i="0" sz="850" u="none" cap="none" strike="noStrike">
              <a:solidFill>
                <a:schemeClr val="dk1"/>
              </a:solidFill>
              <a:latin typeface="Calibri"/>
              <a:ea typeface="Calibri"/>
              <a:cs typeface="Calibri"/>
              <a:sym typeface="Calibri"/>
            </a:endParaRPr>
          </a:p>
        </p:txBody>
      </p:sp>
      <p:sp>
        <p:nvSpPr>
          <p:cNvPr id="726" name="Google Shape;726;p17"/>
          <p:cNvSpPr/>
          <p:nvPr/>
        </p:nvSpPr>
        <p:spPr>
          <a:xfrm>
            <a:off x="713232" y="1938528"/>
            <a:ext cx="1742846" cy="256032"/>
          </a:xfrm>
          <a:prstGeom prst="roundRect">
            <a:avLst>
              <a:gd fmla="val 17857"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7"/>
          <p:cNvSpPr/>
          <p:nvPr/>
        </p:nvSpPr>
        <p:spPr>
          <a:xfrm>
            <a:off x="804672" y="1938528"/>
            <a:ext cx="155996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60"/>
              <a:buFont typeface="Calibri"/>
              <a:buNone/>
            </a:pPr>
            <a:r>
              <a:rPr b="1" i="0" lang="en-US" sz="760" u="none" cap="none" strike="noStrike">
                <a:solidFill>
                  <a:srgbClr val="046B73"/>
                </a:solidFill>
                <a:latin typeface="Calibri"/>
                <a:ea typeface="Calibri"/>
                <a:cs typeface="Calibri"/>
                <a:sym typeface="Calibri"/>
              </a:rPr>
              <a:t>Period  01 May to 07 Aug 2026</a:t>
            </a:r>
            <a:endParaRPr b="0" i="0" sz="760" u="none" cap="none" strike="noStrike">
              <a:solidFill>
                <a:schemeClr val="dk1"/>
              </a:solidFill>
              <a:latin typeface="Calibri"/>
              <a:ea typeface="Calibri"/>
              <a:cs typeface="Calibri"/>
              <a:sym typeface="Calibri"/>
            </a:endParaRPr>
          </a:p>
        </p:txBody>
      </p:sp>
      <p:sp>
        <p:nvSpPr>
          <p:cNvPr id="728" name="Google Shape;728;p17"/>
          <p:cNvSpPr/>
          <p:nvPr/>
        </p:nvSpPr>
        <p:spPr>
          <a:xfrm>
            <a:off x="2547518" y="1938528"/>
            <a:ext cx="1424635" cy="256032"/>
          </a:xfrm>
          <a:prstGeom prst="roundRect">
            <a:avLst>
              <a:gd fmla="val 17857"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7"/>
          <p:cNvSpPr/>
          <p:nvPr/>
        </p:nvSpPr>
        <p:spPr>
          <a:xfrm>
            <a:off x="2638958" y="1938528"/>
            <a:ext cx="1241755"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60"/>
              <a:buFont typeface="Calibri"/>
              <a:buNone/>
            </a:pPr>
            <a:r>
              <a:rPr b="1" i="0" lang="en-US" sz="760" u="none" cap="none" strike="noStrike">
                <a:solidFill>
                  <a:srgbClr val="046B73"/>
                </a:solidFill>
                <a:latin typeface="Calibri"/>
                <a:ea typeface="Calibri"/>
                <a:cs typeface="Calibri"/>
                <a:sym typeface="Calibri"/>
              </a:rPr>
              <a:t>Attribution  Created by</a:t>
            </a:r>
            <a:endParaRPr b="0" i="0" sz="760" u="none" cap="none" strike="noStrike">
              <a:solidFill>
                <a:schemeClr val="dk1"/>
              </a:solidFill>
              <a:latin typeface="Calibri"/>
              <a:ea typeface="Calibri"/>
              <a:cs typeface="Calibri"/>
              <a:sym typeface="Calibri"/>
            </a:endParaRPr>
          </a:p>
        </p:txBody>
      </p:sp>
      <p:sp>
        <p:nvSpPr>
          <p:cNvPr id="730" name="Google Shape;730;p17"/>
          <p:cNvSpPr/>
          <p:nvPr/>
        </p:nvSpPr>
        <p:spPr>
          <a:xfrm>
            <a:off x="4063594" y="1938528"/>
            <a:ext cx="788213" cy="256032"/>
          </a:xfrm>
          <a:prstGeom prst="roundRect">
            <a:avLst>
              <a:gd fmla="val 17857" name="adj"/>
            </a:avLst>
          </a:prstGeom>
          <a:solidFill>
            <a:srgbClr val="FFFFFF"/>
          </a:solid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7"/>
          <p:cNvSpPr/>
          <p:nvPr/>
        </p:nvSpPr>
        <p:spPr>
          <a:xfrm>
            <a:off x="4155034" y="1938528"/>
            <a:ext cx="605333"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60"/>
              <a:buFont typeface="Calibri"/>
              <a:buNone/>
            </a:pPr>
            <a:r>
              <a:rPr b="0" i="0" lang="en-US" sz="760" u="none" cap="none" strike="noStrike">
                <a:solidFill>
                  <a:srgbClr val="4B535C"/>
                </a:solidFill>
                <a:latin typeface="Calibri"/>
                <a:ea typeface="Calibri"/>
                <a:cs typeface="Calibri"/>
                <a:sym typeface="Calibri"/>
              </a:rPr>
              <a:t>Module  All</a:t>
            </a:r>
            <a:endParaRPr b="0" i="0" sz="760" u="none" cap="none" strike="noStrike">
              <a:solidFill>
                <a:schemeClr val="dk1"/>
              </a:solidFill>
              <a:latin typeface="Calibri"/>
              <a:ea typeface="Calibri"/>
              <a:cs typeface="Calibri"/>
              <a:sym typeface="Calibri"/>
            </a:endParaRPr>
          </a:p>
        </p:txBody>
      </p:sp>
      <p:sp>
        <p:nvSpPr>
          <p:cNvPr id="732" name="Google Shape;732;p17"/>
          <p:cNvSpPr/>
          <p:nvPr/>
        </p:nvSpPr>
        <p:spPr>
          <a:xfrm>
            <a:off x="4943246" y="1938528"/>
            <a:ext cx="788213" cy="256032"/>
          </a:xfrm>
          <a:prstGeom prst="roundRect">
            <a:avLst>
              <a:gd fmla="val 17857" name="adj"/>
            </a:avLst>
          </a:prstGeom>
          <a:solidFill>
            <a:srgbClr val="FFFFFF"/>
          </a:solid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7"/>
          <p:cNvSpPr/>
          <p:nvPr/>
        </p:nvSpPr>
        <p:spPr>
          <a:xfrm>
            <a:off x="5034686" y="1938528"/>
            <a:ext cx="605333"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60"/>
              <a:buFont typeface="Calibri"/>
              <a:buNone/>
            </a:pPr>
            <a:r>
              <a:rPr b="0" i="0" lang="en-US" sz="760" u="none" cap="none" strike="noStrike">
                <a:solidFill>
                  <a:srgbClr val="4B535C"/>
                </a:solidFill>
                <a:latin typeface="Calibri"/>
                <a:ea typeface="Calibri"/>
                <a:cs typeface="Calibri"/>
                <a:sym typeface="Calibri"/>
              </a:rPr>
              <a:t>Team  All 6</a:t>
            </a:r>
            <a:endParaRPr b="0" i="0" sz="760" u="none" cap="none" strike="noStrike">
              <a:solidFill>
                <a:schemeClr val="dk1"/>
              </a:solidFill>
              <a:latin typeface="Calibri"/>
              <a:ea typeface="Calibri"/>
              <a:cs typeface="Calibri"/>
              <a:sym typeface="Calibri"/>
            </a:endParaRPr>
          </a:p>
        </p:txBody>
      </p:sp>
      <p:sp>
        <p:nvSpPr>
          <p:cNvPr id="734" name="Google Shape;734;p17"/>
          <p:cNvSpPr/>
          <p:nvPr/>
        </p:nvSpPr>
        <p:spPr>
          <a:xfrm>
            <a:off x="5822899" y="1938528"/>
            <a:ext cx="1000354" cy="256032"/>
          </a:xfrm>
          <a:prstGeom prst="roundRect">
            <a:avLst>
              <a:gd fmla="val 17857" name="adj"/>
            </a:avLst>
          </a:prstGeom>
          <a:solidFill>
            <a:srgbClr val="FFFFFF"/>
          </a:solid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7"/>
          <p:cNvSpPr/>
          <p:nvPr/>
        </p:nvSpPr>
        <p:spPr>
          <a:xfrm>
            <a:off x="5914339" y="1938528"/>
            <a:ext cx="81747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60"/>
              <a:buFont typeface="Calibri"/>
              <a:buNone/>
            </a:pPr>
            <a:r>
              <a:rPr b="0" i="0" lang="en-US" sz="760" u="none" cap="none" strike="noStrike">
                <a:solidFill>
                  <a:srgbClr val="4B535C"/>
                </a:solidFill>
                <a:latin typeface="Calibri"/>
                <a:ea typeface="Calibri"/>
                <a:cs typeface="Calibri"/>
                <a:sym typeface="Calibri"/>
              </a:rPr>
              <a:t>Min records  25</a:t>
            </a:r>
            <a:endParaRPr b="0" i="0" sz="760" u="none" cap="none" strike="noStrike">
              <a:solidFill>
                <a:schemeClr val="dk1"/>
              </a:solidFill>
              <a:latin typeface="Calibri"/>
              <a:ea typeface="Calibri"/>
              <a:cs typeface="Calibri"/>
              <a:sym typeface="Calibri"/>
            </a:endParaRPr>
          </a:p>
        </p:txBody>
      </p:sp>
      <p:sp>
        <p:nvSpPr>
          <p:cNvPr id="736" name="Google Shape;736;p17"/>
          <p:cNvSpPr/>
          <p:nvPr/>
        </p:nvSpPr>
        <p:spPr>
          <a:xfrm>
            <a:off x="9146743" y="1938528"/>
            <a:ext cx="1188720" cy="256032"/>
          </a:xfrm>
          <a:prstGeom prst="roundRect">
            <a:avLst>
              <a:gd fmla="val 17857" name="adj"/>
            </a:avLst>
          </a:prstGeom>
          <a:solidFill>
            <a:srgbClr val="AEB5BC"/>
          </a:solidFill>
          <a:ln cap="flat" cmpd="sng" w="12700">
            <a:solidFill>
              <a:srgbClr val="AEB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7"/>
          <p:cNvSpPr/>
          <p:nvPr/>
        </p:nvSpPr>
        <p:spPr>
          <a:xfrm>
            <a:off x="9146743" y="1938528"/>
            <a:ext cx="11887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Bulk users excluded</a:t>
            </a:r>
            <a:endParaRPr b="0" i="0" sz="850" u="none" cap="none" strike="noStrike">
              <a:solidFill>
                <a:schemeClr val="dk1"/>
              </a:solidFill>
              <a:latin typeface="Calibri"/>
              <a:ea typeface="Calibri"/>
              <a:cs typeface="Calibri"/>
              <a:sym typeface="Calibri"/>
            </a:endParaRPr>
          </a:p>
        </p:txBody>
      </p:sp>
      <p:sp>
        <p:nvSpPr>
          <p:cNvPr id="738" name="Google Shape;738;p17"/>
          <p:cNvSpPr/>
          <p:nvPr/>
        </p:nvSpPr>
        <p:spPr>
          <a:xfrm>
            <a:off x="10426903" y="1938528"/>
            <a:ext cx="1051560" cy="256032"/>
          </a:xfrm>
          <a:prstGeom prst="roundRect">
            <a:avLst>
              <a:gd fmla="val 17857"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7"/>
          <p:cNvSpPr/>
          <p:nvPr/>
        </p:nvSpPr>
        <p:spPr>
          <a:xfrm>
            <a:off x="10426903" y="1938528"/>
            <a:ext cx="10515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Export</a:t>
            </a:r>
            <a:endParaRPr b="0" i="0" sz="850" u="none" cap="none" strike="noStrike">
              <a:solidFill>
                <a:schemeClr val="dk1"/>
              </a:solidFill>
              <a:latin typeface="Calibri"/>
              <a:ea typeface="Calibri"/>
              <a:cs typeface="Calibri"/>
              <a:sym typeface="Calibri"/>
            </a:endParaRPr>
          </a:p>
        </p:txBody>
      </p:sp>
      <p:sp>
        <p:nvSpPr>
          <p:cNvPr id="740" name="Google Shape;740;p17"/>
          <p:cNvSpPr/>
          <p:nvPr/>
        </p:nvSpPr>
        <p:spPr>
          <a:xfrm>
            <a:off x="713232" y="2313432"/>
            <a:ext cx="10765231" cy="237744"/>
          </a:xfrm>
          <a:prstGeom prst="rect">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7"/>
          <p:cNvSpPr/>
          <p:nvPr/>
        </p:nvSpPr>
        <p:spPr>
          <a:xfrm>
            <a:off x="1088136" y="2313432"/>
            <a:ext cx="14630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40"/>
              <a:buFont typeface="Calibri"/>
              <a:buNone/>
            </a:pPr>
            <a:r>
              <a:rPr b="1" i="0" lang="en-US" sz="740" u="none" cap="none" strike="noStrike">
                <a:solidFill>
                  <a:srgbClr val="FFFFFF"/>
                </a:solidFill>
                <a:latin typeface="Calibri"/>
                <a:ea typeface="Calibri"/>
                <a:cs typeface="Calibri"/>
                <a:sym typeface="Calibri"/>
              </a:rPr>
              <a:t>User</a:t>
            </a:r>
            <a:endParaRPr b="0" i="0" sz="740" u="none" cap="none" strike="noStrike">
              <a:solidFill>
                <a:schemeClr val="dk1"/>
              </a:solidFill>
              <a:latin typeface="Calibri"/>
              <a:ea typeface="Calibri"/>
              <a:cs typeface="Calibri"/>
              <a:sym typeface="Calibri"/>
            </a:endParaRPr>
          </a:p>
        </p:txBody>
      </p:sp>
      <p:sp>
        <p:nvSpPr>
          <p:cNvPr id="742" name="Google Shape;742;p17"/>
          <p:cNvSpPr/>
          <p:nvPr/>
        </p:nvSpPr>
        <p:spPr>
          <a:xfrm>
            <a:off x="2724912" y="2313432"/>
            <a:ext cx="14630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40"/>
              <a:buFont typeface="Calibri"/>
              <a:buNone/>
            </a:pPr>
            <a:r>
              <a:rPr b="1" i="0" lang="en-US" sz="740" u="none" cap="none" strike="noStrike">
                <a:solidFill>
                  <a:srgbClr val="FFFFFF"/>
                </a:solidFill>
                <a:latin typeface="Calibri"/>
                <a:ea typeface="Calibri"/>
                <a:cs typeface="Calibri"/>
                <a:sym typeface="Calibri"/>
              </a:rPr>
              <a:t>Team</a:t>
            </a:r>
            <a:endParaRPr b="0" i="0" sz="740" u="none" cap="none" strike="noStrike">
              <a:solidFill>
                <a:schemeClr val="dk1"/>
              </a:solidFill>
              <a:latin typeface="Calibri"/>
              <a:ea typeface="Calibri"/>
              <a:cs typeface="Calibri"/>
              <a:sym typeface="Calibri"/>
            </a:endParaRPr>
          </a:p>
        </p:txBody>
      </p:sp>
      <p:sp>
        <p:nvSpPr>
          <p:cNvPr id="743" name="Google Shape;743;p17"/>
          <p:cNvSpPr/>
          <p:nvPr/>
        </p:nvSpPr>
        <p:spPr>
          <a:xfrm>
            <a:off x="3867912" y="2313432"/>
            <a:ext cx="14630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40"/>
              <a:buFont typeface="Calibri"/>
              <a:buNone/>
            </a:pPr>
            <a:r>
              <a:rPr b="1" i="0" lang="en-US" sz="740" u="none" cap="none" strike="noStrike">
                <a:solidFill>
                  <a:srgbClr val="FFFFFF"/>
                </a:solidFill>
                <a:latin typeface="Calibri"/>
                <a:ea typeface="Calibri"/>
                <a:cs typeface="Calibri"/>
                <a:sym typeface="Calibri"/>
              </a:rPr>
              <a:t>Created</a:t>
            </a:r>
            <a:endParaRPr b="0" i="0" sz="740" u="none" cap="none" strike="noStrike">
              <a:solidFill>
                <a:schemeClr val="dk1"/>
              </a:solidFill>
              <a:latin typeface="Calibri"/>
              <a:ea typeface="Calibri"/>
              <a:cs typeface="Calibri"/>
              <a:sym typeface="Calibri"/>
            </a:endParaRPr>
          </a:p>
        </p:txBody>
      </p:sp>
      <p:sp>
        <p:nvSpPr>
          <p:cNvPr id="744" name="Google Shape;744;p17"/>
          <p:cNvSpPr/>
          <p:nvPr/>
        </p:nvSpPr>
        <p:spPr>
          <a:xfrm>
            <a:off x="4645152" y="2313432"/>
            <a:ext cx="14630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40"/>
              <a:buFont typeface="Calibri"/>
              <a:buNone/>
            </a:pPr>
            <a:r>
              <a:rPr b="1" i="0" lang="en-US" sz="740" u="none" cap="none" strike="noStrike">
                <a:solidFill>
                  <a:srgbClr val="FFFFFF"/>
                </a:solidFill>
                <a:latin typeface="Calibri"/>
                <a:ea typeface="Calibri"/>
                <a:cs typeface="Calibri"/>
                <a:sym typeface="Calibri"/>
              </a:rPr>
              <a:t>Score</a:t>
            </a:r>
            <a:endParaRPr b="0" i="0" sz="740" u="none" cap="none" strike="noStrike">
              <a:solidFill>
                <a:schemeClr val="dk1"/>
              </a:solidFill>
              <a:latin typeface="Calibri"/>
              <a:ea typeface="Calibri"/>
              <a:cs typeface="Calibri"/>
              <a:sym typeface="Calibri"/>
            </a:endParaRPr>
          </a:p>
        </p:txBody>
      </p:sp>
      <p:sp>
        <p:nvSpPr>
          <p:cNvPr id="745" name="Google Shape;745;p17"/>
          <p:cNvSpPr/>
          <p:nvPr/>
        </p:nvSpPr>
        <p:spPr>
          <a:xfrm>
            <a:off x="5330952" y="2313432"/>
            <a:ext cx="14630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40"/>
              <a:buFont typeface="Calibri"/>
              <a:buNone/>
            </a:pPr>
            <a:r>
              <a:rPr b="1" i="0" lang="en-US" sz="740" u="none" cap="none" strike="noStrike">
                <a:solidFill>
                  <a:srgbClr val="FFFFFF"/>
                </a:solidFill>
                <a:latin typeface="Calibri"/>
                <a:ea typeface="Calibri"/>
                <a:cs typeface="Calibri"/>
                <a:sym typeface="Calibri"/>
              </a:rPr>
              <a:t>Record state mix</a:t>
            </a:r>
            <a:endParaRPr b="0" i="0" sz="740" u="none" cap="none" strike="noStrike">
              <a:solidFill>
                <a:schemeClr val="dk1"/>
              </a:solidFill>
              <a:latin typeface="Calibri"/>
              <a:ea typeface="Calibri"/>
              <a:cs typeface="Calibri"/>
              <a:sym typeface="Calibri"/>
            </a:endParaRPr>
          </a:p>
        </p:txBody>
      </p:sp>
      <p:sp>
        <p:nvSpPr>
          <p:cNvPr id="746" name="Google Shape;746;p17"/>
          <p:cNvSpPr/>
          <p:nvPr/>
        </p:nvSpPr>
        <p:spPr>
          <a:xfrm>
            <a:off x="8028432" y="2313432"/>
            <a:ext cx="14630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40"/>
              <a:buFont typeface="Calibri"/>
              <a:buNone/>
            </a:pPr>
            <a:r>
              <a:rPr b="1" i="0" lang="en-US" sz="740" u="none" cap="none" strike="noStrike">
                <a:solidFill>
                  <a:srgbClr val="FFFFFF"/>
                </a:solidFill>
                <a:latin typeface="Calibri"/>
                <a:ea typeface="Calibri"/>
                <a:cs typeface="Calibri"/>
                <a:sym typeface="Calibri"/>
              </a:rPr>
              <a:t>Trend</a:t>
            </a:r>
            <a:endParaRPr b="0" i="0" sz="740" u="none" cap="none" strike="noStrike">
              <a:solidFill>
                <a:schemeClr val="dk1"/>
              </a:solidFill>
              <a:latin typeface="Calibri"/>
              <a:ea typeface="Calibri"/>
              <a:cs typeface="Calibri"/>
              <a:sym typeface="Calibri"/>
            </a:endParaRPr>
          </a:p>
        </p:txBody>
      </p:sp>
      <p:sp>
        <p:nvSpPr>
          <p:cNvPr id="747" name="Google Shape;747;p17"/>
          <p:cNvSpPr/>
          <p:nvPr/>
        </p:nvSpPr>
        <p:spPr>
          <a:xfrm>
            <a:off x="8988552" y="2313432"/>
            <a:ext cx="14630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40"/>
              <a:buFont typeface="Calibri"/>
              <a:buNone/>
            </a:pPr>
            <a:r>
              <a:rPr b="1" i="0" lang="en-US" sz="740" u="none" cap="none" strike="noStrike">
                <a:solidFill>
                  <a:srgbClr val="FFFFFF"/>
                </a:solidFill>
                <a:latin typeface="Calibri"/>
                <a:ea typeface="Calibri"/>
                <a:cs typeface="Calibri"/>
                <a:sym typeface="Calibri"/>
              </a:rPr>
              <a:t>Band</a:t>
            </a:r>
            <a:endParaRPr b="0" i="0" sz="740" u="none" cap="none" strike="noStrike">
              <a:solidFill>
                <a:schemeClr val="dk1"/>
              </a:solidFill>
              <a:latin typeface="Calibri"/>
              <a:ea typeface="Calibri"/>
              <a:cs typeface="Calibri"/>
              <a:sym typeface="Calibri"/>
            </a:endParaRPr>
          </a:p>
        </p:txBody>
      </p:sp>
      <p:sp>
        <p:nvSpPr>
          <p:cNvPr id="748" name="Google Shape;748;p17"/>
          <p:cNvSpPr/>
          <p:nvPr/>
        </p:nvSpPr>
        <p:spPr>
          <a:xfrm>
            <a:off x="10497312" y="2313432"/>
            <a:ext cx="14630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40"/>
              <a:buFont typeface="Calibri"/>
              <a:buNone/>
            </a:pPr>
            <a:r>
              <a:rPr b="1" i="0" lang="en-US" sz="740" u="none" cap="none" strike="noStrike">
                <a:solidFill>
                  <a:srgbClr val="FFFFFF"/>
                </a:solidFill>
                <a:latin typeface="Calibri"/>
                <a:ea typeface="Calibri"/>
                <a:cs typeface="Calibri"/>
                <a:sym typeface="Calibri"/>
              </a:rPr>
              <a:t>Action</a:t>
            </a:r>
            <a:endParaRPr b="0" i="0" sz="740" u="none" cap="none" strike="noStrike">
              <a:solidFill>
                <a:schemeClr val="dk1"/>
              </a:solidFill>
              <a:latin typeface="Calibri"/>
              <a:ea typeface="Calibri"/>
              <a:cs typeface="Calibri"/>
              <a:sym typeface="Calibri"/>
            </a:endParaRPr>
          </a:p>
        </p:txBody>
      </p:sp>
      <p:sp>
        <p:nvSpPr>
          <p:cNvPr id="749" name="Google Shape;749;p17"/>
          <p:cNvSpPr/>
          <p:nvPr/>
        </p:nvSpPr>
        <p:spPr>
          <a:xfrm>
            <a:off x="713232" y="2551176"/>
            <a:ext cx="10765231" cy="301752"/>
          </a:xfrm>
          <a:prstGeom prst="rect">
            <a:avLst/>
          </a:prstGeom>
          <a:solidFill>
            <a:srgbClr val="F7F9FA"/>
          </a:solidFill>
          <a:ln cap="flat" cmpd="sng" w="9525">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7"/>
          <p:cNvSpPr/>
          <p:nvPr/>
        </p:nvSpPr>
        <p:spPr>
          <a:xfrm>
            <a:off x="740664" y="2606040"/>
            <a:ext cx="192024" cy="192024"/>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7"/>
          <p:cNvSpPr/>
          <p:nvPr/>
        </p:nvSpPr>
        <p:spPr>
          <a:xfrm>
            <a:off x="740664" y="2606040"/>
            <a:ext cx="192024"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Calibri"/>
              <a:buNone/>
            </a:pPr>
            <a:r>
              <a:rPr b="1" i="0" lang="en-US" sz="720" u="none" cap="none" strike="noStrike">
                <a:solidFill>
                  <a:srgbClr val="FFFFFF"/>
                </a:solidFill>
                <a:latin typeface="Calibri"/>
                <a:ea typeface="Calibri"/>
                <a:cs typeface="Calibri"/>
                <a:sym typeface="Calibri"/>
              </a:rPr>
              <a:t>AD</a:t>
            </a:r>
            <a:endParaRPr b="0" i="0" sz="720" u="none" cap="none" strike="noStrike">
              <a:solidFill>
                <a:schemeClr val="dk1"/>
              </a:solidFill>
              <a:latin typeface="Calibri"/>
              <a:ea typeface="Calibri"/>
              <a:cs typeface="Calibri"/>
              <a:sym typeface="Calibri"/>
            </a:endParaRPr>
          </a:p>
        </p:txBody>
      </p:sp>
      <p:sp>
        <p:nvSpPr>
          <p:cNvPr id="752" name="Google Shape;752;p17"/>
          <p:cNvSpPr/>
          <p:nvPr/>
        </p:nvSpPr>
        <p:spPr>
          <a:xfrm>
            <a:off x="1088136" y="2551176"/>
            <a:ext cx="15544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A. Deshmukh</a:t>
            </a:r>
            <a:endParaRPr b="0" i="0" sz="780" u="none" cap="none" strike="noStrike">
              <a:solidFill>
                <a:schemeClr val="dk1"/>
              </a:solidFill>
              <a:latin typeface="Calibri"/>
              <a:ea typeface="Calibri"/>
              <a:cs typeface="Calibri"/>
              <a:sym typeface="Calibri"/>
            </a:endParaRPr>
          </a:p>
        </p:txBody>
      </p:sp>
      <p:sp>
        <p:nvSpPr>
          <p:cNvPr id="753" name="Google Shape;753;p17"/>
          <p:cNvSpPr/>
          <p:nvPr/>
        </p:nvSpPr>
        <p:spPr>
          <a:xfrm>
            <a:off x="2724912" y="2551176"/>
            <a:ext cx="10972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40"/>
              <a:buFont typeface="Calibri"/>
              <a:buNone/>
            </a:pPr>
            <a:r>
              <a:rPr b="0" i="0" lang="en-US" sz="740" u="none" cap="none" strike="noStrike">
                <a:solidFill>
                  <a:srgbClr val="4B535C"/>
                </a:solidFill>
                <a:latin typeface="Calibri"/>
                <a:ea typeface="Calibri"/>
                <a:cs typeface="Calibri"/>
                <a:sym typeface="Calibri"/>
              </a:rPr>
              <a:t>Sales West</a:t>
            </a:r>
            <a:endParaRPr b="0" i="0" sz="740" u="none" cap="none" strike="noStrike">
              <a:solidFill>
                <a:schemeClr val="dk1"/>
              </a:solidFill>
              <a:latin typeface="Calibri"/>
              <a:ea typeface="Calibri"/>
              <a:cs typeface="Calibri"/>
              <a:sym typeface="Calibri"/>
            </a:endParaRPr>
          </a:p>
        </p:txBody>
      </p:sp>
      <p:sp>
        <p:nvSpPr>
          <p:cNvPr id="754" name="Google Shape;754;p17"/>
          <p:cNvSpPr/>
          <p:nvPr/>
        </p:nvSpPr>
        <p:spPr>
          <a:xfrm>
            <a:off x="3867912" y="2551176"/>
            <a:ext cx="6400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40"/>
              <a:buFont typeface="Calibri"/>
              <a:buNone/>
            </a:pPr>
            <a:r>
              <a:rPr b="0" i="0" lang="en-US" sz="740" u="none" cap="none" strike="noStrike">
                <a:solidFill>
                  <a:srgbClr val="4B535C"/>
                </a:solidFill>
                <a:latin typeface="Calibri"/>
                <a:ea typeface="Calibri"/>
                <a:cs typeface="Calibri"/>
                <a:sym typeface="Calibri"/>
              </a:rPr>
              <a:t>412</a:t>
            </a:r>
            <a:endParaRPr b="0" i="0" sz="740" u="none" cap="none" strike="noStrike">
              <a:solidFill>
                <a:schemeClr val="dk1"/>
              </a:solidFill>
              <a:latin typeface="Calibri"/>
              <a:ea typeface="Calibri"/>
              <a:cs typeface="Calibri"/>
              <a:sym typeface="Calibri"/>
            </a:endParaRPr>
          </a:p>
        </p:txBody>
      </p:sp>
      <p:sp>
        <p:nvSpPr>
          <p:cNvPr id="755" name="Google Shape;755;p17"/>
          <p:cNvSpPr/>
          <p:nvPr/>
        </p:nvSpPr>
        <p:spPr>
          <a:xfrm>
            <a:off x="4645152" y="2615184"/>
            <a:ext cx="402336" cy="173736"/>
          </a:xfrm>
          <a:prstGeom prst="roundRect">
            <a:avLst>
              <a:gd fmla="val 31579" name="adj"/>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7"/>
          <p:cNvSpPr/>
          <p:nvPr/>
        </p:nvSpPr>
        <p:spPr>
          <a:xfrm>
            <a:off x="4645152" y="2615184"/>
            <a:ext cx="402336" cy="1737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84</a:t>
            </a:r>
            <a:endParaRPr b="0" i="0" sz="760" u="none" cap="none" strike="noStrike">
              <a:solidFill>
                <a:schemeClr val="dk1"/>
              </a:solidFill>
              <a:latin typeface="Calibri"/>
              <a:ea typeface="Calibri"/>
              <a:cs typeface="Calibri"/>
              <a:sym typeface="Calibri"/>
            </a:endParaRPr>
          </a:p>
        </p:txBody>
      </p:sp>
      <p:sp>
        <p:nvSpPr>
          <p:cNvPr id="757" name="Google Shape;757;p17"/>
          <p:cNvSpPr/>
          <p:nvPr/>
        </p:nvSpPr>
        <p:spPr>
          <a:xfrm>
            <a:off x="5330952" y="2633472"/>
            <a:ext cx="2201875" cy="146304"/>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7"/>
          <p:cNvSpPr/>
          <p:nvPr/>
        </p:nvSpPr>
        <p:spPr>
          <a:xfrm>
            <a:off x="7532827" y="2633472"/>
            <a:ext cx="204826" cy="146304"/>
          </a:xfrm>
          <a:prstGeom prst="rect">
            <a:avLst/>
          </a:prstGeom>
          <a:solidFill>
            <a:srgbClr val="E0A33C"/>
          </a:solidFill>
          <a:ln cap="flat" cmpd="sng" w="12700">
            <a:solidFill>
              <a:srgbClr val="E0A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7"/>
          <p:cNvSpPr/>
          <p:nvPr/>
        </p:nvSpPr>
        <p:spPr>
          <a:xfrm>
            <a:off x="7737653" y="2633472"/>
            <a:ext cx="76810" cy="146304"/>
          </a:xfrm>
          <a:prstGeom prst="rect">
            <a:avLst/>
          </a:prstGeom>
          <a:solidFill>
            <a:srgbClr val="D1603D"/>
          </a:solidFill>
          <a:ln cap="flat" cmpd="sng" w="12700">
            <a:solidFill>
              <a:srgbClr val="D16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7"/>
          <p:cNvSpPr/>
          <p:nvPr/>
        </p:nvSpPr>
        <p:spPr>
          <a:xfrm>
            <a:off x="7814462" y="2633472"/>
            <a:ext cx="0" cy="146304"/>
          </a:xfrm>
          <a:prstGeom prst="rect">
            <a:avLst/>
          </a:prstGeom>
          <a:solidFill>
            <a:srgbClr val="7A5AA6"/>
          </a:solidFill>
          <a:ln cap="flat" cmpd="sng" w="12700">
            <a:solidFill>
              <a:srgbClr val="7A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7"/>
          <p:cNvSpPr/>
          <p:nvPr/>
        </p:nvSpPr>
        <p:spPr>
          <a:xfrm>
            <a:off x="7814462" y="2633472"/>
            <a:ext cx="51206" cy="146304"/>
          </a:xfrm>
          <a:prstGeom prst="rect">
            <a:avLst/>
          </a:prstGeom>
          <a:solidFill>
            <a:srgbClr val="4A87A8"/>
          </a:solidFill>
          <a:ln cap="flat" cmpd="sng" w="12700">
            <a:solidFill>
              <a:srgbClr val="4A8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7"/>
          <p:cNvSpPr/>
          <p:nvPr/>
        </p:nvSpPr>
        <p:spPr>
          <a:xfrm>
            <a:off x="7865669" y="2633472"/>
            <a:ext cx="25603" cy="146304"/>
          </a:xfrm>
          <a:prstGeom prst="rect">
            <a:avLst/>
          </a:prstGeom>
          <a:solidFill>
            <a:srgbClr val="A8352B"/>
          </a:solidFill>
          <a:ln cap="flat" cmpd="sng" w="12700">
            <a:solidFill>
              <a:srgbClr val="A835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7"/>
          <p:cNvSpPr/>
          <p:nvPr/>
        </p:nvSpPr>
        <p:spPr>
          <a:xfrm>
            <a:off x="5330952" y="2633472"/>
            <a:ext cx="2560320" cy="146304"/>
          </a:xfrm>
          <a:prstGeom prst="rect">
            <a:avLst/>
          </a:prstGeom>
          <a:solidFill>
            <a:srgbClr val="FFFFFF">
              <a:alpha val="0"/>
            </a:srgbClr>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7"/>
          <p:cNvSpPr/>
          <p:nvPr/>
        </p:nvSpPr>
        <p:spPr>
          <a:xfrm>
            <a:off x="8028432" y="2765146"/>
            <a:ext cx="64122" cy="32918"/>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7"/>
          <p:cNvSpPr/>
          <p:nvPr/>
        </p:nvSpPr>
        <p:spPr>
          <a:xfrm>
            <a:off x="8125587" y="2742075"/>
            <a:ext cx="64122" cy="55989"/>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7"/>
          <p:cNvSpPr/>
          <p:nvPr/>
        </p:nvSpPr>
        <p:spPr>
          <a:xfrm>
            <a:off x="8222742" y="2719004"/>
            <a:ext cx="64122" cy="79060"/>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7"/>
          <p:cNvSpPr/>
          <p:nvPr/>
        </p:nvSpPr>
        <p:spPr>
          <a:xfrm>
            <a:off x="8319897" y="2690165"/>
            <a:ext cx="64122" cy="107899"/>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7"/>
          <p:cNvSpPr/>
          <p:nvPr/>
        </p:nvSpPr>
        <p:spPr>
          <a:xfrm>
            <a:off x="8417052" y="2672862"/>
            <a:ext cx="64122" cy="125202"/>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7"/>
          <p:cNvSpPr/>
          <p:nvPr/>
        </p:nvSpPr>
        <p:spPr>
          <a:xfrm>
            <a:off x="8514207" y="2644023"/>
            <a:ext cx="64122" cy="154041"/>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7"/>
          <p:cNvSpPr/>
          <p:nvPr/>
        </p:nvSpPr>
        <p:spPr>
          <a:xfrm>
            <a:off x="8611362" y="2626720"/>
            <a:ext cx="64122" cy="171344"/>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7"/>
          <p:cNvSpPr/>
          <p:nvPr/>
        </p:nvSpPr>
        <p:spPr>
          <a:xfrm>
            <a:off x="8708517" y="2615184"/>
            <a:ext cx="64122" cy="182880"/>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7"/>
          <p:cNvSpPr/>
          <p:nvPr/>
        </p:nvSpPr>
        <p:spPr>
          <a:xfrm>
            <a:off x="8988552" y="2615184"/>
            <a:ext cx="1371600" cy="173736"/>
          </a:xfrm>
          <a:prstGeom prst="roundRect">
            <a:avLst>
              <a:gd fmla="val 31579" name="adj"/>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7"/>
          <p:cNvSpPr/>
          <p:nvPr/>
        </p:nvSpPr>
        <p:spPr>
          <a:xfrm>
            <a:off x="8988552" y="2615184"/>
            <a:ext cx="1371600" cy="1737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Exemplary</a:t>
            </a:r>
            <a:endParaRPr b="0" i="0" sz="760" u="none" cap="none" strike="noStrike">
              <a:solidFill>
                <a:schemeClr val="dk1"/>
              </a:solidFill>
              <a:latin typeface="Calibri"/>
              <a:ea typeface="Calibri"/>
              <a:cs typeface="Calibri"/>
              <a:sym typeface="Calibri"/>
            </a:endParaRPr>
          </a:p>
        </p:txBody>
      </p:sp>
      <p:sp>
        <p:nvSpPr>
          <p:cNvPr id="774" name="Google Shape;774;p17"/>
          <p:cNvSpPr/>
          <p:nvPr/>
        </p:nvSpPr>
        <p:spPr>
          <a:xfrm>
            <a:off x="10497312" y="2551176"/>
            <a:ext cx="10058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20"/>
              <a:buFont typeface="Calibri"/>
              <a:buNone/>
            </a:pPr>
            <a:r>
              <a:rPr b="1" i="0" lang="en-US" sz="720" u="none" cap="none" strike="noStrike">
                <a:solidFill>
                  <a:srgbClr val="046B73"/>
                </a:solidFill>
                <a:latin typeface="Calibri"/>
                <a:ea typeface="Calibri"/>
                <a:cs typeface="Calibri"/>
                <a:sym typeface="Calibri"/>
              </a:rPr>
              <a:t>Use as model</a:t>
            </a:r>
            <a:endParaRPr b="0" i="0" sz="720" u="none" cap="none" strike="noStrike">
              <a:solidFill>
                <a:schemeClr val="dk1"/>
              </a:solidFill>
              <a:latin typeface="Calibri"/>
              <a:ea typeface="Calibri"/>
              <a:cs typeface="Calibri"/>
              <a:sym typeface="Calibri"/>
            </a:endParaRPr>
          </a:p>
        </p:txBody>
      </p:sp>
      <p:sp>
        <p:nvSpPr>
          <p:cNvPr id="775" name="Google Shape;775;p17"/>
          <p:cNvSpPr/>
          <p:nvPr/>
        </p:nvSpPr>
        <p:spPr>
          <a:xfrm>
            <a:off x="713232" y="2852928"/>
            <a:ext cx="10765231" cy="301752"/>
          </a:xfrm>
          <a:prstGeom prst="rect">
            <a:avLst/>
          </a:prstGeom>
          <a:solidFill>
            <a:srgbClr val="FFFFFF"/>
          </a:solidFill>
          <a:ln cap="flat" cmpd="sng" w="9525">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7"/>
          <p:cNvSpPr/>
          <p:nvPr/>
        </p:nvSpPr>
        <p:spPr>
          <a:xfrm>
            <a:off x="740664" y="2907792"/>
            <a:ext cx="192024" cy="192024"/>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7"/>
          <p:cNvSpPr/>
          <p:nvPr/>
        </p:nvSpPr>
        <p:spPr>
          <a:xfrm>
            <a:off x="740664" y="2907792"/>
            <a:ext cx="192024"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Calibri"/>
              <a:buNone/>
            </a:pPr>
            <a:r>
              <a:rPr b="1" i="0" lang="en-US" sz="720" u="none" cap="none" strike="noStrike">
                <a:solidFill>
                  <a:srgbClr val="FFFFFF"/>
                </a:solidFill>
                <a:latin typeface="Calibri"/>
                <a:ea typeface="Calibri"/>
                <a:cs typeface="Calibri"/>
                <a:sym typeface="Calibri"/>
              </a:rPr>
              <a:t>PM</a:t>
            </a:r>
            <a:endParaRPr b="0" i="0" sz="720" u="none" cap="none" strike="noStrike">
              <a:solidFill>
                <a:schemeClr val="dk1"/>
              </a:solidFill>
              <a:latin typeface="Calibri"/>
              <a:ea typeface="Calibri"/>
              <a:cs typeface="Calibri"/>
              <a:sym typeface="Calibri"/>
            </a:endParaRPr>
          </a:p>
        </p:txBody>
      </p:sp>
      <p:sp>
        <p:nvSpPr>
          <p:cNvPr id="778" name="Google Shape;778;p17"/>
          <p:cNvSpPr/>
          <p:nvPr/>
        </p:nvSpPr>
        <p:spPr>
          <a:xfrm>
            <a:off x="1088136" y="2852928"/>
            <a:ext cx="15544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P. Modi</a:t>
            </a:r>
            <a:endParaRPr b="0" i="0" sz="780" u="none" cap="none" strike="noStrike">
              <a:solidFill>
                <a:schemeClr val="dk1"/>
              </a:solidFill>
              <a:latin typeface="Calibri"/>
              <a:ea typeface="Calibri"/>
              <a:cs typeface="Calibri"/>
              <a:sym typeface="Calibri"/>
            </a:endParaRPr>
          </a:p>
        </p:txBody>
      </p:sp>
      <p:sp>
        <p:nvSpPr>
          <p:cNvPr id="779" name="Google Shape;779;p17"/>
          <p:cNvSpPr/>
          <p:nvPr/>
        </p:nvSpPr>
        <p:spPr>
          <a:xfrm>
            <a:off x="2724912" y="2852928"/>
            <a:ext cx="10972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40"/>
              <a:buFont typeface="Calibri"/>
              <a:buNone/>
            </a:pPr>
            <a:r>
              <a:rPr b="0" i="0" lang="en-US" sz="740" u="none" cap="none" strike="noStrike">
                <a:solidFill>
                  <a:srgbClr val="4B535C"/>
                </a:solidFill>
                <a:latin typeface="Calibri"/>
                <a:ea typeface="Calibri"/>
                <a:cs typeface="Calibri"/>
                <a:sym typeface="Calibri"/>
              </a:rPr>
              <a:t>Enterprise</a:t>
            </a:r>
            <a:endParaRPr b="0" i="0" sz="740" u="none" cap="none" strike="noStrike">
              <a:solidFill>
                <a:schemeClr val="dk1"/>
              </a:solidFill>
              <a:latin typeface="Calibri"/>
              <a:ea typeface="Calibri"/>
              <a:cs typeface="Calibri"/>
              <a:sym typeface="Calibri"/>
            </a:endParaRPr>
          </a:p>
        </p:txBody>
      </p:sp>
      <p:sp>
        <p:nvSpPr>
          <p:cNvPr id="780" name="Google Shape;780;p17"/>
          <p:cNvSpPr/>
          <p:nvPr/>
        </p:nvSpPr>
        <p:spPr>
          <a:xfrm>
            <a:off x="3867912" y="2852928"/>
            <a:ext cx="6400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40"/>
              <a:buFont typeface="Calibri"/>
              <a:buNone/>
            </a:pPr>
            <a:r>
              <a:rPr b="0" i="0" lang="en-US" sz="740" u="none" cap="none" strike="noStrike">
                <a:solidFill>
                  <a:srgbClr val="4B535C"/>
                </a:solidFill>
                <a:latin typeface="Calibri"/>
                <a:ea typeface="Calibri"/>
                <a:cs typeface="Calibri"/>
                <a:sym typeface="Calibri"/>
              </a:rPr>
              <a:t>308</a:t>
            </a:r>
            <a:endParaRPr b="0" i="0" sz="740" u="none" cap="none" strike="noStrike">
              <a:solidFill>
                <a:schemeClr val="dk1"/>
              </a:solidFill>
              <a:latin typeface="Calibri"/>
              <a:ea typeface="Calibri"/>
              <a:cs typeface="Calibri"/>
              <a:sym typeface="Calibri"/>
            </a:endParaRPr>
          </a:p>
        </p:txBody>
      </p:sp>
      <p:sp>
        <p:nvSpPr>
          <p:cNvPr id="781" name="Google Shape;781;p17"/>
          <p:cNvSpPr/>
          <p:nvPr/>
        </p:nvSpPr>
        <p:spPr>
          <a:xfrm>
            <a:off x="4645152" y="2916936"/>
            <a:ext cx="402336" cy="173736"/>
          </a:xfrm>
          <a:prstGeom prst="roundRect">
            <a:avLst>
              <a:gd fmla="val 31579" name="adj"/>
            </a:avLst>
          </a:prstGeom>
          <a:solidFill>
            <a:srgbClr val="6AA55B"/>
          </a:solidFill>
          <a:ln cap="flat" cmpd="sng" w="12700">
            <a:solidFill>
              <a:srgbClr val="6AA5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7"/>
          <p:cNvSpPr/>
          <p:nvPr/>
        </p:nvSpPr>
        <p:spPr>
          <a:xfrm>
            <a:off x="4645152" y="2916936"/>
            <a:ext cx="402336" cy="1737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78</a:t>
            </a:r>
            <a:endParaRPr b="0" i="0" sz="760" u="none" cap="none" strike="noStrike">
              <a:solidFill>
                <a:schemeClr val="dk1"/>
              </a:solidFill>
              <a:latin typeface="Calibri"/>
              <a:ea typeface="Calibri"/>
              <a:cs typeface="Calibri"/>
              <a:sym typeface="Calibri"/>
            </a:endParaRPr>
          </a:p>
        </p:txBody>
      </p:sp>
      <p:sp>
        <p:nvSpPr>
          <p:cNvPr id="783" name="Google Shape;783;p17"/>
          <p:cNvSpPr/>
          <p:nvPr/>
        </p:nvSpPr>
        <p:spPr>
          <a:xfrm>
            <a:off x="5330952" y="2935224"/>
            <a:ext cx="2022653" cy="146304"/>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7"/>
          <p:cNvSpPr/>
          <p:nvPr/>
        </p:nvSpPr>
        <p:spPr>
          <a:xfrm>
            <a:off x="7353605" y="2935224"/>
            <a:ext cx="281635" cy="146304"/>
          </a:xfrm>
          <a:prstGeom prst="rect">
            <a:avLst/>
          </a:prstGeom>
          <a:solidFill>
            <a:srgbClr val="E0A33C"/>
          </a:solidFill>
          <a:ln cap="flat" cmpd="sng" w="12700">
            <a:solidFill>
              <a:srgbClr val="E0A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7"/>
          <p:cNvSpPr/>
          <p:nvPr/>
        </p:nvSpPr>
        <p:spPr>
          <a:xfrm>
            <a:off x="7635240" y="2935224"/>
            <a:ext cx="102413" cy="146304"/>
          </a:xfrm>
          <a:prstGeom prst="rect">
            <a:avLst/>
          </a:prstGeom>
          <a:solidFill>
            <a:srgbClr val="D1603D"/>
          </a:solidFill>
          <a:ln cap="flat" cmpd="sng" w="12700">
            <a:solidFill>
              <a:srgbClr val="D16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7"/>
          <p:cNvSpPr/>
          <p:nvPr/>
        </p:nvSpPr>
        <p:spPr>
          <a:xfrm>
            <a:off x="7737653" y="2935224"/>
            <a:ext cx="25603" cy="146304"/>
          </a:xfrm>
          <a:prstGeom prst="rect">
            <a:avLst/>
          </a:prstGeom>
          <a:solidFill>
            <a:srgbClr val="7A5AA6"/>
          </a:solidFill>
          <a:ln cap="flat" cmpd="sng" w="12700">
            <a:solidFill>
              <a:srgbClr val="7A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7"/>
          <p:cNvSpPr/>
          <p:nvPr/>
        </p:nvSpPr>
        <p:spPr>
          <a:xfrm>
            <a:off x="7763256" y="2935224"/>
            <a:ext cx="76810" cy="146304"/>
          </a:xfrm>
          <a:prstGeom prst="rect">
            <a:avLst/>
          </a:prstGeom>
          <a:solidFill>
            <a:srgbClr val="4A87A8"/>
          </a:solidFill>
          <a:ln cap="flat" cmpd="sng" w="12700">
            <a:solidFill>
              <a:srgbClr val="4A8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7"/>
          <p:cNvSpPr/>
          <p:nvPr/>
        </p:nvSpPr>
        <p:spPr>
          <a:xfrm>
            <a:off x="7840066" y="2935224"/>
            <a:ext cx="51206" cy="146304"/>
          </a:xfrm>
          <a:prstGeom prst="rect">
            <a:avLst/>
          </a:prstGeom>
          <a:solidFill>
            <a:srgbClr val="A8352B"/>
          </a:solidFill>
          <a:ln cap="flat" cmpd="sng" w="12700">
            <a:solidFill>
              <a:srgbClr val="A835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7"/>
          <p:cNvSpPr/>
          <p:nvPr/>
        </p:nvSpPr>
        <p:spPr>
          <a:xfrm>
            <a:off x="5330952" y="2935224"/>
            <a:ext cx="2560320" cy="146304"/>
          </a:xfrm>
          <a:prstGeom prst="rect">
            <a:avLst/>
          </a:prstGeom>
          <a:solidFill>
            <a:srgbClr val="FFFFFF">
              <a:alpha val="0"/>
            </a:srgbClr>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7"/>
          <p:cNvSpPr/>
          <p:nvPr/>
        </p:nvSpPr>
        <p:spPr>
          <a:xfrm>
            <a:off x="8028432" y="3050235"/>
            <a:ext cx="64122" cy="49581"/>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7"/>
          <p:cNvSpPr/>
          <p:nvPr/>
        </p:nvSpPr>
        <p:spPr>
          <a:xfrm>
            <a:off x="8125587" y="3033573"/>
            <a:ext cx="64122" cy="66243"/>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7"/>
          <p:cNvSpPr/>
          <p:nvPr/>
        </p:nvSpPr>
        <p:spPr>
          <a:xfrm>
            <a:off x="8222742" y="3066898"/>
            <a:ext cx="64122" cy="32918"/>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7"/>
          <p:cNvSpPr/>
          <p:nvPr/>
        </p:nvSpPr>
        <p:spPr>
          <a:xfrm>
            <a:off x="8319897" y="3000248"/>
            <a:ext cx="64122" cy="99568"/>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7"/>
          <p:cNvSpPr/>
          <p:nvPr/>
        </p:nvSpPr>
        <p:spPr>
          <a:xfrm>
            <a:off x="8417052" y="2983586"/>
            <a:ext cx="64122" cy="116230"/>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7"/>
          <p:cNvSpPr/>
          <p:nvPr/>
        </p:nvSpPr>
        <p:spPr>
          <a:xfrm>
            <a:off x="8514207" y="2950261"/>
            <a:ext cx="64122" cy="149555"/>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7"/>
          <p:cNvSpPr/>
          <p:nvPr/>
        </p:nvSpPr>
        <p:spPr>
          <a:xfrm>
            <a:off x="8611362" y="2933598"/>
            <a:ext cx="64122" cy="166218"/>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7"/>
          <p:cNvSpPr/>
          <p:nvPr/>
        </p:nvSpPr>
        <p:spPr>
          <a:xfrm>
            <a:off x="8708517" y="2916936"/>
            <a:ext cx="64122" cy="182880"/>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7"/>
          <p:cNvSpPr/>
          <p:nvPr/>
        </p:nvSpPr>
        <p:spPr>
          <a:xfrm>
            <a:off x="8988552" y="2916936"/>
            <a:ext cx="1371600" cy="173736"/>
          </a:xfrm>
          <a:prstGeom prst="roundRect">
            <a:avLst>
              <a:gd fmla="val 31579" name="adj"/>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7"/>
          <p:cNvSpPr/>
          <p:nvPr/>
        </p:nvSpPr>
        <p:spPr>
          <a:xfrm>
            <a:off x="8988552" y="2916936"/>
            <a:ext cx="1371600" cy="1737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Solid</a:t>
            </a:r>
            <a:endParaRPr b="0" i="0" sz="760" u="none" cap="none" strike="noStrike">
              <a:solidFill>
                <a:schemeClr val="dk1"/>
              </a:solidFill>
              <a:latin typeface="Calibri"/>
              <a:ea typeface="Calibri"/>
              <a:cs typeface="Calibri"/>
              <a:sym typeface="Calibri"/>
            </a:endParaRPr>
          </a:p>
        </p:txBody>
      </p:sp>
      <p:sp>
        <p:nvSpPr>
          <p:cNvPr id="800" name="Google Shape;800;p17"/>
          <p:cNvSpPr/>
          <p:nvPr/>
        </p:nvSpPr>
        <p:spPr>
          <a:xfrm>
            <a:off x="10497312" y="2852928"/>
            <a:ext cx="10058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20"/>
              <a:buFont typeface="Calibri"/>
              <a:buNone/>
            </a:pPr>
            <a:r>
              <a:rPr b="1" i="0" lang="en-US" sz="720" u="none" cap="none" strike="noStrike">
                <a:solidFill>
                  <a:srgbClr val="046B73"/>
                </a:solidFill>
                <a:latin typeface="Calibri"/>
                <a:ea typeface="Calibri"/>
                <a:cs typeface="Calibri"/>
                <a:sym typeface="Calibri"/>
              </a:rPr>
              <a:t>No action</a:t>
            </a:r>
            <a:endParaRPr b="0" i="0" sz="720" u="none" cap="none" strike="noStrike">
              <a:solidFill>
                <a:schemeClr val="dk1"/>
              </a:solidFill>
              <a:latin typeface="Calibri"/>
              <a:ea typeface="Calibri"/>
              <a:cs typeface="Calibri"/>
              <a:sym typeface="Calibri"/>
            </a:endParaRPr>
          </a:p>
        </p:txBody>
      </p:sp>
      <p:sp>
        <p:nvSpPr>
          <p:cNvPr id="801" name="Google Shape;801;p17"/>
          <p:cNvSpPr/>
          <p:nvPr/>
        </p:nvSpPr>
        <p:spPr>
          <a:xfrm>
            <a:off x="713232" y="3154680"/>
            <a:ext cx="10765231" cy="301752"/>
          </a:xfrm>
          <a:prstGeom prst="rect">
            <a:avLst/>
          </a:prstGeom>
          <a:solidFill>
            <a:srgbClr val="F7F9FA"/>
          </a:solidFill>
          <a:ln cap="flat" cmpd="sng" w="9525">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7"/>
          <p:cNvSpPr/>
          <p:nvPr/>
        </p:nvSpPr>
        <p:spPr>
          <a:xfrm>
            <a:off x="740664" y="3209544"/>
            <a:ext cx="192024" cy="192024"/>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7"/>
          <p:cNvSpPr/>
          <p:nvPr/>
        </p:nvSpPr>
        <p:spPr>
          <a:xfrm>
            <a:off x="740664" y="3209544"/>
            <a:ext cx="192024"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Calibri"/>
              <a:buNone/>
            </a:pPr>
            <a:r>
              <a:rPr b="1" i="0" lang="en-US" sz="720" u="none" cap="none" strike="noStrike">
                <a:solidFill>
                  <a:srgbClr val="FFFFFF"/>
                </a:solidFill>
                <a:latin typeface="Calibri"/>
                <a:ea typeface="Calibri"/>
                <a:cs typeface="Calibri"/>
                <a:sym typeface="Calibri"/>
              </a:rPr>
              <a:t>SS</a:t>
            </a:r>
            <a:endParaRPr b="0" i="0" sz="720" u="none" cap="none" strike="noStrike">
              <a:solidFill>
                <a:schemeClr val="dk1"/>
              </a:solidFill>
              <a:latin typeface="Calibri"/>
              <a:ea typeface="Calibri"/>
              <a:cs typeface="Calibri"/>
              <a:sym typeface="Calibri"/>
            </a:endParaRPr>
          </a:p>
        </p:txBody>
      </p:sp>
      <p:sp>
        <p:nvSpPr>
          <p:cNvPr id="804" name="Google Shape;804;p17"/>
          <p:cNvSpPr/>
          <p:nvPr/>
        </p:nvSpPr>
        <p:spPr>
          <a:xfrm>
            <a:off x="1088136" y="3154680"/>
            <a:ext cx="15544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S. Shelke</a:t>
            </a:r>
            <a:endParaRPr b="0" i="0" sz="780" u="none" cap="none" strike="noStrike">
              <a:solidFill>
                <a:schemeClr val="dk1"/>
              </a:solidFill>
              <a:latin typeface="Calibri"/>
              <a:ea typeface="Calibri"/>
              <a:cs typeface="Calibri"/>
              <a:sym typeface="Calibri"/>
            </a:endParaRPr>
          </a:p>
        </p:txBody>
      </p:sp>
      <p:sp>
        <p:nvSpPr>
          <p:cNvPr id="805" name="Google Shape;805;p17"/>
          <p:cNvSpPr/>
          <p:nvPr/>
        </p:nvSpPr>
        <p:spPr>
          <a:xfrm>
            <a:off x="2724912" y="3154680"/>
            <a:ext cx="10972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40"/>
              <a:buFont typeface="Calibri"/>
              <a:buNone/>
            </a:pPr>
            <a:r>
              <a:rPr b="0" i="0" lang="en-US" sz="740" u="none" cap="none" strike="noStrike">
                <a:solidFill>
                  <a:srgbClr val="4B535C"/>
                </a:solidFill>
                <a:latin typeface="Calibri"/>
                <a:ea typeface="Calibri"/>
                <a:cs typeface="Calibri"/>
                <a:sym typeface="Calibri"/>
              </a:rPr>
              <a:t>Sales East</a:t>
            </a:r>
            <a:endParaRPr b="0" i="0" sz="740" u="none" cap="none" strike="noStrike">
              <a:solidFill>
                <a:schemeClr val="dk1"/>
              </a:solidFill>
              <a:latin typeface="Calibri"/>
              <a:ea typeface="Calibri"/>
              <a:cs typeface="Calibri"/>
              <a:sym typeface="Calibri"/>
            </a:endParaRPr>
          </a:p>
        </p:txBody>
      </p:sp>
      <p:sp>
        <p:nvSpPr>
          <p:cNvPr id="806" name="Google Shape;806;p17"/>
          <p:cNvSpPr/>
          <p:nvPr/>
        </p:nvSpPr>
        <p:spPr>
          <a:xfrm>
            <a:off x="3867912" y="3154680"/>
            <a:ext cx="6400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40"/>
              <a:buFont typeface="Calibri"/>
              <a:buNone/>
            </a:pPr>
            <a:r>
              <a:rPr b="0" i="0" lang="en-US" sz="740" u="none" cap="none" strike="noStrike">
                <a:solidFill>
                  <a:srgbClr val="4B535C"/>
                </a:solidFill>
                <a:latin typeface="Calibri"/>
                <a:ea typeface="Calibri"/>
                <a:cs typeface="Calibri"/>
                <a:sym typeface="Calibri"/>
              </a:rPr>
              <a:t>551</a:t>
            </a:r>
            <a:endParaRPr b="0" i="0" sz="740" u="none" cap="none" strike="noStrike">
              <a:solidFill>
                <a:schemeClr val="dk1"/>
              </a:solidFill>
              <a:latin typeface="Calibri"/>
              <a:ea typeface="Calibri"/>
              <a:cs typeface="Calibri"/>
              <a:sym typeface="Calibri"/>
            </a:endParaRPr>
          </a:p>
        </p:txBody>
      </p:sp>
      <p:sp>
        <p:nvSpPr>
          <p:cNvPr id="807" name="Google Shape;807;p17"/>
          <p:cNvSpPr/>
          <p:nvPr/>
        </p:nvSpPr>
        <p:spPr>
          <a:xfrm>
            <a:off x="4645152" y="3218688"/>
            <a:ext cx="402336" cy="173736"/>
          </a:xfrm>
          <a:prstGeom prst="roundRect">
            <a:avLst>
              <a:gd fmla="val 31579" name="adj"/>
            </a:avLst>
          </a:prstGeom>
          <a:solidFill>
            <a:srgbClr val="6AA55B"/>
          </a:solidFill>
          <a:ln cap="flat" cmpd="sng" w="12700">
            <a:solidFill>
              <a:srgbClr val="6AA5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7"/>
          <p:cNvSpPr/>
          <p:nvPr/>
        </p:nvSpPr>
        <p:spPr>
          <a:xfrm>
            <a:off x="4645152" y="3218688"/>
            <a:ext cx="402336" cy="1737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71</a:t>
            </a:r>
            <a:endParaRPr b="0" i="0" sz="760" u="none" cap="none" strike="noStrike">
              <a:solidFill>
                <a:schemeClr val="dk1"/>
              </a:solidFill>
              <a:latin typeface="Calibri"/>
              <a:ea typeface="Calibri"/>
              <a:cs typeface="Calibri"/>
              <a:sym typeface="Calibri"/>
            </a:endParaRPr>
          </a:p>
        </p:txBody>
      </p:sp>
      <p:sp>
        <p:nvSpPr>
          <p:cNvPr id="809" name="Google Shape;809;p17"/>
          <p:cNvSpPr/>
          <p:nvPr/>
        </p:nvSpPr>
        <p:spPr>
          <a:xfrm>
            <a:off x="5330952" y="3236976"/>
            <a:ext cx="1817827" cy="146304"/>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7"/>
          <p:cNvSpPr/>
          <p:nvPr/>
        </p:nvSpPr>
        <p:spPr>
          <a:xfrm>
            <a:off x="7148779" y="3236976"/>
            <a:ext cx="384048" cy="146304"/>
          </a:xfrm>
          <a:prstGeom prst="rect">
            <a:avLst/>
          </a:prstGeom>
          <a:solidFill>
            <a:srgbClr val="E0A33C"/>
          </a:solidFill>
          <a:ln cap="flat" cmpd="sng" w="12700">
            <a:solidFill>
              <a:srgbClr val="E0A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7"/>
          <p:cNvSpPr/>
          <p:nvPr/>
        </p:nvSpPr>
        <p:spPr>
          <a:xfrm>
            <a:off x="7532827" y="3236976"/>
            <a:ext cx="153619" cy="146304"/>
          </a:xfrm>
          <a:prstGeom prst="rect">
            <a:avLst/>
          </a:prstGeom>
          <a:solidFill>
            <a:srgbClr val="D1603D"/>
          </a:solidFill>
          <a:ln cap="flat" cmpd="sng" w="12700">
            <a:solidFill>
              <a:srgbClr val="D16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7"/>
          <p:cNvSpPr/>
          <p:nvPr/>
        </p:nvSpPr>
        <p:spPr>
          <a:xfrm>
            <a:off x="7686446" y="3236976"/>
            <a:ext cx="25603" cy="146304"/>
          </a:xfrm>
          <a:prstGeom prst="rect">
            <a:avLst/>
          </a:prstGeom>
          <a:solidFill>
            <a:srgbClr val="7A5AA6"/>
          </a:solidFill>
          <a:ln cap="flat" cmpd="sng" w="12700">
            <a:solidFill>
              <a:srgbClr val="7A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7"/>
          <p:cNvSpPr/>
          <p:nvPr/>
        </p:nvSpPr>
        <p:spPr>
          <a:xfrm>
            <a:off x="7712050" y="3236976"/>
            <a:ext cx="128016" cy="146304"/>
          </a:xfrm>
          <a:prstGeom prst="rect">
            <a:avLst/>
          </a:prstGeom>
          <a:solidFill>
            <a:srgbClr val="4A87A8"/>
          </a:solidFill>
          <a:ln cap="flat" cmpd="sng" w="12700">
            <a:solidFill>
              <a:srgbClr val="4A8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7"/>
          <p:cNvSpPr/>
          <p:nvPr/>
        </p:nvSpPr>
        <p:spPr>
          <a:xfrm>
            <a:off x="7840066" y="3236976"/>
            <a:ext cx="51206" cy="146304"/>
          </a:xfrm>
          <a:prstGeom prst="rect">
            <a:avLst/>
          </a:prstGeom>
          <a:solidFill>
            <a:srgbClr val="A8352B"/>
          </a:solidFill>
          <a:ln cap="flat" cmpd="sng" w="12700">
            <a:solidFill>
              <a:srgbClr val="A835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7"/>
          <p:cNvSpPr/>
          <p:nvPr/>
        </p:nvSpPr>
        <p:spPr>
          <a:xfrm>
            <a:off x="5330952" y="3236976"/>
            <a:ext cx="2560320" cy="146304"/>
          </a:xfrm>
          <a:prstGeom prst="rect">
            <a:avLst/>
          </a:prstGeom>
          <a:solidFill>
            <a:srgbClr val="FFFFFF">
              <a:alpha val="0"/>
            </a:srgbClr>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7"/>
          <p:cNvSpPr/>
          <p:nvPr/>
        </p:nvSpPr>
        <p:spPr>
          <a:xfrm>
            <a:off x="8028432" y="3368650"/>
            <a:ext cx="64122" cy="32918"/>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7"/>
          <p:cNvSpPr/>
          <p:nvPr/>
        </p:nvSpPr>
        <p:spPr>
          <a:xfrm>
            <a:off x="8125587" y="3325803"/>
            <a:ext cx="64122" cy="75765"/>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7"/>
          <p:cNvSpPr/>
          <p:nvPr/>
        </p:nvSpPr>
        <p:spPr>
          <a:xfrm>
            <a:off x="8222742" y="3347227"/>
            <a:ext cx="64122" cy="54341"/>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7"/>
          <p:cNvSpPr/>
          <p:nvPr/>
        </p:nvSpPr>
        <p:spPr>
          <a:xfrm>
            <a:off x="8319897" y="3282957"/>
            <a:ext cx="64122" cy="118611"/>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7"/>
          <p:cNvSpPr/>
          <p:nvPr/>
        </p:nvSpPr>
        <p:spPr>
          <a:xfrm>
            <a:off x="8417052" y="3261534"/>
            <a:ext cx="64122" cy="140034"/>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7"/>
          <p:cNvSpPr/>
          <p:nvPr/>
        </p:nvSpPr>
        <p:spPr>
          <a:xfrm>
            <a:off x="8514207" y="3240111"/>
            <a:ext cx="64122" cy="161457"/>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7"/>
          <p:cNvSpPr/>
          <p:nvPr/>
        </p:nvSpPr>
        <p:spPr>
          <a:xfrm>
            <a:off x="8611362" y="3240111"/>
            <a:ext cx="64122" cy="161457"/>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7"/>
          <p:cNvSpPr/>
          <p:nvPr/>
        </p:nvSpPr>
        <p:spPr>
          <a:xfrm>
            <a:off x="8708517" y="3218688"/>
            <a:ext cx="64122" cy="182880"/>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7"/>
          <p:cNvSpPr/>
          <p:nvPr/>
        </p:nvSpPr>
        <p:spPr>
          <a:xfrm>
            <a:off x="8988552" y="3218688"/>
            <a:ext cx="1371600" cy="173736"/>
          </a:xfrm>
          <a:prstGeom prst="roundRect">
            <a:avLst>
              <a:gd fmla="val 31579" name="adj"/>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7"/>
          <p:cNvSpPr/>
          <p:nvPr/>
        </p:nvSpPr>
        <p:spPr>
          <a:xfrm>
            <a:off x="8988552" y="3218688"/>
            <a:ext cx="1371600" cy="1737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Solid</a:t>
            </a:r>
            <a:endParaRPr b="0" i="0" sz="760" u="none" cap="none" strike="noStrike">
              <a:solidFill>
                <a:schemeClr val="dk1"/>
              </a:solidFill>
              <a:latin typeface="Calibri"/>
              <a:ea typeface="Calibri"/>
              <a:cs typeface="Calibri"/>
              <a:sym typeface="Calibri"/>
            </a:endParaRPr>
          </a:p>
        </p:txBody>
      </p:sp>
      <p:sp>
        <p:nvSpPr>
          <p:cNvPr id="826" name="Google Shape;826;p17"/>
          <p:cNvSpPr/>
          <p:nvPr/>
        </p:nvSpPr>
        <p:spPr>
          <a:xfrm>
            <a:off x="10497312" y="3154680"/>
            <a:ext cx="10058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20"/>
              <a:buFont typeface="Calibri"/>
              <a:buNone/>
            </a:pPr>
            <a:r>
              <a:rPr b="1" i="0" lang="en-US" sz="720" u="none" cap="none" strike="noStrike">
                <a:solidFill>
                  <a:srgbClr val="046B73"/>
                </a:solidFill>
                <a:latin typeface="Calibri"/>
                <a:ea typeface="Calibri"/>
                <a:cs typeface="Calibri"/>
                <a:sym typeface="Calibri"/>
              </a:rPr>
              <a:t>No action</a:t>
            </a:r>
            <a:endParaRPr b="0" i="0" sz="720" u="none" cap="none" strike="noStrike">
              <a:solidFill>
                <a:schemeClr val="dk1"/>
              </a:solidFill>
              <a:latin typeface="Calibri"/>
              <a:ea typeface="Calibri"/>
              <a:cs typeface="Calibri"/>
              <a:sym typeface="Calibri"/>
            </a:endParaRPr>
          </a:p>
        </p:txBody>
      </p:sp>
      <p:sp>
        <p:nvSpPr>
          <p:cNvPr id="827" name="Google Shape;827;p17"/>
          <p:cNvSpPr/>
          <p:nvPr/>
        </p:nvSpPr>
        <p:spPr>
          <a:xfrm>
            <a:off x="713232" y="3456432"/>
            <a:ext cx="10765231" cy="301752"/>
          </a:xfrm>
          <a:prstGeom prst="rect">
            <a:avLst/>
          </a:prstGeom>
          <a:solidFill>
            <a:srgbClr val="FFFFFF"/>
          </a:solidFill>
          <a:ln cap="flat" cmpd="sng" w="9525">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7"/>
          <p:cNvSpPr/>
          <p:nvPr/>
        </p:nvSpPr>
        <p:spPr>
          <a:xfrm>
            <a:off x="740664" y="3511296"/>
            <a:ext cx="192024" cy="192024"/>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7"/>
          <p:cNvSpPr/>
          <p:nvPr/>
        </p:nvSpPr>
        <p:spPr>
          <a:xfrm>
            <a:off x="740664" y="3511296"/>
            <a:ext cx="192024"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Calibri"/>
              <a:buNone/>
            </a:pPr>
            <a:r>
              <a:rPr b="1" i="0" lang="en-US" sz="720" u="none" cap="none" strike="noStrike">
                <a:solidFill>
                  <a:srgbClr val="FFFFFF"/>
                </a:solidFill>
                <a:latin typeface="Calibri"/>
                <a:ea typeface="Calibri"/>
                <a:cs typeface="Calibri"/>
                <a:sym typeface="Calibri"/>
              </a:rPr>
              <a:t>RK</a:t>
            </a:r>
            <a:endParaRPr b="0" i="0" sz="720" u="none" cap="none" strike="noStrike">
              <a:solidFill>
                <a:schemeClr val="dk1"/>
              </a:solidFill>
              <a:latin typeface="Calibri"/>
              <a:ea typeface="Calibri"/>
              <a:cs typeface="Calibri"/>
              <a:sym typeface="Calibri"/>
            </a:endParaRPr>
          </a:p>
        </p:txBody>
      </p:sp>
      <p:sp>
        <p:nvSpPr>
          <p:cNvPr id="830" name="Google Shape;830;p17"/>
          <p:cNvSpPr/>
          <p:nvPr/>
        </p:nvSpPr>
        <p:spPr>
          <a:xfrm>
            <a:off x="1088136" y="3456432"/>
            <a:ext cx="15544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R. Kulkarni</a:t>
            </a:r>
            <a:endParaRPr b="0" i="0" sz="780" u="none" cap="none" strike="noStrike">
              <a:solidFill>
                <a:schemeClr val="dk1"/>
              </a:solidFill>
              <a:latin typeface="Calibri"/>
              <a:ea typeface="Calibri"/>
              <a:cs typeface="Calibri"/>
              <a:sym typeface="Calibri"/>
            </a:endParaRPr>
          </a:p>
        </p:txBody>
      </p:sp>
      <p:sp>
        <p:nvSpPr>
          <p:cNvPr id="831" name="Google Shape;831;p17"/>
          <p:cNvSpPr/>
          <p:nvPr/>
        </p:nvSpPr>
        <p:spPr>
          <a:xfrm>
            <a:off x="2724912" y="3456432"/>
            <a:ext cx="10972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40"/>
              <a:buFont typeface="Calibri"/>
              <a:buNone/>
            </a:pPr>
            <a:r>
              <a:rPr b="0" i="0" lang="en-US" sz="740" u="none" cap="none" strike="noStrike">
                <a:solidFill>
                  <a:srgbClr val="4B535C"/>
                </a:solidFill>
                <a:latin typeface="Calibri"/>
                <a:ea typeface="Calibri"/>
                <a:cs typeface="Calibri"/>
                <a:sym typeface="Calibri"/>
              </a:rPr>
              <a:t>Inside Sales</a:t>
            </a:r>
            <a:endParaRPr b="0" i="0" sz="740" u="none" cap="none" strike="noStrike">
              <a:solidFill>
                <a:schemeClr val="dk1"/>
              </a:solidFill>
              <a:latin typeface="Calibri"/>
              <a:ea typeface="Calibri"/>
              <a:cs typeface="Calibri"/>
              <a:sym typeface="Calibri"/>
            </a:endParaRPr>
          </a:p>
        </p:txBody>
      </p:sp>
      <p:sp>
        <p:nvSpPr>
          <p:cNvPr id="832" name="Google Shape;832;p17"/>
          <p:cNvSpPr/>
          <p:nvPr/>
        </p:nvSpPr>
        <p:spPr>
          <a:xfrm>
            <a:off x="3867912" y="3456432"/>
            <a:ext cx="6400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40"/>
              <a:buFont typeface="Calibri"/>
              <a:buNone/>
            </a:pPr>
            <a:r>
              <a:rPr b="0" i="0" lang="en-US" sz="740" u="none" cap="none" strike="noStrike">
                <a:solidFill>
                  <a:srgbClr val="4B535C"/>
                </a:solidFill>
                <a:latin typeface="Calibri"/>
                <a:ea typeface="Calibri"/>
                <a:cs typeface="Calibri"/>
                <a:sym typeface="Calibri"/>
              </a:rPr>
              <a:t>1,204</a:t>
            </a:r>
            <a:endParaRPr b="0" i="0" sz="740" u="none" cap="none" strike="noStrike">
              <a:solidFill>
                <a:schemeClr val="dk1"/>
              </a:solidFill>
              <a:latin typeface="Calibri"/>
              <a:ea typeface="Calibri"/>
              <a:cs typeface="Calibri"/>
              <a:sym typeface="Calibri"/>
            </a:endParaRPr>
          </a:p>
        </p:txBody>
      </p:sp>
      <p:sp>
        <p:nvSpPr>
          <p:cNvPr id="833" name="Google Shape;833;p17"/>
          <p:cNvSpPr/>
          <p:nvPr/>
        </p:nvSpPr>
        <p:spPr>
          <a:xfrm>
            <a:off x="4645152" y="3520440"/>
            <a:ext cx="402336" cy="173736"/>
          </a:xfrm>
          <a:prstGeom prst="roundRect">
            <a:avLst>
              <a:gd fmla="val 31579" name="adj"/>
            </a:avLst>
          </a:prstGeom>
          <a:solidFill>
            <a:srgbClr val="D9A23C"/>
          </a:solidFill>
          <a:ln cap="flat" cmpd="sng" w="12700">
            <a:solidFill>
              <a:srgbClr val="D9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7"/>
          <p:cNvSpPr/>
          <p:nvPr/>
        </p:nvSpPr>
        <p:spPr>
          <a:xfrm>
            <a:off x="4645152" y="3520440"/>
            <a:ext cx="402336" cy="1737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58</a:t>
            </a:r>
            <a:endParaRPr b="0" i="0" sz="760" u="none" cap="none" strike="noStrike">
              <a:solidFill>
                <a:schemeClr val="dk1"/>
              </a:solidFill>
              <a:latin typeface="Calibri"/>
              <a:ea typeface="Calibri"/>
              <a:cs typeface="Calibri"/>
              <a:sym typeface="Calibri"/>
            </a:endParaRPr>
          </a:p>
        </p:txBody>
      </p:sp>
      <p:sp>
        <p:nvSpPr>
          <p:cNvPr id="835" name="Google Shape;835;p17"/>
          <p:cNvSpPr/>
          <p:nvPr/>
        </p:nvSpPr>
        <p:spPr>
          <a:xfrm>
            <a:off x="5330952" y="3538728"/>
            <a:ext cx="1433779" cy="146304"/>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7"/>
          <p:cNvSpPr/>
          <p:nvPr/>
        </p:nvSpPr>
        <p:spPr>
          <a:xfrm>
            <a:off x="6764731" y="3538728"/>
            <a:ext cx="563270" cy="146304"/>
          </a:xfrm>
          <a:prstGeom prst="rect">
            <a:avLst/>
          </a:prstGeom>
          <a:solidFill>
            <a:srgbClr val="E0A33C"/>
          </a:solidFill>
          <a:ln cap="flat" cmpd="sng" w="12700">
            <a:solidFill>
              <a:srgbClr val="E0A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7"/>
          <p:cNvSpPr/>
          <p:nvPr/>
        </p:nvSpPr>
        <p:spPr>
          <a:xfrm>
            <a:off x="7328002" y="3538728"/>
            <a:ext cx="230429" cy="146304"/>
          </a:xfrm>
          <a:prstGeom prst="rect">
            <a:avLst/>
          </a:prstGeom>
          <a:solidFill>
            <a:srgbClr val="D1603D"/>
          </a:solidFill>
          <a:ln cap="flat" cmpd="sng" w="12700">
            <a:solidFill>
              <a:srgbClr val="D16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7"/>
          <p:cNvSpPr/>
          <p:nvPr/>
        </p:nvSpPr>
        <p:spPr>
          <a:xfrm>
            <a:off x="7558430" y="3538728"/>
            <a:ext cx="76810" cy="146304"/>
          </a:xfrm>
          <a:prstGeom prst="rect">
            <a:avLst/>
          </a:prstGeom>
          <a:solidFill>
            <a:srgbClr val="7A5AA6"/>
          </a:solidFill>
          <a:ln cap="flat" cmpd="sng" w="12700">
            <a:solidFill>
              <a:srgbClr val="7A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7"/>
          <p:cNvSpPr/>
          <p:nvPr/>
        </p:nvSpPr>
        <p:spPr>
          <a:xfrm>
            <a:off x="7635240" y="3538728"/>
            <a:ext cx="179222" cy="146304"/>
          </a:xfrm>
          <a:prstGeom prst="rect">
            <a:avLst/>
          </a:prstGeom>
          <a:solidFill>
            <a:srgbClr val="4A87A8"/>
          </a:solidFill>
          <a:ln cap="flat" cmpd="sng" w="12700">
            <a:solidFill>
              <a:srgbClr val="4A8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7"/>
          <p:cNvSpPr/>
          <p:nvPr/>
        </p:nvSpPr>
        <p:spPr>
          <a:xfrm>
            <a:off x="7814462" y="3538728"/>
            <a:ext cx="76810" cy="146304"/>
          </a:xfrm>
          <a:prstGeom prst="rect">
            <a:avLst/>
          </a:prstGeom>
          <a:solidFill>
            <a:srgbClr val="A8352B"/>
          </a:solidFill>
          <a:ln cap="flat" cmpd="sng" w="12700">
            <a:solidFill>
              <a:srgbClr val="A835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7"/>
          <p:cNvSpPr/>
          <p:nvPr/>
        </p:nvSpPr>
        <p:spPr>
          <a:xfrm>
            <a:off x="5330952" y="3538728"/>
            <a:ext cx="2560320" cy="146304"/>
          </a:xfrm>
          <a:prstGeom prst="rect">
            <a:avLst/>
          </a:prstGeom>
          <a:solidFill>
            <a:srgbClr val="FFFFFF">
              <a:alpha val="0"/>
            </a:srgbClr>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7"/>
          <p:cNvSpPr/>
          <p:nvPr/>
        </p:nvSpPr>
        <p:spPr>
          <a:xfrm>
            <a:off x="8028432" y="3520440"/>
            <a:ext cx="64122" cy="182880"/>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7"/>
          <p:cNvSpPr/>
          <p:nvPr/>
        </p:nvSpPr>
        <p:spPr>
          <a:xfrm>
            <a:off x="8125587" y="3557930"/>
            <a:ext cx="64122" cy="145390"/>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7"/>
          <p:cNvSpPr/>
          <p:nvPr/>
        </p:nvSpPr>
        <p:spPr>
          <a:xfrm>
            <a:off x="8222742" y="3632911"/>
            <a:ext cx="64122" cy="70409"/>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7"/>
          <p:cNvSpPr/>
          <p:nvPr/>
        </p:nvSpPr>
        <p:spPr>
          <a:xfrm>
            <a:off x="8319897" y="3670402"/>
            <a:ext cx="64122" cy="32918"/>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7"/>
          <p:cNvSpPr/>
          <p:nvPr/>
        </p:nvSpPr>
        <p:spPr>
          <a:xfrm>
            <a:off x="8417052" y="3632911"/>
            <a:ext cx="64122" cy="70409"/>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7"/>
          <p:cNvSpPr/>
          <p:nvPr/>
        </p:nvSpPr>
        <p:spPr>
          <a:xfrm>
            <a:off x="8514207" y="3632911"/>
            <a:ext cx="64122" cy="70409"/>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7"/>
          <p:cNvSpPr/>
          <p:nvPr/>
        </p:nvSpPr>
        <p:spPr>
          <a:xfrm>
            <a:off x="8611362" y="3670402"/>
            <a:ext cx="64122" cy="32918"/>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7"/>
          <p:cNvSpPr/>
          <p:nvPr/>
        </p:nvSpPr>
        <p:spPr>
          <a:xfrm>
            <a:off x="8708517" y="3632911"/>
            <a:ext cx="64122" cy="70409"/>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7"/>
          <p:cNvSpPr/>
          <p:nvPr/>
        </p:nvSpPr>
        <p:spPr>
          <a:xfrm>
            <a:off x="8988552" y="3520440"/>
            <a:ext cx="1371600" cy="173736"/>
          </a:xfrm>
          <a:prstGeom prst="roundRect">
            <a:avLst>
              <a:gd fmla="val 31579" name="adj"/>
            </a:avLst>
          </a:prstGeom>
          <a:solidFill>
            <a:srgbClr val="C77700"/>
          </a:solidFill>
          <a:ln cap="flat" cmpd="sng" w="12700">
            <a:solidFill>
              <a:srgbClr val="C77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7"/>
          <p:cNvSpPr/>
          <p:nvPr/>
        </p:nvSpPr>
        <p:spPr>
          <a:xfrm>
            <a:off x="8988552" y="3520440"/>
            <a:ext cx="1371600" cy="1737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Needs coaching</a:t>
            </a:r>
            <a:endParaRPr b="0" i="0" sz="760" u="none" cap="none" strike="noStrike">
              <a:solidFill>
                <a:schemeClr val="dk1"/>
              </a:solidFill>
              <a:latin typeface="Calibri"/>
              <a:ea typeface="Calibri"/>
              <a:cs typeface="Calibri"/>
              <a:sym typeface="Calibri"/>
            </a:endParaRPr>
          </a:p>
        </p:txBody>
      </p:sp>
      <p:sp>
        <p:nvSpPr>
          <p:cNvPr id="852" name="Google Shape;852;p17"/>
          <p:cNvSpPr/>
          <p:nvPr/>
        </p:nvSpPr>
        <p:spPr>
          <a:xfrm>
            <a:off x="10497312" y="3456432"/>
            <a:ext cx="10058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20"/>
              <a:buFont typeface="Calibri"/>
              <a:buNone/>
            </a:pPr>
            <a:r>
              <a:rPr b="1" i="0" lang="en-US" sz="720" u="none" cap="none" strike="noStrike">
                <a:solidFill>
                  <a:srgbClr val="046B73"/>
                </a:solidFill>
                <a:latin typeface="Calibri"/>
                <a:ea typeface="Calibri"/>
                <a:cs typeface="Calibri"/>
                <a:sym typeface="Calibri"/>
              </a:rPr>
              <a:t>Coach on source</a:t>
            </a:r>
            <a:endParaRPr b="0" i="0" sz="720" u="none" cap="none" strike="noStrike">
              <a:solidFill>
                <a:schemeClr val="dk1"/>
              </a:solidFill>
              <a:latin typeface="Calibri"/>
              <a:ea typeface="Calibri"/>
              <a:cs typeface="Calibri"/>
              <a:sym typeface="Calibri"/>
            </a:endParaRPr>
          </a:p>
        </p:txBody>
      </p:sp>
      <p:sp>
        <p:nvSpPr>
          <p:cNvPr id="853" name="Google Shape;853;p17"/>
          <p:cNvSpPr/>
          <p:nvPr/>
        </p:nvSpPr>
        <p:spPr>
          <a:xfrm>
            <a:off x="713232" y="3758184"/>
            <a:ext cx="10765231" cy="301752"/>
          </a:xfrm>
          <a:prstGeom prst="rect">
            <a:avLst/>
          </a:prstGeom>
          <a:solidFill>
            <a:srgbClr val="F7F9FA"/>
          </a:solidFill>
          <a:ln cap="flat" cmpd="sng" w="9525">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7"/>
          <p:cNvSpPr/>
          <p:nvPr/>
        </p:nvSpPr>
        <p:spPr>
          <a:xfrm>
            <a:off x="740664" y="3813048"/>
            <a:ext cx="192024" cy="192024"/>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7"/>
          <p:cNvSpPr/>
          <p:nvPr/>
        </p:nvSpPr>
        <p:spPr>
          <a:xfrm>
            <a:off x="740664" y="3813048"/>
            <a:ext cx="192024"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Calibri"/>
              <a:buNone/>
            </a:pPr>
            <a:r>
              <a:rPr b="1" i="0" lang="en-US" sz="720" u="none" cap="none" strike="noStrike">
                <a:solidFill>
                  <a:srgbClr val="FFFFFF"/>
                </a:solidFill>
                <a:latin typeface="Calibri"/>
                <a:ea typeface="Calibri"/>
                <a:cs typeface="Calibri"/>
                <a:sym typeface="Calibri"/>
              </a:rPr>
              <a:t>NG</a:t>
            </a:r>
            <a:endParaRPr b="0" i="0" sz="720" u="none" cap="none" strike="noStrike">
              <a:solidFill>
                <a:schemeClr val="dk1"/>
              </a:solidFill>
              <a:latin typeface="Calibri"/>
              <a:ea typeface="Calibri"/>
              <a:cs typeface="Calibri"/>
              <a:sym typeface="Calibri"/>
            </a:endParaRPr>
          </a:p>
        </p:txBody>
      </p:sp>
      <p:sp>
        <p:nvSpPr>
          <p:cNvPr id="856" name="Google Shape;856;p17"/>
          <p:cNvSpPr/>
          <p:nvPr/>
        </p:nvSpPr>
        <p:spPr>
          <a:xfrm>
            <a:off x="1088136" y="3758184"/>
            <a:ext cx="15544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N. Gupta</a:t>
            </a:r>
            <a:endParaRPr b="0" i="0" sz="780" u="none" cap="none" strike="noStrike">
              <a:solidFill>
                <a:schemeClr val="dk1"/>
              </a:solidFill>
              <a:latin typeface="Calibri"/>
              <a:ea typeface="Calibri"/>
              <a:cs typeface="Calibri"/>
              <a:sym typeface="Calibri"/>
            </a:endParaRPr>
          </a:p>
        </p:txBody>
      </p:sp>
      <p:sp>
        <p:nvSpPr>
          <p:cNvPr id="857" name="Google Shape;857;p17"/>
          <p:cNvSpPr/>
          <p:nvPr/>
        </p:nvSpPr>
        <p:spPr>
          <a:xfrm>
            <a:off x="2724912" y="3758184"/>
            <a:ext cx="10972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40"/>
              <a:buFont typeface="Calibri"/>
              <a:buNone/>
            </a:pPr>
            <a:r>
              <a:rPr b="0" i="0" lang="en-US" sz="740" u="none" cap="none" strike="noStrike">
                <a:solidFill>
                  <a:srgbClr val="4B535C"/>
                </a:solidFill>
                <a:latin typeface="Calibri"/>
                <a:ea typeface="Calibri"/>
                <a:cs typeface="Calibri"/>
                <a:sym typeface="Calibri"/>
              </a:rPr>
              <a:t>Sales West</a:t>
            </a:r>
            <a:endParaRPr b="0" i="0" sz="740" u="none" cap="none" strike="noStrike">
              <a:solidFill>
                <a:schemeClr val="dk1"/>
              </a:solidFill>
              <a:latin typeface="Calibri"/>
              <a:ea typeface="Calibri"/>
              <a:cs typeface="Calibri"/>
              <a:sym typeface="Calibri"/>
            </a:endParaRPr>
          </a:p>
        </p:txBody>
      </p:sp>
      <p:sp>
        <p:nvSpPr>
          <p:cNvPr id="858" name="Google Shape;858;p17"/>
          <p:cNvSpPr/>
          <p:nvPr/>
        </p:nvSpPr>
        <p:spPr>
          <a:xfrm>
            <a:off x="3867912" y="3758184"/>
            <a:ext cx="6400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40"/>
              <a:buFont typeface="Calibri"/>
              <a:buNone/>
            </a:pPr>
            <a:r>
              <a:rPr b="0" i="0" lang="en-US" sz="740" u="none" cap="none" strike="noStrike">
                <a:solidFill>
                  <a:srgbClr val="4B535C"/>
                </a:solidFill>
                <a:latin typeface="Calibri"/>
                <a:ea typeface="Calibri"/>
                <a:cs typeface="Calibri"/>
                <a:sym typeface="Calibri"/>
              </a:rPr>
              <a:t>389</a:t>
            </a:r>
            <a:endParaRPr b="0" i="0" sz="740" u="none" cap="none" strike="noStrike">
              <a:solidFill>
                <a:schemeClr val="dk1"/>
              </a:solidFill>
              <a:latin typeface="Calibri"/>
              <a:ea typeface="Calibri"/>
              <a:cs typeface="Calibri"/>
              <a:sym typeface="Calibri"/>
            </a:endParaRPr>
          </a:p>
        </p:txBody>
      </p:sp>
      <p:sp>
        <p:nvSpPr>
          <p:cNvPr id="859" name="Google Shape;859;p17"/>
          <p:cNvSpPr/>
          <p:nvPr/>
        </p:nvSpPr>
        <p:spPr>
          <a:xfrm>
            <a:off x="4645152" y="3822192"/>
            <a:ext cx="402336" cy="173736"/>
          </a:xfrm>
          <a:prstGeom prst="roundRect">
            <a:avLst>
              <a:gd fmla="val 31579" name="adj"/>
            </a:avLst>
          </a:prstGeom>
          <a:solidFill>
            <a:srgbClr val="D9A23C"/>
          </a:solidFill>
          <a:ln cap="flat" cmpd="sng" w="12700">
            <a:solidFill>
              <a:srgbClr val="D9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7"/>
          <p:cNvSpPr/>
          <p:nvPr/>
        </p:nvSpPr>
        <p:spPr>
          <a:xfrm>
            <a:off x="4645152" y="3822192"/>
            <a:ext cx="402336" cy="1737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54</a:t>
            </a:r>
            <a:endParaRPr b="0" i="0" sz="760" u="none" cap="none" strike="noStrike">
              <a:solidFill>
                <a:schemeClr val="dk1"/>
              </a:solidFill>
              <a:latin typeface="Calibri"/>
              <a:ea typeface="Calibri"/>
              <a:cs typeface="Calibri"/>
              <a:sym typeface="Calibri"/>
            </a:endParaRPr>
          </a:p>
        </p:txBody>
      </p:sp>
      <p:sp>
        <p:nvSpPr>
          <p:cNvPr id="861" name="Google Shape;861;p17"/>
          <p:cNvSpPr/>
          <p:nvPr/>
        </p:nvSpPr>
        <p:spPr>
          <a:xfrm>
            <a:off x="5330952" y="3840480"/>
            <a:ext cx="1305763" cy="146304"/>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7"/>
          <p:cNvSpPr/>
          <p:nvPr/>
        </p:nvSpPr>
        <p:spPr>
          <a:xfrm>
            <a:off x="6636715" y="3840480"/>
            <a:ext cx="614477" cy="146304"/>
          </a:xfrm>
          <a:prstGeom prst="rect">
            <a:avLst/>
          </a:prstGeom>
          <a:solidFill>
            <a:srgbClr val="E0A33C"/>
          </a:solidFill>
          <a:ln cap="flat" cmpd="sng" w="12700">
            <a:solidFill>
              <a:srgbClr val="E0A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7"/>
          <p:cNvSpPr/>
          <p:nvPr/>
        </p:nvSpPr>
        <p:spPr>
          <a:xfrm>
            <a:off x="7251192" y="3840480"/>
            <a:ext cx="281635" cy="146304"/>
          </a:xfrm>
          <a:prstGeom prst="rect">
            <a:avLst/>
          </a:prstGeom>
          <a:solidFill>
            <a:srgbClr val="D1603D"/>
          </a:solidFill>
          <a:ln cap="flat" cmpd="sng" w="12700">
            <a:solidFill>
              <a:srgbClr val="D16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7"/>
          <p:cNvSpPr/>
          <p:nvPr/>
        </p:nvSpPr>
        <p:spPr>
          <a:xfrm>
            <a:off x="7532827" y="3840480"/>
            <a:ext cx="51206" cy="146304"/>
          </a:xfrm>
          <a:prstGeom prst="rect">
            <a:avLst/>
          </a:prstGeom>
          <a:solidFill>
            <a:srgbClr val="7A5AA6"/>
          </a:solidFill>
          <a:ln cap="flat" cmpd="sng" w="12700">
            <a:solidFill>
              <a:srgbClr val="7A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7"/>
          <p:cNvSpPr/>
          <p:nvPr/>
        </p:nvSpPr>
        <p:spPr>
          <a:xfrm>
            <a:off x="7584034" y="3840480"/>
            <a:ext cx="204826" cy="146304"/>
          </a:xfrm>
          <a:prstGeom prst="rect">
            <a:avLst/>
          </a:prstGeom>
          <a:solidFill>
            <a:srgbClr val="4A87A8"/>
          </a:solidFill>
          <a:ln cap="flat" cmpd="sng" w="12700">
            <a:solidFill>
              <a:srgbClr val="4A8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7"/>
          <p:cNvSpPr/>
          <p:nvPr/>
        </p:nvSpPr>
        <p:spPr>
          <a:xfrm>
            <a:off x="7788859" y="3840480"/>
            <a:ext cx="102413" cy="146304"/>
          </a:xfrm>
          <a:prstGeom prst="rect">
            <a:avLst/>
          </a:prstGeom>
          <a:solidFill>
            <a:srgbClr val="A8352B"/>
          </a:solidFill>
          <a:ln cap="flat" cmpd="sng" w="12700">
            <a:solidFill>
              <a:srgbClr val="A835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7"/>
          <p:cNvSpPr/>
          <p:nvPr/>
        </p:nvSpPr>
        <p:spPr>
          <a:xfrm>
            <a:off x="5330952" y="3840480"/>
            <a:ext cx="2560320" cy="146304"/>
          </a:xfrm>
          <a:prstGeom prst="rect">
            <a:avLst/>
          </a:prstGeom>
          <a:solidFill>
            <a:srgbClr val="FFFFFF">
              <a:alpha val="0"/>
            </a:srgbClr>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7"/>
          <p:cNvSpPr/>
          <p:nvPr/>
        </p:nvSpPr>
        <p:spPr>
          <a:xfrm>
            <a:off x="8028432" y="3972154"/>
            <a:ext cx="64122" cy="32918"/>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7"/>
          <p:cNvSpPr/>
          <p:nvPr/>
        </p:nvSpPr>
        <p:spPr>
          <a:xfrm>
            <a:off x="8125587" y="3942161"/>
            <a:ext cx="64122" cy="62911"/>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7"/>
          <p:cNvSpPr/>
          <p:nvPr/>
        </p:nvSpPr>
        <p:spPr>
          <a:xfrm>
            <a:off x="8222742" y="3882177"/>
            <a:ext cx="64122" cy="122895"/>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7"/>
          <p:cNvSpPr/>
          <p:nvPr/>
        </p:nvSpPr>
        <p:spPr>
          <a:xfrm>
            <a:off x="8319897" y="3912169"/>
            <a:ext cx="64122" cy="92903"/>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7"/>
          <p:cNvSpPr/>
          <p:nvPr/>
        </p:nvSpPr>
        <p:spPr>
          <a:xfrm>
            <a:off x="8417052" y="3852184"/>
            <a:ext cx="64122" cy="152888"/>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7"/>
          <p:cNvSpPr/>
          <p:nvPr/>
        </p:nvSpPr>
        <p:spPr>
          <a:xfrm>
            <a:off x="8514207" y="3852184"/>
            <a:ext cx="64122" cy="152888"/>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7"/>
          <p:cNvSpPr/>
          <p:nvPr/>
        </p:nvSpPr>
        <p:spPr>
          <a:xfrm>
            <a:off x="8611362" y="3822192"/>
            <a:ext cx="64122" cy="182880"/>
          </a:xfrm>
          <a:prstGeom prst="rect">
            <a:avLst/>
          </a:prstGeom>
          <a:solidFill>
            <a:srgbClr val="A9CDB6"/>
          </a:solidFill>
          <a:ln cap="flat" cmpd="sng" w="12700">
            <a:solidFill>
              <a:srgbClr val="A9CD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7"/>
          <p:cNvSpPr/>
          <p:nvPr/>
        </p:nvSpPr>
        <p:spPr>
          <a:xfrm>
            <a:off x="8708517" y="3822192"/>
            <a:ext cx="64122" cy="182880"/>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7"/>
          <p:cNvSpPr/>
          <p:nvPr/>
        </p:nvSpPr>
        <p:spPr>
          <a:xfrm>
            <a:off x="8988552" y="3822192"/>
            <a:ext cx="1371600" cy="173736"/>
          </a:xfrm>
          <a:prstGeom prst="roundRect">
            <a:avLst>
              <a:gd fmla="val 31579" name="adj"/>
            </a:avLst>
          </a:prstGeom>
          <a:solidFill>
            <a:srgbClr val="C77700"/>
          </a:solidFill>
          <a:ln cap="flat" cmpd="sng" w="12700">
            <a:solidFill>
              <a:srgbClr val="C77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7"/>
          <p:cNvSpPr/>
          <p:nvPr/>
        </p:nvSpPr>
        <p:spPr>
          <a:xfrm>
            <a:off x="8988552" y="3822192"/>
            <a:ext cx="1371600" cy="1737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Needs coaching</a:t>
            </a:r>
            <a:endParaRPr b="0" i="0" sz="760" u="none" cap="none" strike="noStrike">
              <a:solidFill>
                <a:schemeClr val="dk1"/>
              </a:solidFill>
              <a:latin typeface="Calibri"/>
              <a:ea typeface="Calibri"/>
              <a:cs typeface="Calibri"/>
              <a:sym typeface="Calibri"/>
            </a:endParaRPr>
          </a:p>
        </p:txBody>
      </p:sp>
      <p:sp>
        <p:nvSpPr>
          <p:cNvPr id="878" name="Google Shape;878;p17"/>
          <p:cNvSpPr/>
          <p:nvPr/>
        </p:nvSpPr>
        <p:spPr>
          <a:xfrm>
            <a:off x="10497312" y="3758184"/>
            <a:ext cx="10058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20"/>
              <a:buFont typeface="Calibri"/>
              <a:buNone/>
            </a:pPr>
            <a:r>
              <a:rPr b="1" i="0" lang="en-US" sz="720" u="none" cap="none" strike="noStrike">
                <a:solidFill>
                  <a:srgbClr val="046B73"/>
                </a:solidFill>
                <a:latin typeface="Calibri"/>
                <a:ea typeface="Calibri"/>
                <a:cs typeface="Calibri"/>
                <a:sym typeface="Calibri"/>
              </a:rPr>
              <a:t>Coach on stages</a:t>
            </a:r>
            <a:endParaRPr b="0" i="0" sz="720" u="none" cap="none" strike="noStrike">
              <a:solidFill>
                <a:schemeClr val="dk1"/>
              </a:solidFill>
              <a:latin typeface="Calibri"/>
              <a:ea typeface="Calibri"/>
              <a:cs typeface="Calibri"/>
              <a:sym typeface="Calibri"/>
            </a:endParaRPr>
          </a:p>
        </p:txBody>
      </p:sp>
      <p:sp>
        <p:nvSpPr>
          <p:cNvPr id="879" name="Google Shape;879;p17"/>
          <p:cNvSpPr/>
          <p:nvPr/>
        </p:nvSpPr>
        <p:spPr>
          <a:xfrm>
            <a:off x="713232" y="4059936"/>
            <a:ext cx="10765231" cy="301752"/>
          </a:xfrm>
          <a:prstGeom prst="rect">
            <a:avLst/>
          </a:prstGeom>
          <a:solidFill>
            <a:srgbClr val="FFFFFF"/>
          </a:solidFill>
          <a:ln cap="flat" cmpd="sng" w="9525">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7"/>
          <p:cNvSpPr/>
          <p:nvPr/>
        </p:nvSpPr>
        <p:spPr>
          <a:xfrm>
            <a:off x="740664" y="4114800"/>
            <a:ext cx="192024" cy="192024"/>
          </a:xfrm>
          <a:prstGeom prst="ellipse">
            <a:avLst/>
          </a:prstGeom>
          <a:solidFill>
            <a:srgbClr val="B8443A"/>
          </a:solidFill>
          <a:ln cap="flat" cmpd="sng" w="12700">
            <a:solidFill>
              <a:srgbClr val="B844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7"/>
          <p:cNvSpPr/>
          <p:nvPr/>
        </p:nvSpPr>
        <p:spPr>
          <a:xfrm>
            <a:off x="740664" y="4114800"/>
            <a:ext cx="192024"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Calibri"/>
              <a:buNone/>
            </a:pPr>
            <a:r>
              <a:rPr b="1" i="0" lang="en-US" sz="720" u="none" cap="none" strike="noStrike">
                <a:solidFill>
                  <a:srgbClr val="FFFFFF"/>
                </a:solidFill>
                <a:latin typeface="Calibri"/>
                <a:ea typeface="Calibri"/>
                <a:cs typeface="Calibri"/>
                <a:sym typeface="Calibri"/>
              </a:rPr>
              <a:t>SI</a:t>
            </a:r>
            <a:endParaRPr b="0" i="0" sz="720" u="none" cap="none" strike="noStrike">
              <a:solidFill>
                <a:schemeClr val="dk1"/>
              </a:solidFill>
              <a:latin typeface="Calibri"/>
              <a:ea typeface="Calibri"/>
              <a:cs typeface="Calibri"/>
              <a:sym typeface="Calibri"/>
            </a:endParaRPr>
          </a:p>
        </p:txBody>
      </p:sp>
      <p:sp>
        <p:nvSpPr>
          <p:cNvPr id="882" name="Google Shape;882;p17"/>
          <p:cNvSpPr/>
          <p:nvPr/>
        </p:nvSpPr>
        <p:spPr>
          <a:xfrm>
            <a:off x="1088136" y="4059936"/>
            <a:ext cx="15544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S. Iyer</a:t>
            </a:r>
            <a:endParaRPr b="0" i="0" sz="780" u="none" cap="none" strike="noStrike">
              <a:solidFill>
                <a:schemeClr val="dk1"/>
              </a:solidFill>
              <a:latin typeface="Calibri"/>
              <a:ea typeface="Calibri"/>
              <a:cs typeface="Calibri"/>
              <a:sym typeface="Calibri"/>
            </a:endParaRPr>
          </a:p>
        </p:txBody>
      </p:sp>
      <p:sp>
        <p:nvSpPr>
          <p:cNvPr id="883" name="Google Shape;883;p17"/>
          <p:cNvSpPr/>
          <p:nvPr/>
        </p:nvSpPr>
        <p:spPr>
          <a:xfrm>
            <a:off x="2724912" y="4059936"/>
            <a:ext cx="10972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40"/>
              <a:buFont typeface="Calibri"/>
              <a:buNone/>
            </a:pPr>
            <a:r>
              <a:rPr b="0" i="0" lang="en-US" sz="740" u="none" cap="none" strike="noStrike">
                <a:solidFill>
                  <a:srgbClr val="4B535C"/>
                </a:solidFill>
                <a:latin typeface="Calibri"/>
                <a:ea typeface="Calibri"/>
                <a:cs typeface="Calibri"/>
                <a:sym typeface="Calibri"/>
              </a:rPr>
              <a:t>Inside Sales</a:t>
            </a:r>
            <a:endParaRPr b="0" i="0" sz="740" u="none" cap="none" strike="noStrike">
              <a:solidFill>
                <a:schemeClr val="dk1"/>
              </a:solidFill>
              <a:latin typeface="Calibri"/>
              <a:ea typeface="Calibri"/>
              <a:cs typeface="Calibri"/>
              <a:sym typeface="Calibri"/>
            </a:endParaRPr>
          </a:p>
        </p:txBody>
      </p:sp>
      <p:sp>
        <p:nvSpPr>
          <p:cNvPr id="884" name="Google Shape;884;p17"/>
          <p:cNvSpPr/>
          <p:nvPr/>
        </p:nvSpPr>
        <p:spPr>
          <a:xfrm>
            <a:off x="3867912" y="4059936"/>
            <a:ext cx="6400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40"/>
              <a:buFont typeface="Calibri"/>
              <a:buNone/>
            </a:pPr>
            <a:r>
              <a:rPr b="0" i="0" lang="en-US" sz="740" u="none" cap="none" strike="noStrike">
                <a:solidFill>
                  <a:srgbClr val="4B535C"/>
                </a:solidFill>
                <a:latin typeface="Calibri"/>
                <a:ea typeface="Calibri"/>
                <a:cs typeface="Calibri"/>
                <a:sym typeface="Calibri"/>
              </a:rPr>
              <a:t>2,918</a:t>
            </a:r>
            <a:endParaRPr b="0" i="0" sz="740" u="none" cap="none" strike="noStrike">
              <a:solidFill>
                <a:schemeClr val="dk1"/>
              </a:solidFill>
              <a:latin typeface="Calibri"/>
              <a:ea typeface="Calibri"/>
              <a:cs typeface="Calibri"/>
              <a:sym typeface="Calibri"/>
            </a:endParaRPr>
          </a:p>
        </p:txBody>
      </p:sp>
      <p:sp>
        <p:nvSpPr>
          <p:cNvPr id="885" name="Google Shape;885;p17"/>
          <p:cNvSpPr/>
          <p:nvPr/>
        </p:nvSpPr>
        <p:spPr>
          <a:xfrm>
            <a:off x="4645152" y="4123944"/>
            <a:ext cx="402336" cy="173736"/>
          </a:xfrm>
          <a:prstGeom prst="roundRect">
            <a:avLst>
              <a:gd fmla="val 31579" name="adj"/>
            </a:avLst>
          </a:prstGeom>
          <a:solidFill>
            <a:srgbClr val="A8352B"/>
          </a:solidFill>
          <a:ln cap="flat" cmpd="sng" w="12700">
            <a:solidFill>
              <a:srgbClr val="A835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7"/>
          <p:cNvSpPr/>
          <p:nvPr/>
        </p:nvSpPr>
        <p:spPr>
          <a:xfrm>
            <a:off x="4645152" y="4123944"/>
            <a:ext cx="402336" cy="1737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31</a:t>
            </a:r>
            <a:endParaRPr b="0" i="0" sz="760" u="none" cap="none" strike="noStrike">
              <a:solidFill>
                <a:schemeClr val="dk1"/>
              </a:solidFill>
              <a:latin typeface="Calibri"/>
              <a:ea typeface="Calibri"/>
              <a:cs typeface="Calibri"/>
              <a:sym typeface="Calibri"/>
            </a:endParaRPr>
          </a:p>
        </p:txBody>
      </p:sp>
      <p:sp>
        <p:nvSpPr>
          <p:cNvPr id="887" name="Google Shape;887;p17"/>
          <p:cNvSpPr/>
          <p:nvPr/>
        </p:nvSpPr>
        <p:spPr>
          <a:xfrm>
            <a:off x="5330952" y="4142232"/>
            <a:ext cx="742493" cy="146304"/>
          </a:xfrm>
          <a:prstGeom prst="rect">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7"/>
          <p:cNvSpPr/>
          <p:nvPr/>
        </p:nvSpPr>
        <p:spPr>
          <a:xfrm>
            <a:off x="6073445" y="4142232"/>
            <a:ext cx="665683" cy="146304"/>
          </a:xfrm>
          <a:prstGeom prst="rect">
            <a:avLst/>
          </a:prstGeom>
          <a:solidFill>
            <a:srgbClr val="E0A33C"/>
          </a:solidFill>
          <a:ln cap="flat" cmpd="sng" w="12700">
            <a:solidFill>
              <a:srgbClr val="E0A3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7"/>
          <p:cNvSpPr/>
          <p:nvPr/>
        </p:nvSpPr>
        <p:spPr>
          <a:xfrm>
            <a:off x="6739128" y="4142232"/>
            <a:ext cx="358445" cy="146304"/>
          </a:xfrm>
          <a:prstGeom prst="rect">
            <a:avLst/>
          </a:prstGeom>
          <a:solidFill>
            <a:srgbClr val="D1603D"/>
          </a:solidFill>
          <a:ln cap="flat" cmpd="sng" w="12700">
            <a:solidFill>
              <a:srgbClr val="D160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7"/>
          <p:cNvSpPr/>
          <p:nvPr/>
        </p:nvSpPr>
        <p:spPr>
          <a:xfrm>
            <a:off x="7097573" y="4142232"/>
            <a:ext cx="460858" cy="146304"/>
          </a:xfrm>
          <a:prstGeom prst="rect">
            <a:avLst/>
          </a:prstGeom>
          <a:solidFill>
            <a:srgbClr val="7A5AA6"/>
          </a:solidFill>
          <a:ln cap="flat" cmpd="sng" w="12700">
            <a:solidFill>
              <a:srgbClr val="7A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7"/>
          <p:cNvSpPr/>
          <p:nvPr/>
        </p:nvSpPr>
        <p:spPr>
          <a:xfrm>
            <a:off x="7558430" y="4142232"/>
            <a:ext cx="230429" cy="146304"/>
          </a:xfrm>
          <a:prstGeom prst="rect">
            <a:avLst/>
          </a:prstGeom>
          <a:solidFill>
            <a:srgbClr val="4A87A8"/>
          </a:solidFill>
          <a:ln cap="flat" cmpd="sng" w="12700">
            <a:solidFill>
              <a:srgbClr val="4A8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7"/>
          <p:cNvSpPr/>
          <p:nvPr/>
        </p:nvSpPr>
        <p:spPr>
          <a:xfrm>
            <a:off x="7788859" y="4142232"/>
            <a:ext cx="102413" cy="146304"/>
          </a:xfrm>
          <a:prstGeom prst="rect">
            <a:avLst/>
          </a:prstGeom>
          <a:solidFill>
            <a:srgbClr val="A8352B"/>
          </a:solidFill>
          <a:ln cap="flat" cmpd="sng" w="12700">
            <a:solidFill>
              <a:srgbClr val="A835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7"/>
          <p:cNvSpPr/>
          <p:nvPr/>
        </p:nvSpPr>
        <p:spPr>
          <a:xfrm>
            <a:off x="5330952" y="4142232"/>
            <a:ext cx="2560320" cy="146304"/>
          </a:xfrm>
          <a:prstGeom prst="rect">
            <a:avLst/>
          </a:prstGeom>
          <a:solidFill>
            <a:srgbClr val="FFFFFF">
              <a:alpha val="0"/>
            </a:srgbClr>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7"/>
          <p:cNvSpPr/>
          <p:nvPr/>
        </p:nvSpPr>
        <p:spPr>
          <a:xfrm>
            <a:off x="8028432" y="4123944"/>
            <a:ext cx="64122" cy="182880"/>
          </a:xfrm>
          <a:prstGeom prst="rect">
            <a:avLst/>
          </a:prstGeom>
          <a:solidFill>
            <a:srgbClr val="C9D6DA"/>
          </a:solidFill>
          <a:ln cap="flat" cmpd="sng" w="12700">
            <a:solidFill>
              <a:srgbClr val="C9D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7"/>
          <p:cNvSpPr/>
          <p:nvPr/>
        </p:nvSpPr>
        <p:spPr>
          <a:xfrm>
            <a:off x="8125587" y="4142689"/>
            <a:ext cx="64122" cy="164135"/>
          </a:xfrm>
          <a:prstGeom prst="rect">
            <a:avLst/>
          </a:prstGeom>
          <a:solidFill>
            <a:srgbClr val="C9D6DA"/>
          </a:solidFill>
          <a:ln cap="flat" cmpd="sng" w="12700">
            <a:solidFill>
              <a:srgbClr val="C9D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7"/>
          <p:cNvSpPr/>
          <p:nvPr/>
        </p:nvSpPr>
        <p:spPr>
          <a:xfrm>
            <a:off x="8222742" y="4170807"/>
            <a:ext cx="64122" cy="136017"/>
          </a:xfrm>
          <a:prstGeom prst="rect">
            <a:avLst/>
          </a:prstGeom>
          <a:solidFill>
            <a:srgbClr val="C9D6DA"/>
          </a:solidFill>
          <a:ln cap="flat" cmpd="sng" w="12700">
            <a:solidFill>
              <a:srgbClr val="C9D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7"/>
          <p:cNvSpPr/>
          <p:nvPr/>
        </p:nvSpPr>
        <p:spPr>
          <a:xfrm>
            <a:off x="8319897" y="4189552"/>
            <a:ext cx="64122" cy="117272"/>
          </a:xfrm>
          <a:prstGeom prst="rect">
            <a:avLst/>
          </a:prstGeom>
          <a:solidFill>
            <a:srgbClr val="C9D6DA"/>
          </a:solidFill>
          <a:ln cap="flat" cmpd="sng" w="12700">
            <a:solidFill>
              <a:srgbClr val="C9D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7"/>
          <p:cNvSpPr/>
          <p:nvPr/>
        </p:nvSpPr>
        <p:spPr>
          <a:xfrm>
            <a:off x="8417052" y="4208297"/>
            <a:ext cx="64122" cy="98527"/>
          </a:xfrm>
          <a:prstGeom prst="rect">
            <a:avLst/>
          </a:prstGeom>
          <a:solidFill>
            <a:srgbClr val="C9D6DA"/>
          </a:solidFill>
          <a:ln cap="flat" cmpd="sng" w="12700">
            <a:solidFill>
              <a:srgbClr val="C9D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7"/>
          <p:cNvSpPr/>
          <p:nvPr/>
        </p:nvSpPr>
        <p:spPr>
          <a:xfrm>
            <a:off x="8514207" y="4236415"/>
            <a:ext cx="64122" cy="70409"/>
          </a:xfrm>
          <a:prstGeom prst="rect">
            <a:avLst/>
          </a:prstGeom>
          <a:solidFill>
            <a:srgbClr val="C9D6DA"/>
          </a:solidFill>
          <a:ln cap="flat" cmpd="sng" w="12700">
            <a:solidFill>
              <a:srgbClr val="C9D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7"/>
          <p:cNvSpPr/>
          <p:nvPr/>
        </p:nvSpPr>
        <p:spPr>
          <a:xfrm>
            <a:off x="8611362" y="4255160"/>
            <a:ext cx="64122" cy="51664"/>
          </a:xfrm>
          <a:prstGeom prst="rect">
            <a:avLst/>
          </a:prstGeom>
          <a:solidFill>
            <a:srgbClr val="C9D6DA"/>
          </a:solidFill>
          <a:ln cap="flat" cmpd="sng" w="12700">
            <a:solidFill>
              <a:srgbClr val="C9D6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7"/>
          <p:cNvSpPr/>
          <p:nvPr/>
        </p:nvSpPr>
        <p:spPr>
          <a:xfrm>
            <a:off x="8708517" y="4273906"/>
            <a:ext cx="64122" cy="32918"/>
          </a:xfrm>
          <a:prstGeom prst="rect">
            <a:avLst/>
          </a:prstGeom>
          <a:solidFill>
            <a:srgbClr val="B8443A"/>
          </a:solidFill>
          <a:ln cap="flat" cmpd="sng" w="12700">
            <a:solidFill>
              <a:srgbClr val="B844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7"/>
          <p:cNvSpPr/>
          <p:nvPr/>
        </p:nvSpPr>
        <p:spPr>
          <a:xfrm>
            <a:off x="8988552" y="4123944"/>
            <a:ext cx="1371600" cy="173736"/>
          </a:xfrm>
          <a:prstGeom prst="roundRect">
            <a:avLst>
              <a:gd fmla="val 31579" name="adj"/>
            </a:avLst>
          </a:prstGeom>
          <a:solidFill>
            <a:srgbClr val="B8443A"/>
          </a:solidFill>
          <a:ln cap="flat" cmpd="sng" w="12700">
            <a:solidFill>
              <a:srgbClr val="B844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7"/>
          <p:cNvSpPr/>
          <p:nvPr/>
        </p:nvSpPr>
        <p:spPr>
          <a:xfrm>
            <a:off x="8988552" y="4123944"/>
            <a:ext cx="1371600" cy="1737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Intervention</a:t>
            </a:r>
            <a:endParaRPr b="0" i="0" sz="760" u="none" cap="none" strike="noStrike">
              <a:solidFill>
                <a:schemeClr val="dk1"/>
              </a:solidFill>
              <a:latin typeface="Calibri"/>
              <a:ea typeface="Calibri"/>
              <a:cs typeface="Calibri"/>
              <a:sym typeface="Calibri"/>
            </a:endParaRPr>
          </a:p>
        </p:txBody>
      </p:sp>
      <p:sp>
        <p:nvSpPr>
          <p:cNvPr id="904" name="Google Shape;904;p17"/>
          <p:cNvSpPr/>
          <p:nvPr/>
        </p:nvSpPr>
        <p:spPr>
          <a:xfrm>
            <a:off x="10497312" y="4059936"/>
            <a:ext cx="10058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20"/>
              <a:buFont typeface="Calibri"/>
              <a:buNone/>
            </a:pPr>
            <a:r>
              <a:rPr b="1" i="0" lang="en-US" sz="720" u="none" cap="none" strike="noStrike">
                <a:solidFill>
                  <a:srgbClr val="046B73"/>
                </a:solidFill>
                <a:latin typeface="Calibri"/>
                <a:ea typeface="Calibri"/>
                <a:cs typeface="Calibri"/>
                <a:sym typeface="Calibri"/>
              </a:rPr>
              <a:t>Review with lead</a:t>
            </a:r>
            <a:endParaRPr b="0" i="0" sz="720" u="none" cap="none" strike="noStrike">
              <a:solidFill>
                <a:schemeClr val="dk1"/>
              </a:solidFill>
              <a:latin typeface="Calibri"/>
              <a:ea typeface="Calibri"/>
              <a:cs typeface="Calibri"/>
              <a:sym typeface="Calibri"/>
            </a:endParaRPr>
          </a:p>
        </p:txBody>
      </p:sp>
      <p:sp>
        <p:nvSpPr>
          <p:cNvPr id="905" name="Google Shape;905;p17"/>
          <p:cNvSpPr/>
          <p:nvPr/>
        </p:nvSpPr>
        <p:spPr>
          <a:xfrm>
            <a:off x="713232" y="4361688"/>
            <a:ext cx="10765231" cy="301752"/>
          </a:xfrm>
          <a:prstGeom prst="rect">
            <a:avLst/>
          </a:prstGeom>
          <a:solidFill>
            <a:srgbClr val="F7F9FA"/>
          </a:solidFill>
          <a:ln cap="flat" cmpd="sng" w="9525">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7"/>
          <p:cNvSpPr/>
          <p:nvPr/>
        </p:nvSpPr>
        <p:spPr>
          <a:xfrm>
            <a:off x="740664" y="4416552"/>
            <a:ext cx="192024" cy="192024"/>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7"/>
          <p:cNvSpPr/>
          <p:nvPr/>
        </p:nvSpPr>
        <p:spPr>
          <a:xfrm>
            <a:off x="740664" y="4416552"/>
            <a:ext cx="192024"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
              <a:buFont typeface="Calibri"/>
              <a:buNone/>
            </a:pPr>
            <a:r>
              <a:rPr b="1" i="0" lang="en-US" sz="720" u="none" cap="none" strike="noStrike">
                <a:solidFill>
                  <a:srgbClr val="FFFFFF"/>
                </a:solidFill>
                <a:latin typeface="Calibri"/>
                <a:ea typeface="Calibri"/>
                <a:cs typeface="Calibri"/>
                <a:sym typeface="Calibri"/>
              </a:rPr>
              <a:t>MJ</a:t>
            </a:r>
            <a:endParaRPr b="0" i="0" sz="720" u="none" cap="none" strike="noStrike">
              <a:solidFill>
                <a:schemeClr val="dk1"/>
              </a:solidFill>
              <a:latin typeface="Calibri"/>
              <a:ea typeface="Calibri"/>
              <a:cs typeface="Calibri"/>
              <a:sym typeface="Calibri"/>
            </a:endParaRPr>
          </a:p>
        </p:txBody>
      </p:sp>
      <p:sp>
        <p:nvSpPr>
          <p:cNvPr id="908" name="Google Shape;908;p17"/>
          <p:cNvSpPr/>
          <p:nvPr/>
        </p:nvSpPr>
        <p:spPr>
          <a:xfrm>
            <a:off x="1088136" y="4361688"/>
            <a:ext cx="15544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M. Joshi</a:t>
            </a:r>
            <a:endParaRPr b="0" i="0" sz="780" u="none" cap="none" strike="noStrike">
              <a:solidFill>
                <a:schemeClr val="dk1"/>
              </a:solidFill>
              <a:latin typeface="Calibri"/>
              <a:ea typeface="Calibri"/>
              <a:cs typeface="Calibri"/>
              <a:sym typeface="Calibri"/>
            </a:endParaRPr>
          </a:p>
        </p:txBody>
      </p:sp>
      <p:sp>
        <p:nvSpPr>
          <p:cNvPr id="909" name="Google Shape;909;p17"/>
          <p:cNvSpPr/>
          <p:nvPr/>
        </p:nvSpPr>
        <p:spPr>
          <a:xfrm>
            <a:off x="2724912" y="4361688"/>
            <a:ext cx="10972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40"/>
              <a:buFont typeface="Calibri"/>
              <a:buNone/>
            </a:pPr>
            <a:r>
              <a:rPr b="0" i="0" lang="en-US" sz="740" u="none" cap="none" strike="noStrike">
                <a:solidFill>
                  <a:srgbClr val="4B535C"/>
                </a:solidFill>
                <a:latin typeface="Calibri"/>
                <a:ea typeface="Calibri"/>
                <a:cs typeface="Calibri"/>
                <a:sym typeface="Calibri"/>
              </a:rPr>
              <a:t>Field Sales</a:t>
            </a:r>
            <a:endParaRPr b="0" i="0" sz="740" u="none" cap="none" strike="noStrike">
              <a:solidFill>
                <a:schemeClr val="dk1"/>
              </a:solidFill>
              <a:latin typeface="Calibri"/>
              <a:ea typeface="Calibri"/>
              <a:cs typeface="Calibri"/>
              <a:sym typeface="Calibri"/>
            </a:endParaRPr>
          </a:p>
        </p:txBody>
      </p:sp>
      <p:sp>
        <p:nvSpPr>
          <p:cNvPr id="910" name="Google Shape;910;p17"/>
          <p:cNvSpPr/>
          <p:nvPr/>
        </p:nvSpPr>
        <p:spPr>
          <a:xfrm>
            <a:off x="3867912" y="4361688"/>
            <a:ext cx="64008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40"/>
              <a:buFont typeface="Calibri"/>
              <a:buNone/>
            </a:pPr>
            <a:r>
              <a:rPr b="0" i="0" lang="en-US" sz="740" u="none" cap="none" strike="noStrike">
                <a:solidFill>
                  <a:srgbClr val="4B535C"/>
                </a:solidFill>
                <a:latin typeface="Calibri"/>
                <a:ea typeface="Calibri"/>
                <a:cs typeface="Calibri"/>
                <a:sym typeface="Calibri"/>
              </a:rPr>
              <a:t>96</a:t>
            </a:r>
            <a:endParaRPr b="0" i="0" sz="740" u="none" cap="none" strike="noStrike">
              <a:solidFill>
                <a:schemeClr val="dk1"/>
              </a:solidFill>
              <a:latin typeface="Calibri"/>
              <a:ea typeface="Calibri"/>
              <a:cs typeface="Calibri"/>
              <a:sym typeface="Calibri"/>
            </a:endParaRPr>
          </a:p>
        </p:txBody>
      </p:sp>
      <p:sp>
        <p:nvSpPr>
          <p:cNvPr id="911" name="Google Shape;911;p17"/>
          <p:cNvSpPr/>
          <p:nvPr/>
        </p:nvSpPr>
        <p:spPr>
          <a:xfrm>
            <a:off x="4645152" y="4361688"/>
            <a:ext cx="5486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EB5BC"/>
              </a:buClr>
              <a:buSzPts val="780"/>
              <a:buFont typeface="Calibri"/>
              <a:buNone/>
            </a:pPr>
            <a:r>
              <a:rPr b="1" i="0" lang="en-US" sz="780" u="none" cap="none" strike="noStrike">
                <a:solidFill>
                  <a:srgbClr val="AEB5BC"/>
                </a:solidFill>
                <a:latin typeface="Calibri"/>
                <a:ea typeface="Calibri"/>
                <a:cs typeface="Calibri"/>
                <a:sym typeface="Calibri"/>
              </a:rPr>
              <a:t>n/a</a:t>
            </a:r>
            <a:endParaRPr b="0" i="0" sz="780" u="none" cap="none" strike="noStrike">
              <a:solidFill>
                <a:schemeClr val="dk1"/>
              </a:solidFill>
              <a:latin typeface="Calibri"/>
              <a:ea typeface="Calibri"/>
              <a:cs typeface="Calibri"/>
              <a:sym typeface="Calibri"/>
            </a:endParaRPr>
          </a:p>
        </p:txBody>
      </p:sp>
      <p:sp>
        <p:nvSpPr>
          <p:cNvPr id="912" name="Google Shape;912;p17"/>
          <p:cNvSpPr/>
          <p:nvPr/>
        </p:nvSpPr>
        <p:spPr>
          <a:xfrm>
            <a:off x="5330952" y="4361688"/>
            <a:ext cx="256032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EB5BC"/>
              </a:buClr>
              <a:buSzPts val="700"/>
              <a:buFont typeface="Calibri"/>
              <a:buNone/>
            </a:pPr>
            <a:r>
              <a:rPr b="0" i="1" lang="en-US" sz="700" u="none" cap="none" strike="noStrike">
                <a:solidFill>
                  <a:srgbClr val="AEB5BC"/>
                </a:solidFill>
                <a:latin typeface="Calibri"/>
                <a:ea typeface="Calibri"/>
                <a:cs typeface="Calibri"/>
                <a:sym typeface="Calibri"/>
              </a:rPr>
              <a:t>Fewer than 25 records created in this period</a:t>
            </a:r>
            <a:endParaRPr b="0" i="0" sz="700" u="none" cap="none" strike="noStrike">
              <a:solidFill>
                <a:schemeClr val="dk1"/>
              </a:solidFill>
              <a:latin typeface="Calibri"/>
              <a:ea typeface="Calibri"/>
              <a:cs typeface="Calibri"/>
              <a:sym typeface="Calibri"/>
            </a:endParaRPr>
          </a:p>
        </p:txBody>
      </p:sp>
      <p:sp>
        <p:nvSpPr>
          <p:cNvPr id="913" name="Google Shape;913;p17"/>
          <p:cNvSpPr/>
          <p:nvPr/>
        </p:nvSpPr>
        <p:spPr>
          <a:xfrm>
            <a:off x="8988552" y="4425696"/>
            <a:ext cx="1371600" cy="173736"/>
          </a:xfrm>
          <a:prstGeom prst="roundRect">
            <a:avLst>
              <a:gd fmla="val 31579" name="adj"/>
            </a:avLst>
          </a:prstGeom>
          <a:solidFill>
            <a:srgbClr val="AEB5BC"/>
          </a:solidFill>
          <a:ln cap="flat" cmpd="sng" w="12700">
            <a:solidFill>
              <a:srgbClr val="AEB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7"/>
          <p:cNvSpPr/>
          <p:nvPr/>
        </p:nvSpPr>
        <p:spPr>
          <a:xfrm>
            <a:off x="8988552" y="4425696"/>
            <a:ext cx="1371600" cy="1737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Insufficient data</a:t>
            </a:r>
            <a:endParaRPr b="0" i="0" sz="760" u="none" cap="none" strike="noStrike">
              <a:solidFill>
                <a:schemeClr val="dk1"/>
              </a:solidFill>
              <a:latin typeface="Calibri"/>
              <a:ea typeface="Calibri"/>
              <a:cs typeface="Calibri"/>
              <a:sym typeface="Calibri"/>
            </a:endParaRPr>
          </a:p>
        </p:txBody>
      </p:sp>
      <p:sp>
        <p:nvSpPr>
          <p:cNvPr id="915" name="Google Shape;915;p17"/>
          <p:cNvSpPr/>
          <p:nvPr/>
        </p:nvSpPr>
        <p:spPr>
          <a:xfrm>
            <a:off x="10497312" y="4361688"/>
            <a:ext cx="100584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20"/>
              <a:buFont typeface="Calibri"/>
              <a:buNone/>
            </a:pPr>
            <a:r>
              <a:rPr b="1" i="0" lang="en-US" sz="720" u="none" cap="none" strike="noStrike">
                <a:solidFill>
                  <a:srgbClr val="046B73"/>
                </a:solidFill>
                <a:latin typeface="Calibri"/>
                <a:ea typeface="Calibri"/>
                <a:cs typeface="Calibri"/>
                <a:sym typeface="Calibri"/>
              </a:rPr>
              <a:t>Below threshold</a:t>
            </a:r>
            <a:endParaRPr b="0" i="0" sz="720" u="none" cap="none" strike="noStrike">
              <a:solidFill>
                <a:schemeClr val="dk1"/>
              </a:solidFill>
              <a:latin typeface="Calibri"/>
              <a:ea typeface="Calibri"/>
              <a:cs typeface="Calibri"/>
              <a:sym typeface="Calibri"/>
            </a:endParaRPr>
          </a:p>
        </p:txBody>
      </p:sp>
      <p:sp>
        <p:nvSpPr>
          <p:cNvPr id="916" name="Google Shape;916;p17"/>
          <p:cNvSpPr/>
          <p:nvPr/>
        </p:nvSpPr>
        <p:spPr>
          <a:xfrm>
            <a:off x="713232" y="4754880"/>
            <a:ext cx="10765231" cy="566928"/>
          </a:xfrm>
          <a:prstGeom prst="rect">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7"/>
          <p:cNvSpPr/>
          <p:nvPr/>
        </p:nvSpPr>
        <p:spPr>
          <a:xfrm>
            <a:off x="850392" y="4809744"/>
            <a:ext cx="104241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2A30"/>
              </a:buClr>
              <a:buSzPts val="839"/>
              <a:buFont typeface="Calibri"/>
              <a:buNone/>
            </a:pPr>
            <a:r>
              <a:rPr b="1" i="0" lang="en-US" sz="840" u="none" cap="none" strike="noStrike">
                <a:solidFill>
                  <a:srgbClr val="062A30"/>
                </a:solidFill>
                <a:latin typeface="Calibri"/>
                <a:ea typeface="Calibri"/>
                <a:cs typeface="Calibri"/>
                <a:sym typeface="Calibri"/>
              </a:rPr>
              <a:t>Two users created 61 percent of all records needing action in this period. S. Iyer alone accounts for 18 percent suspicious records against an org average of 4 percent.</a:t>
            </a:r>
            <a:endParaRPr b="0" i="0" sz="840" u="none" cap="none" strike="noStrike">
              <a:solidFill>
                <a:schemeClr val="dk1"/>
              </a:solidFill>
              <a:latin typeface="Calibri"/>
              <a:ea typeface="Calibri"/>
              <a:cs typeface="Calibri"/>
              <a:sym typeface="Calibri"/>
            </a:endParaRPr>
          </a:p>
        </p:txBody>
      </p:sp>
      <p:sp>
        <p:nvSpPr>
          <p:cNvPr id="918" name="Google Shape;918;p17"/>
          <p:cNvSpPr/>
          <p:nvPr/>
        </p:nvSpPr>
        <p:spPr>
          <a:xfrm>
            <a:off x="850392" y="5029200"/>
            <a:ext cx="104241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800"/>
              <a:buFont typeface="Calibri"/>
              <a:buNone/>
            </a:pPr>
            <a:r>
              <a:rPr b="0" i="0" lang="en-US" sz="800" u="none" cap="none" strike="noStrike">
                <a:solidFill>
                  <a:srgbClr val="4B535C"/>
                </a:solidFill>
                <a:latin typeface="Calibri"/>
                <a:ea typeface="Calibri"/>
                <a:cs typeface="Calibri"/>
                <a:sym typeface="Calibri"/>
              </a:rPr>
              <a:t>Coaching bands, not a rank order. If this becomes a disciplinary tool, reps stop creating records at all and the client loses more data than they clean.</a:t>
            </a:r>
            <a:endParaRPr b="0" i="0" sz="800" u="none" cap="none" strike="noStrike">
              <a:solidFill>
                <a:schemeClr val="dk1"/>
              </a:solidFill>
              <a:latin typeface="Calibri"/>
              <a:ea typeface="Calibri"/>
              <a:cs typeface="Calibri"/>
              <a:sym typeface="Calibri"/>
            </a:endParaRPr>
          </a:p>
        </p:txBody>
      </p:sp>
      <p:sp>
        <p:nvSpPr>
          <p:cNvPr id="919" name="Google Shape;919;p17"/>
          <p:cNvSpPr/>
          <p:nvPr/>
        </p:nvSpPr>
        <p:spPr>
          <a:xfrm>
            <a:off x="566928" y="5440680"/>
            <a:ext cx="3564026" cy="804672"/>
          </a:xfrm>
          <a:prstGeom prst="roundRect">
            <a:avLst>
              <a:gd fmla="val 7955"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7"/>
          <p:cNvSpPr/>
          <p:nvPr/>
        </p:nvSpPr>
        <p:spPr>
          <a:xfrm>
            <a:off x="694944" y="5486400"/>
            <a:ext cx="330799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2A30"/>
              </a:buClr>
              <a:buSzPts val="1050"/>
              <a:buFont typeface="Cambria"/>
              <a:buNone/>
            </a:pPr>
            <a:r>
              <a:rPr b="1" i="0" lang="en-US" sz="1050" u="none" cap="none" strike="noStrike">
                <a:solidFill>
                  <a:srgbClr val="062A30"/>
                </a:solidFill>
                <a:latin typeface="Cambria"/>
                <a:ea typeface="Cambria"/>
                <a:cs typeface="Cambria"/>
                <a:sym typeface="Cambria"/>
              </a:rPr>
              <a:t>Attribution is a choice</a:t>
            </a:r>
            <a:endParaRPr b="0" i="0" sz="1050" u="none" cap="none" strike="noStrike">
              <a:solidFill>
                <a:schemeClr val="dk1"/>
              </a:solidFill>
              <a:latin typeface="Calibri"/>
              <a:ea typeface="Calibri"/>
              <a:cs typeface="Calibri"/>
              <a:sym typeface="Calibri"/>
            </a:endParaRPr>
          </a:p>
        </p:txBody>
      </p:sp>
      <p:sp>
        <p:nvSpPr>
          <p:cNvPr id="921" name="Google Shape;921;p17"/>
          <p:cNvSpPr/>
          <p:nvPr/>
        </p:nvSpPr>
        <p:spPr>
          <a:xfrm>
            <a:off x="694944" y="5687568"/>
            <a:ext cx="3307994" cy="51206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Created by shows who introduces the defect. Modified by shows who maintains. Owner shows who is accountable now. The consultant switches lens without re running the scan.</a:t>
            </a:r>
            <a:endParaRPr b="0" i="0" sz="880" u="none" cap="none" strike="noStrike">
              <a:solidFill>
                <a:schemeClr val="dk1"/>
              </a:solidFill>
              <a:latin typeface="Calibri"/>
              <a:ea typeface="Calibri"/>
              <a:cs typeface="Calibri"/>
              <a:sym typeface="Calibri"/>
            </a:endParaRPr>
          </a:p>
        </p:txBody>
      </p:sp>
      <p:sp>
        <p:nvSpPr>
          <p:cNvPr id="922" name="Google Shape;922;p17"/>
          <p:cNvSpPr/>
          <p:nvPr/>
        </p:nvSpPr>
        <p:spPr>
          <a:xfrm>
            <a:off x="4313834" y="5440680"/>
            <a:ext cx="3564026" cy="804672"/>
          </a:xfrm>
          <a:prstGeom prst="roundRect">
            <a:avLst>
              <a:gd fmla="val 7955"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7"/>
          <p:cNvSpPr/>
          <p:nvPr/>
        </p:nvSpPr>
        <p:spPr>
          <a:xfrm>
            <a:off x="4441850" y="5486400"/>
            <a:ext cx="330799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2A30"/>
              </a:buClr>
              <a:buSzPts val="1050"/>
              <a:buFont typeface="Cambria"/>
              <a:buNone/>
            </a:pPr>
            <a:r>
              <a:rPr b="1" i="0" lang="en-US" sz="1050" u="none" cap="none" strike="noStrike">
                <a:solidFill>
                  <a:srgbClr val="062A30"/>
                </a:solidFill>
                <a:latin typeface="Cambria"/>
                <a:ea typeface="Cambria"/>
                <a:cs typeface="Cambria"/>
                <a:sym typeface="Cambria"/>
              </a:rPr>
              <a:t>Volume adjusted, with a floor</a:t>
            </a:r>
            <a:endParaRPr b="0" i="0" sz="1050" u="none" cap="none" strike="noStrike">
              <a:solidFill>
                <a:schemeClr val="dk1"/>
              </a:solidFill>
              <a:latin typeface="Calibri"/>
              <a:ea typeface="Calibri"/>
              <a:cs typeface="Calibri"/>
              <a:sym typeface="Calibri"/>
            </a:endParaRPr>
          </a:p>
        </p:txBody>
      </p:sp>
      <p:sp>
        <p:nvSpPr>
          <p:cNvPr id="924" name="Google Shape;924;p17"/>
          <p:cNvSpPr/>
          <p:nvPr/>
        </p:nvSpPr>
        <p:spPr>
          <a:xfrm>
            <a:off x="4441850" y="5687568"/>
            <a:ext cx="3307994" cy="51206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Users below the minimum record count show insufficient data rather than a misleading score. Integration and import users are excluded by default and shown separately.</a:t>
            </a:r>
            <a:endParaRPr b="0" i="0" sz="880" u="none" cap="none" strike="noStrike">
              <a:solidFill>
                <a:schemeClr val="dk1"/>
              </a:solidFill>
              <a:latin typeface="Calibri"/>
              <a:ea typeface="Calibri"/>
              <a:cs typeface="Calibri"/>
              <a:sym typeface="Calibri"/>
            </a:endParaRPr>
          </a:p>
        </p:txBody>
      </p:sp>
      <p:sp>
        <p:nvSpPr>
          <p:cNvPr id="925" name="Google Shape;925;p17"/>
          <p:cNvSpPr/>
          <p:nvPr/>
        </p:nvSpPr>
        <p:spPr>
          <a:xfrm>
            <a:off x="8060741" y="5440680"/>
            <a:ext cx="3564026" cy="804672"/>
          </a:xfrm>
          <a:prstGeom prst="roundRect">
            <a:avLst>
              <a:gd fmla="val 7955"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7"/>
          <p:cNvSpPr/>
          <p:nvPr/>
        </p:nvSpPr>
        <p:spPr>
          <a:xfrm>
            <a:off x="8188757" y="5486400"/>
            <a:ext cx="330799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2A30"/>
              </a:buClr>
              <a:buSzPts val="1050"/>
              <a:buFont typeface="Cambria"/>
              <a:buNone/>
            </a:pPr>
            <a:r>
              <a:rPr b="1" i="0" lang="en-US" sz="1050" u="none" cap="none" strike="noStrike">
                <a:solidFill>
                  <a:srgbClr val="062A30"/>
                </a:solidFill>
                <a:latin typeface="Cambria"/>
                <a:ea typeface="Cambria"/>
                <a:cs typeface="Cambria"/>
                <a:sym typeface="Cambria"/>
              </a:rPr>
              <a:t>Movement over position</a:t>
            </a:r>
            <a:endParaRPr b="0" i="0" sz="1050" u="none" cap="none" strike="noStrike">
              <a:solidFill>
                <a:schemeClr val="dk1"/>
              </a:solidFill>
              <a:latin typeface="Calibri"/>
              <a:ea typeface="Calibri"/>
              <a:cs typeface="Calibri"/>
              <a:sym typeface="Calibri"/>
            </a:endParaRPr>
          </a:p>
        </p:txBody>
      </p:sp>
      <p:sp>
        <p:nvSpPr>
          <p:cNvPr id="927" name="Google Shape;927;p17"/>
          <p:cNvSpPr/>
          <p:nvPr/>
        </p:nvSpPr>
        <p:spPr>
          <a:xfrm>
            <a:off x="8188757" y="5687568"/>
            <a:ext cx="3307994" cy="51206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The sparkline carries more weight than the score. A user climbing from 47 to 84 is a coaching success story. A user falling from 47 to 31 is a conversation that needs to happen now.</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2" name="Shape 932"/>
        <p:cNvGrpSpPr/>
        <p:nvPr/>
      </p:nvGrpSpPr>
      <p:grpSpPr>
        <a:xfrm>
          <a:off x="0" y="0"/>
          <a:ext cx="0" cy="0"/>
          <a:chOff x="0" y="0"/>
          <a:chExt cx="0" cy="0"/>
        </a:xfrm>
      </p:grpSpPr>
      <p:sp>
        <p:nvSpPr>
          <p:cNvPr id="933" name="Google Shape;933;p18"/>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Interface 4: the module matrix</a:t>
            </a:r>
            <a:endParaRPr b="0" i="0" sz="3000" u="none" cap="none" strike="noStrike">
              <a:solidFill>
                <a:schemeClr val="dk1"/>
              </a:solidFill>
              <a:latin typeface="Calibri"/>
              <a:ea typeface="Calibri"/>
              <a:cs typeface="Calibri"/>
              <a:sym typeface="Calibri"/>
            </a:endParaRPr>
          </a:p>
        </p:txBody>
      </p:sp>
      <p:sp>
        <p:nvSpPr>
          <p:cNvPr id="934" name="Google Shape;934;p18"/>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Every module against every domain. The client finds their own worst cell in about four seconds.</a:t>
            </a:r>
            <a:endParaRPr b="0" i="0" sz="1350" u="none" cap="none" strike="noStrike">
              <a:solidFill>
                <a:schemeClr val="dk1"/>
              </a:solidFill>
              <a:latin typeface="Calibri"/>
              <a:ea typeface="Calibri"/>
              <a:cs typeface="Calibri"/>
              <a:sym typeface="Calibri"/>
            </a:endParaRPr>
          </a:p>
        </p:txBody>
      </p:sp>
      <p:sp>
        <p:nvSpPr>
          <p:cNvPr id="935" name="Google Shape;935;p18"/>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936" name="Google Shape;936;p18"/>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18</a:t>
            </a:r>
            <a:endParaRPr b="0" i="0" sz="950" u="none" cap="none" strike="noStrike">
              <a:solidFill>
                <a:schemeClr val="dk1"/>
              </a:solidFill>
              <a:latin typeface="Calibri"/>
              <a:ea typeface="Calibri"/>
              <a:cs typeface="Calibri"/>
              <a:sym typeface="Calibri"/>
            </a:endParaRPr>
          </a:p>
        </p:txBody>
      </p:sp>
      <p:sp>
        <p:nvSpPr>
          <p:cNvPr id="937" name="Google Shape;937;p18"/>
          <p:cNvSpPr/>
          <p:nvPr/>
        </p:nvSpPr>
        <p:spPr>
          <a:xfrm>
            <a:off x="566928" y="1463040"/>
            <a:ext cx="11057839" cy="3840480"/>
          </a:xfrm>
          <a:prstGeom prst="roundRect">
            <a:avLst>
              <a:gd fmla="val 1190" name="adj"/>
            </a:avLst>
          </a:prstGeom>
          <a:solidFill>
            <a:srgbClr val="FFFFFF"/>
          </a:solidFill>
          <a:ln cap="flat" cmpd="sng" w="12700">
            <a:solidFill>
              <a:srgbClr val="9AA3AD"/>
            </a:solidFill>
            <a:prstDash val="solid"/>
            <a:round/>
            <a:headEnd len="sm" w="sm" type="none"/>
            <a:tailEnd len="sm" w="sm" type="none"/>
          </a:ln>
          <a:effectLst>
            <a:outerShdw blurRad="1270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8"/>
          <p:cNvSpPr/>
          <p:nvPr/>
        </p:nvSpPr>
        <p:spPr>
          <a:xfrm>
            <a:off x="576072" y="1472184"/>
            <a:ext cx="11039551" cy="384048"/>
          </a:xfrm>
          <a:prstGeom prst="rect">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8"/>
          <p:cNvSpPr/>
          <p:nvPr/>
        </p:nvSpPr>
        <p:spPr>
          <a:xfrm>
            <a:off x="694944" y="1604772"/>
            <a:ext cx="100584" cy="100584"/>
          </a:xfrm>
          <a:prstGeom prst="ellipse">
            <a:avLst/>
          </a:prstGeom>
          <a:solidFill>
            <a:srgbClr val="E06C5A"/>
          </a:solidFill>
          <a:ln cap="flat" cmpd="sng" w="12700">
            <a:solidFill>
              <a:srgbClr val="E06C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8"/>
          <p:cNvSpPr/>
          <p:nvPr/>
        </p:nvSpPr>
        <p:spPr>
          <a:xfrm>
            <a:off x="850392" y="1604772"/>
            <a:ext cx="100584" cy="100584"/>
          </a:xfrm>
          <a:prstGeom prst="ellipse">
            <a:avLst/>
          </a:prstGeom>
          <a:solidFill>
            <a:srgbClr val="E0B84A"/>
          </a:solidFill>
          <a:ln cap="flat" cmpd="sng" w="12700">
            <a:solidFill>
              <a:srgbClr val="E0B8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8"/>
          <p:cNvSpPr/>
          <p:nvPr/>
        </p:nvSpPr>
        <p:spPr>
          <a:xfrm>
            <a:off x="1005840" y="1604772"/>
            <a:ext cx="100584" cy="100584"/>
          </a:xfrm>
          <a:prstGeom prst="ellipse">
            <a:avLst/>
          </a:prstGeom>
          <a:solidFill>
            <a:srgbClr val="5AB77A"/>
          </a:solidFill>
          <a:ln cap="flat" cmpd="sng" w="12700">
            <a:solidFill>
              <a:srgbClr val="5AB7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8"/>
          <p:cNvSpPr/>
          <p:nvPr/>
        </p:nvSpPr>
        <p:spPr>
          <a:xfrm>
            <a:off x="1225296" y="1490472"/>
            <a:ext cx="3108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FI Data Health Scanner  ·  Modules</a:t>
            </a:r>
            <a:endParaRPr b="0" i="0" sz="1050" u="none" cap="none" strike="noStrike">
              <a:solidFill>
                <a:schemeClr val="dk1"/>
              </a:solidFill>
              <a:latin typeface="Calibri"/>
              <a:ea typeface="Calibri"/>
              <a:cs typeface="Calibri"/>
              <a:sym typeface="Calibri"/>
            </a:endParaRPr>
          </a:p>
        </p:txBody>
      </p:sp>
      <p:sp>
        <p:nvSpPr>
          <p:cNvPr id="943" name="Google Shape;943;p18"/>
          <p:cNvSpPr/>
          <p:nvPr/>
        </p:nvSpPr>
        <p:spPr>
          <a:xfrm>
            <a:off x="11134649" y="1545336"/>
            <a:ext cx="343814"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8"/>
          <p:cNvSpPr/>
          <p:nvPr/>
        </p:nvSpPr>
        <p:spPr>
          <a:xfrm>
            <a:off x="11134649" y="1545336"/>
            <a:ext cx="343814"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Fix</a:t>
            </a:r>
            <a:endParaRPr b="0" i="0" sz="850" u="none" cap="none" strike="noStrike">
              <a:solidFill>
                <a:schemeClr val="dk1"/>
              </a:solidFill>
              <a:latin typeface="Calibri"/>
              <a:ea typeface="Calibri"/>
              <a:cs typeface="Calibri"/>
              <a:sym typeface="Calibri"/>
            </a:endParaRPr>
          </a:p>
        </p:txBody>
      </p:sp>
      <p:sp>
        <p:nvSpPr>
          <p:cNvPr id="945" name="Google Shape;945;p18"/>
          <p:cNvSpPr/>
          <p:nvPr/>
        </p:nvSpPr>
        <p:spPr>
          <a:xfrm>
            <a:off x="10454335" y="1545336"/>
            <a:ext cx="607162"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8"/>
          <p:cNvSpPr/>
          <p:nvPr/>
        </p:nvSpPr>
        <p:spPr>
          <a:xfrm>
            <a:off x="10454335" y="1545336"/>
            <a:ext cx="60716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Records</a:t>
            </a:r>
            <a:endParaRPr b="0" i="0" sz="850" u="none" cap="none" strike="noStrike">
              <a:solidFill>
                <a:schemeClr val="dk1"/>
              </a:solidFill>
              <a:latin typeface="Calibri"/>
              <a:ea typeface="Calibri"/>
              <a:cs typeface="Calibri"/>
              <a:sym typeface="Calibri"/>
            </a:endParaRPr>
          </a:p>
        </p:txBody>
      </p:sp>
      <p:sp>
        <p:nvSpPr>
          <p:cNvPr id="947" name="Google Shape;947;p18"/>
          <p:cNvSpPr/>
          <p:nvPr/>
        </p:nvSpPr>
        <p:spPr>
          <a:xfrm>
            <a:off x="9905695" y="1545336"/>
            <a:ext cx="47548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8"/>
          <p:cNvSpPr/>
          <p:nvPr/>
        </p:nvSpPr>
        <p:spPr>
          <a:xfrm>
            <a:off x="9905695" y="1545336"/>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Trend</a:t>
            </a:r>
            <a:endParaRPr b="0" i="0" sz="850" u="none" cap="none" strike="noStrike">
              <a:solidFill>
                <a:schemeClr val="dk1"/>
              </a:solidFill>
              <a:latin typeface="Calibri"/>
              <a:ea typeface="Calibri"/>
              <a:cs typeface="Calibri"/>
              <a:sym typeface="Calibri"/>
            </a:endParaRPr>
          </a:p>
        </p:txBody>
      </p:sp>
      <p:sp>
        <p:nvSpPr>
          <p:cNvPr id="949" name="Google Shape;949;p18"/>
          <p:cNvSpPr/>
          <p:nvPr/>
        </p:nvSpPr>
        <p:spPr>
          <a:xfrm>
            <a:off x="9225382" y="1545336"/>
            <a:ext cx="607162" cy="228600"/>
          </a:xfrm>
          <a:prstGeom prst="roundRect">
            <a:avLst>
              <a:gd fmla="val 2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8"/>
          <p:cNvSpPr/>
          <p:nvPr/>
        </p:nvSpPr>
        <p:spPr>
          <a:xfrm>
            <a:off x="9225382" y="1545336"/>
            <a:ext cx="60716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Modules</a:t>
            </a:r>
            <a:endParaRPr b="0" i="0" sz="850" u="none" cap="none" strike="noStrike">
              <a:solidFill>
                <a:schemeClr val="dk1"/>
              </a:solidFill>
              <a:latin typeface="Calibri"/>
              <a:ea typeface="Calibri"/>
              <a:cs typeface="Calibri"/>
              <a:sym typeface="Calibri"/>
            </a:endParaRPr>
          </a:p>
        </p:txBody>
      </p:sp>
      <p:sp>
        <p:nvSpPr>
          <p:cNvPr id="951" name="Google Shape;951;p18"/>
          <p:cNvSpPr/>
          <p:nvPr/>
        </p:nvSpPr>
        <p:spPr>
          <a:xfrm>
            <a:off x="8676742" y="1545336"/>
            <a:ext cx="47548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8"/>
          <p:cNvSpPr/>
          <p:nvPr/>
        </p:nvSpPr>
        <p:spPr>
          <a:xfrm>
            <a:off x="8676742" y="1545336"/>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Users</a:t>
            </a:r>
            <a:endParaRPr b="0" i="0" sz="850" u="none" cap="none" strike="noStrike">
              <a:solidFill>
                <a:schemeClr val="dk1"/>
              </a:solidFill>
              <a:latin typeface="Calibri"/>
              <a:ea typeface="Calibri"/>
              <a:cs typeface="Calibri"/>
              <a:sym typeface="Calibri"/>
            </a:endParaRPr>
          </a:p>
        </p:txBody>
      </p:sp>
      <p:sp>
        <p:nvSpPr>
          <p:cNvPr id="953" name="Google Shape;953;p18"/>
          <p:cNvSpPr/>
          <p:nvPr/>
        </p:nvSpPr>
        <p:spPr>
          <a:xfrm>
            <a:off x="7930591" y="1545336"/>
            <a:ext cx="67299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8"/>
          <p:cNvSpPr/>
          <p:nvPr/>
        </p:nvSpPr>
        <p:spPr>
          <a:xfrm>
            <a:off x="7930591" y="1545336"/>
            <a:ext cx="67299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Overview</a:t>
            </a:r>
            <a:endParaRPr b="0" i="0" sz="850" u="none" cap="none" strike="noStrike">
              <a:solidFill>
                <a:schemeClr val="dk1"/>
              </a:solidFill>
              <a:latin typeface="Calibri"/>
              <a:ea typeface="Calibri"/>
              <a:cs typeface="Calibri"/>
              <a:sym typeface="Calibri"/>
            </a:endParaRPr>
          </a:p>
        </p:txBody>
      </p:sp>
      <p:sp>
        <p:nvSpPr>
          <p:cNvPr id="955" name="Google Shape;955;p18"/>
          <p:cNvSpPr/>
          <p:nvPr/>
        </p:nvSpPr>
        <p:spPr>
          <a:xfrm>
            <a:off x="713232" y="1938528"/>
            <a:ext cx="1742846" cy="256032"/>
          </a:xfrm>
          <a:prstGeom prst="roundRect">
            <a:avLst>
              <a:gd fmla="val 17857"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8"/>
          <p:cNvSpPr/>
          <p:nvPr/>
        </p:nvSpPr>
        <p:spPr>
          <a:xfrm>
            <a:off x="804672" y="1938528"/>
            <a:ext cx="155996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60"/>
              <a:buFont typeface="Calibri"/>
              <a:buNone/>
            </a:pPr>
            <a:r>
              <a:rPr b="1" i="0" lang="en-US" sz="760" u="none" cap="none" strike="noStrike">
                <a:solidFill>
                  <a:srgbClr val="046B73"/>
                </a:solidFill>
                <a:latin typeface="Calibri"/>
                <a:ea typeface="Calibri"/>
                <a:cs typeface="Calibri"/>
                <a:sym typeface="Calibri"/>
              </a:rPr>
              <a:t>Period  01 May to 07 Aug 2026</a:t>
            </a:r>
            <a:endParaRPr b="0" i="0" sz="760" u="none" cap="none" strike="noStrike">
              <a:solidFill>
                <a:schemeClr val="dk1"/>
              </a:solidFill>
              <a:latin typeface="Calibri"/>
              <a:ea typeface="Calibri"/>
              <a:cs typeface="Calibri"/>
              <a:sym typeface="Calibri"/>
            </a:endParaRPr>
          </a:p>
        </p:txBody>
      </p:sp>
      <p:sp>
        <p:nvSpPr>
          <p:cNvPr id="957" name="Google Shape;957;p18"/>
          <p:cNvSpPr/>
          <p:nvPr/>
        </p:nvSpPr>
        <p:spPr>
          <a:xfrm>
            <a:off x="2547518" y="1938528"/>
            <a:ext cx="1424635" cy="256032"/>
          </a:xfrm>
          <a:prstGeom prst="roundRect">
            <a:avLst>
              <a:gd fmla="val 17857"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8"/>
          <p:cNvSpPr/>
          <p:nvPr/>
        </p:nvSpPr>
        <p:spPr>
          <a:xfrm>
            <a:off x="2638958" y="1938528"/>
            <a:ext cx="1241755"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60"/>
              <a:buFont typeface="Calibri"/>
              <a:buNone/>
            </a:pPr>
            <a:r>
              <a:rPr b="1" i="0" lang="en-US" sz="760" u="none" cap="none" strike="noStrike">
                <a:solidFill>
                  <a:srgbClr val="046B73"/>
                </a:solidFill>
                <a:latin typeface="Calibri"/>
                <a:ea typeface="Calibri"/>
                <a:cs typeface="Calibri"/>
                <a:sym typeface="Calibri"/>
              </a:rPr>
              <a:t>Clock  Created in range</a:t>
            </a:r>
            <a:endParaRPr b="0" i="0" sz="760" u="none" cap="none" strike="noStrike">
              <a:solidFill>
                <a:schemeClr val="dk1"/>
              </a:solidFill>
              <a:latin typeface="Calibri"/>
              <a:ea typeface="Calibri"/>
              <a:cs typeface="Calibri"/>
              <a:sym typeface="Calibri"/>
            </a:endParaRPr>
          </a:p>
        </p:txBody>
      </p:sp>
      <p:sp>
        <p:nvSpPr>
          <p:cNvPr id="959" name="Google Shape;959;p18"/>
          <p:cNvSpPr/>
          <p:nvPr/>
        </p:nvSpPr>
        <p:spPr>
          <a:xfrm>
            <a:off x="4063594" y="1938528"/>
            <a:ext cx="788213" cy="256032"/>
          </a:xfrm>
          <a:prstGeom prst="roundRect">
            <a:avLst>
              <a:gd fmla="val 17857" name="adj"/>
            </a:avLst>
          </a:prstGeom>
          <a:solidFill>
            <a:srgbClr val="FFFFFF"/>
          </a:solid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8"/>
          <p:cNvSpPr/>
          <p:nvPr/>
        </p:nvSpPr>
        <p:spPr>
          <a:xfrm>
            <a:off x="4155034" y="1938528"/>
            <a:ext cx="605333"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60"/>
              <a:buFont typeface="Calibri"/>
              <a:buNone/>
            </a:pPr>
            <a:r>
              <a:rPr b="0" i="0" lang="en-US" sz="760" u="none" cap="none" strike="noStrike">
                <a:solidFill>
                  <a:srgbClr val="4B535C"/>
                </a:solidFill>
                <a:latin typeface="Calibri"/>
                <a:ea typeface="Calibri"/>
                <a:cs typeface="Calibri"/>
                <a:sym typeface="Calibri"/>
              </a:rPr>
              <a:t>Team  All 6</a:t>
            </a:r>
            <a:endParaRPr b="0" i="0" sz="760" u="none" cap="none" strike="noStrike">
              <a:solidFill>
                <a:schemeClr val="dk1"/>
              </a:solidFill>
              <a:latin typeface="Calibri"/>
              <a:ea typeface="Calibri"/>
              <a:cs typeface="Calibri"/>
              <a:sym typeface="Calibri"/>
            </a:endParaRPr>
          </a:p>
        </p:txBody>
      </p:sp>
      <p:sp>
        <p:nvSpPr>
          <p:cNvPr id="961" name="Google Shape;961;p18"/>
          <p:cNvSpPr/>
          <p:nvPr/>
        </p:nvSpPr>
        <p:spPr>
          <a:xfrm>
            <a:off x="4943246" y="1938528"/>
            <a:ext cx="1000354" cy="256032"/>
          </a:xfrm>
          <a:prstGeom prst="roundRect">
            <a:avLst>
              <a:gd fmla="val 17857"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8"/>
          <p:cNvSpPr/>
          <p:nvPr/>
        </p:nvSpPr>
        <p:spPr>
          <a:xfrm>
            <a:off x="5034686" y="1938528"/>
            <a:ext cx="81747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60"/>
              <a:buFont typeface="Calibri"/>
              <a:buNone/>
            </a:pPr>
            <a:r>
              <a:rPr b="1" i="0" lang="en-US" sz="760" u="none" cap="none" strike="noStrike">
                <a:solidFill>
                  <a:srgbClr val="046B73"/>
                </a:solidFill>
                <a:latin typeface="Calibri"/>
                <a:ea typeface="Calibri"/>
                <a:cs typeface="Calibri"/>
                <a:sym typeface="Calibri"/>
              </a:rPr>
              <a:t>Stage aware  On</a:t>
            </a:r>
            <a:endParaRPr b="0" i="0" sz="760" u="none" cap="none" strike="noStrike">
              <a:solidFill>
                <a:schemeClr val="dk1"/>
              </a:solidFill>
              <a:latin typeface="Calibri"/>
              <a:ea typeface="Calibri"/>
              <a:cs typeface="Calibri"/>
              <a:sym typeface="Calibri"/>
            </a:endParaRPr>
          </a:p>
        </p:txBody>
      </p:sp>
      <p:sp>
        <p:nvSpPr>
          <p:cNvPr id="963" name="Google Shape;963;p18"/>
          <p:cNvSpPr/>
          <p:nvPr/>
        </p:nvSpPr>
        <p:spPr>
          <a:xfrm>
            <a:off x="9238183" y="1938528"/>
            <a:ext cx="1143000" cy="256032"/>
          </a:xfrm>
          <a:prstGeom prst="roundRect">
            <a:avLst>
              <a:gd fmla="val 17857" name="adj"/>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8"/>
          <p:cNvSpPr/>
          <p:nvPr/>
        </p:nvSpPr>
        <p:spPr>
          <a:xfrm>
            <a:off x="9238183" y="1938528"/>
            <a:ext cx="1143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Compare periods</a:t>
            </a:r>
            <a:endParaRPr b="0" i="0" sz="850" u="none" cap="none" strike="noStrike">
              <a:solidFill>
                <a:schemeClr val="dk1"/>
              </a:solidFill>
              <a:latin typeface="Calibri"/>
              <a:ea typeface="Calibri"/>
              <a:cs typeface="Calibri"/>
              <a:sym typeface="Calibri"/>
            </a:endParaRPr>
          </a:p>
        </p:txBody>
      </p:sp>
      <p:sp>
        <p:nvSpPr>
          <p:cNvPr id="965" name="Google Shape;965;p18"/>
          <p:cNvSpPr/>
          <p:nvPr/>
        </p:nvSpPr>
        <p:spPr>
          <a:xfrm>
            <a:off x="10472623" y="1938528"/>
            <a:ext cx="1005840" cy="256032"/>
          </a:xfrm>
          <a:prstGeom prst="roundRect">
            <a:avLst>
              <a:gd fmla="val 17857"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8"/>
          <p:cNvSpPr/>
          <p:nvPr/>
        </p:nvSpPr>
        <p:spPr>
          <a:xfrm>
            <a:off x="10472623" y="1938528"/>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Export</a:t>
            </a:r>
            <a:endParaRPr b="0" i="0" sz="850" u="none" cap="none" strike="noStrike">
              <a:solidFill>
                <a:schemeClr val="dk1"/>
              </a:solidFill>
              <a:latin typeface="Calibri"/>
              <a:ea typeface="Calibri"/>
              <a:cs typeface="Calibri"/>
              <a:sym typeface="Calibri"/>
            </a:endParaRPr>
          </a:p>
        </p:txBody>
      </p:sp>
      <p:sp>
        <p:nvSpPr>
          <p:cNvPr id="967" name="Google Shape;967;p18"/>
          <p:cNvSpPr/>
          <p:nvPr/>
        </p:nvSpPr>
        <p:spPr>
          <a:xfrm>
            <a:off x="758952" y="2313432"/>
            <a:ext cx="13716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20"/>
              <a:buFont typeface="Calibri"/>
              <a:buNone/>
            </a:pPr>
            <a:r>
              <a:rPr b="1" i="0" lang="en-US" sz="720" u="none" cap="none" strike="noStrike">
                <a:solidFill>
                  <a:srgbClr val="6B7280"/>
                </a:solidFill>
                <a:latin typeface="Calibri"/>
                <a:ea typeface="Calibri"/>
                <a:cs typeface="Calibri"/>
                <a:sym typeface="Calibri"/>
              </a:rPr>
              <a:t>MODULE</a:t>
            </a:r>
            <a:endParaRPr b="0" i="0" sz="720" u="none" cap="none" strike="noStrike">
              <a:solidFill>
                <a:schemeClr val="dk1"/>
              </a:solidFill>
              <a:latin typeface="Calibri"/>
              <a:ea typeface="Calibri"/>
              <a:cs typeface="Calibri"/>
              <a:sym typeface="Calibri"/>
            </a:endParaRPr>
          </a:p>
        </p:txBody>
      </p:sp>
      <p:sp>
        <p:nvSpPr>
          <p:cNvPr id="968" name="Google Shape;968;p18"/>
          <p:cNvSpPr/>
          <p:nvPr/>
        </p:nvSpPr>
        <p:spPr>
          <a:xfrm>
            <a:off x="2130552" y="2313432"/>
            <a:ext cx="996696" cy="25603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6B7280"/>
              </a:buClr>
              <a:buSzPts val="690"/>
              <a:buFont typeface="Calibri"/>
              <a:buNone/>
            </a:pPr>
            <a:r>
              <a:rPr b="1" i="0" lang="en-US" sz="690" u="none" cap="none" strike="noStrike">
                <a:solidFill>
                  <a:srgbClr val="6B7280"/>
                </a:solidFill>
                <a:latin typeface="Calibri"/>
                <a:ea typeface="Calibri"/>
                <a:cs typeface="Calibri"/>
                <a:sym typeface="Calibri"/>
              </a:rPr>
              <a:t>Complete</a:t>
            </a:r>
            <a:endParaRPr b="0" i="0" sz="690" u="none" cap="none" strike="noStrike">
              <a:solidFill>
                <a:schemeClr val="dk1"/>
              </a:solidFill>
              <a:latin typeface="Calibri"/>
              <a:ea typeface="Calibri"/>
              <a:cs typeface="Calibri"/>
              <a:sym typeface="Calibri"/>
            </a:endParaRPr>
          </a:p>
        </p:txBody>
      </p:sp>
      <p:sp>
        <p:nvSpPr>
          <p:cNvPr id="969" name="Google Shape;969;p18"/>
          <p:cNvSpPr/>
          <p:nvPr/>
        </p:nvSpPr>
        <p:spPr>
          <a:xfrm>
            <a:off x="3127248" y="2313432"/>
            <a:ext cx="996696" cy="25603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6B7280"/>
              </a:buClr>
              <a:buSzPts val="690"/>
              <a:buFont typeface="Calibri"/>
              <a:buNone/>
            </a:pPr>
            <a:r>
              <a:rPr b="1" i="0" lang="en-US" sz="690" u="none" cap="none" strike="noStrike">
                <a:solidFill>
                  <a:srgbClr val="6B7280"/>
                </a:solidFill>
                <a:latin typeface="Calibri"/>
                <a:ea typeface="Calibri"/>
                <a:cs typeface="Calibri"/>
                <a:sym typeface="Calibri"/>
              </a:rPr>
              <a:t>Duplicate</a:t>
            </a:r>
            <a:endParaRPr b="0" i="0" sz="690" u="none" cap="none" strike="noStrike">
              <a:solidFill>
                <a:schemeClr val="dk1"/>
              </a:solidFill>
              <a:latin typeface="Calibri"/>
              <a:ea typeface="Calibri"/>
              <a:cs typeface="Calibri"/>
              <a:sym typeface="Calibri"/>
            </a:endParaRPr>
          </a:p>
        </p:txBody>
      </p:sp>
      <p:sp>
        <p:nvSpPr>
          <p:cNvPr id="970" name="Google Shape;970;p18"/>
          <p:cNvSpPr/>
          <p:nvPr/>
        </p:nvSpPr>
        <p:spPr>
          <a:xfrm>
            <a:off x="4123944" y="2313432"/>
            <a:ext cx="996696" cy="25603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6B7280"/>
              </a:buClr>
              <a:buSzPts val="690"/>
              <a:buFont typeface="Calibri"/>
              <a:buNone/>
            </a:pPr>
            <a:r>
              <a:rPr b="1" i="0" lang="en-US" sz="690" u="none" cap="none" strike="noStrike">
                <a:solidFill>
                  <a:srgbClr val="6B7280"/>
                </a:solidFill>
                <a:latin typeface="Calibri"/>
                <a:ea typeface="Calibri"/>
                <a:cs typeface="Calibri"/>
                <a:sym typeface="Calibri"/>
              </a:rPr>
              <a:t>Validity</a:t>
            </a:r>
            <a:endParaRPr b="0" i="0" sz="690" u="none" cap="none" strike="noStrike">
              <a:solidFill>
                <a:schemeClr val="dk1"/>
              </a:solidFill>
              <a:latin typeface="Calibri"/>
              <a:ea typeface="Calibri"/>
              <a:cs typeface="Calibri"/>
              <a:sym typeface="Calibri"/>
            </a:endParaRPr>
          </a:p>
        </p:txBody>
      </p:sp>
      <p:sp>
        <p:nvSpPr>
          <p:cNvPr id="971" name="Google Shape;971;p18"/>
          <p:cNvSpPr/>
          <p:nvPr/>
        </p:nvSpPr>
        <p:spPr>
          <a:xfrm>
            <a:off x="5120640" y="2313432"/>
            <a:ext cx="996696" cy="25603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6B7280"/>
              </a:buClr>
              <a:buSzPts val="690"/>
              <a:buFont typeface="Calibri"/>
              <a:buNone/>
            </a:pPr>
            <a:r>
              <a:rPr b="1" i="0" lang="en-US" sz="690" u="none" cap="none" strike="noStrike">
                <a:solidFill>
                  <a:srgbClr val="6B7280"/>
                </a:solidFill>
                <a:latin typeface="Calibri"/>
                <a:ea typeface="Calibri"/>
                <a:cs typeface="Calibri"/>
                <a:sym typeface="Calibri"/>
              </a:rPr>
              <a:t>Plausible</a:t>
            </a:r>
            <a:endParaRPr b="0" i="0" sz="690" u="none" cap="none" strike="noStrike">
              <a:solidFill>
                <a:schemeClr val="dk1"/>
              </a:solidFill>
              <a:latin typeface="Calibri"/>
              <a:ea typeface="Calibri"/>
              <a:cs typeface="Calibri"/>
              <a:sym typeface="Calibri"/>
            </a:endParaRPr>
          </a:p>
        </p:txBody>
      </p:sp>
      <p:sp>
        <p:nvSpPr>
          <p:cNvPr id="972" name="Google Shape;972;p18"/>
          <p:cNvSpPr/>
          <p:nvPr/>
        </p:nvSpPr>
        <p:spPr>
          <a:xfrm>
            <a:off x="6117336" y="2313432"/>
            <a:ext cx="996696" cy="25603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6B7280"/>
              </a:buClr>
              <a:buSzPts val="690"/>
              <a:buFont typeface="Calibri"/>
              <a:buNone/>
            </a:pPr>
            <a:r>
              <a:rPr b="1" i="0" lang="en-US" sz="690" u="none" cap="none" strike="noStrike">
                <a:solidFill>
                  <a:srgbClr val="6B7280"/>
                </a:solidFill>
                <a:latin typeface="Calibri"/>
                <a:ea typeface="Calibri"/>
                <a:cs typeface="Calibri"/>
                <a:sym typeface="Calibri"/>
              </a:rPr>
              <a:t>Freshness</a:t>
            </a:r>
            <a:endParaRPr b="0" i="0" sz="690" u="none" cap="none" strike="noStrike">
              <a:solidFill>
                <a:schemeClr val="dk1"/>
              </a:solidFill>
              <a:latin typeface="Calibri"/>
              <a:ea typeface="Calibri"/>
              <a:cs typeface="Calibri"/>
              <a:sym typeface="Calibri"/>
            </a:endParaRPr>
          </a:p>
        </p:txBody>
      </p:sp>
      <p:sp>
        <p:nvSpPr>
          <p:cNvPr id="973" name="Google Shape;973;p18"/>
          <p:cNvSpPr/>
          <p:nvPr/>
        </p:nvSpPr>
        <p:spPr>
          <a:xfrm>
            <a:off x="7114032" y="2313432"/>
            <a:ext cx="996696" cy="25603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6B7280"/>
              </a:buClr>
              <a:buSzPts val="690"/>
              <a:buFont typeface="Calibri"/>
              <a:buNone/>
            </a:pPr>
            <a:r>
              <a:rPr b="1" i="0" lang="en-US" sz="690" u="none" cap="none" strike="noStrike">
                <a:solidFill>
                  <a:srgbClr val="6B7280"/>
                </a:solidFill>
                <a:latin typeface="Calibri"/>
                <a:ea typeface="Calibri"/>
                <a:cs typeface="Calibri"/>
                <a:sym typeface="Calibri"/>
              </a:rPr>
              <a:t>Integrity</a:t>
            </a:r>
            <a:endParaRPr b="0" i="0" sz="690" u="none" cap="none" strike="noStrike">
              <a:solidFill>
                <a:schemeClr val="dk1"/>
              </a:solidFill>
              <a:latin typeface="Calibri"/>
              <a:ea typeface="Calibri"/>
              <a:cs typeface="Calibri"/>
              <a:sym typeface="Calibri"/>
            </a:endParaRPr>
          </a:p>
        </p:txBody>
      </p:sp>
      <p:sp>
        <p:nvSpPr>
          <p:cNvPr id="974" name="Google Shape;974;p18"/>
          <p:cNvSpPr/>
          <p:nvPr/>
        </p:nvSpPr>
        <p:spPr>
          <a:xfrm>
            <a:off x="8110728" y="2313432"/>
            <a:ext cx="996696" cy="25603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6B7280"/>
              </a:buClr>
              <a:buSzPts val="690"/>
              <a:buFont typeface="Calibri"/>
              <a:buNone/>
            </a:pPr>
            <a:r>
              <a:rPr b="1" i="0" lang="en-US" sz="690" u="none" cap="none" strike="noStrike">
                <a:solidFill>
                  <a:srgbClr val="6B7280"/>
                </a:solidFill>
                <a:latin typeface="Calibri"/>
                <a:ea typeface="Calibri"/>
                <a:cs typeface="Calibri"/>
                <a:sym typeface="Calibri"/>
              </a:rPr>
              <a:t>Config</a:t>
            </a:r>
            <a:endParaRPr b="0" i="0" sz="690" u="none" cap="none" strike="noStrike">
              <a:solidFill>
                <a:schemeClr val="dk1"/>
              </a:solidFill>
              <a:latin typeface="Calibri"/>
              <a:ea typeface="Calibri"/>
              <a:cs typeface="Calibri"/>
              <a:sym typeface="Calibri"/>
            </a:endParaRPr>
          </a:p>
        </p:txBody>
      </p:sp>
      <p:sp>
        <p:nvSpPr>
          <p:cNvPr id="975" name="Google Shape;975;p18"/>
          <p:cNvSpPr/>
          <p:nvPr/>
        </p:nvSpPr>
        <p:spPr>
          <a:xfrm>
            <a:off x="9107424" y="2313432"/>
            <a:ext cx="996696" cy="25603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6B7280"/>
              </a:buClr>
              <a:buSzPts val="690"/>
              <a:buFont typeface="Calibri"/>
              <a:buNone/>
            </a:pPr>
            <a:r>
              <a:rPr b="1" i="0" lang="en-US" sz="690" u="none" cap="none" strike="noStrike">
                <a:solidFill>
                  <a:srgbClr val="6B7280"/>
                </a:solidFill>
                <a:latin typeface="Calibri"/>
                <a:ea typeface="Calibri"/>
                <a:cs typeface="Calibri"/>
                <a:sym typeface="Calibri"/>
              </a:rPr>
              <a:t>PII</a:t>
            </a:r>
            <a:endParaRPr b="0" i="0" sz="690" u="none" cap="none" strike="noStrike">
              <a:solidFill>
                <a:schemeClr val="dk1"/>
              </a:solidFill>
              <a:latin typeface="Calibri"/>
              <a:ea typeface="Calibri"/>
              <a:cs typeface="Calibri"/>
              <a:sym typeface="Calibri"/>
            </a:endParaRPr>
          </a:p>
        </p:txBody>
      </p:sp>
      <p:sp>
        <p:nvSpPr>
          <p:cNvPr id="976" name="Google Shape;976;p18"/>
          <p:cNvSpPr/>
          <p:nvPr/>
        </p:nvSpPr>
        <p:spPr>
          <a:xfrm>
            <a:off x="10104120" y="2313432"/>
            <a:ext cx="996696" cy="25603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6B7280"/>
              </a:buClr>
              <a:buSzPts val="690"/>
              <a:buFont typeface="Calibri"/>
              <a:buNone/>
            </a:pPr>
            <a:r>
              <a:rPr b="1" i="0" lang="en-US" sz="690" u="none" cap="none" strike="noStrike">
                <a:solidFill>
                  <a:srgbClr val="6B7280"/>
                </a:solidFill>
                <a:latin typeface="Calibri"/>
                <a:ea typeface="Calibri"/>
                <a:cs typeface="Calibri"/>
                <a:sym typeface="Calibri"/>
              </a:rPr>
              <a:t>OVERALL</a:t>
            </a:r>
            <a:endParaRPr b="0" i="0" sz="690" u="none" cap="none" strike="noStrike">
              <a:solidFill>
                <a:schemeClr val="dk1"/>
              </a:solidFill>
              <a:latin typeface="Calibri"/>
              <a:ea typeface="Calibri"/>
              <a:cs typeface="Calibri"/>
              <a:sym typeface="Calibri"/>
            </a:endParaRPr>
          </a:p>
        </p:txBody>
      </p:sp>
      <p:sp>
        <p:nvSpPr>
          <p:cNvPr id="977" name="Google Shape;977;p18"/>
          <p:cNvSpPr/>
          <p:nvPr/>
        </p:nvSpPr>
        <p:spPr>
          <a:xfrm>
            <a:off x="758952" y="2569464"/>
            <a:ext cx="131673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Leads</a:t>
            </a:r>
            <a:endParaRPr b="0" i="0" sz="780" u="none" cap="none" strike="noStrike">
              <a:solidFill>
                <a:schemeClr val="dk1"/>
              </a:solidFill>
              <a:latin typeface="Calibri"/>
              <a:ea typeface="Calibri"/>
              <a:cs typeface="Calibri"/>
              <a:sym typeface="Calibri"/>
            </a:endParaRPr>
          </a:p>
        </p:txBody>
      </p:sp>
      <p:sp>
        <p:nvSpPr>
          <p:cNvPr id="978" name="Google Shape;978;p18"/>
          <p:cNvSpPr/>
          <p:nvPr/>
        </p:nvSpPr>
        <p:spPr>
          <a:xfrm>
            <a:off x="2148840" y="2587752"/>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8"/>
          <p:cNvSpPr/>
          <p:nvPr/>
        </p:nvSpPr>
        <p:spPr>
          <a:xfrm>
            <a:off x="2148840" y="258775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44</a:t>
            </a:r>
            <a:endParaRPr b="0" i="0" sz="760" u="none" cap="none" strike="noStrike">
              <a:solidFill>
                <a:schemeClr val="dk1"/>
              </a:solidFill>
              <a:latin typeface="Calibri"/>
              <a:ea typeface="Calibri"/>
              <a:cs typeface="Calibri"/>
              <a:sym typeface="Calibri"/>
            </a:endParaRPr>
          </a:p>
        </p:txBody>
      </p:sp>
      <p:sp>
        <p:nvSpPr>
          <p:cNvPr id="980" name="Google Shape;980;p18"/>
          <p:cNvSpPr/>
          <p:nvPr/>
        </p:nvSpPr>
        <p:spPr>
          <a:xfrm>
            <a:off x="3145536" y="2587752"/>
            <a:ext cx="960120" cy="219456"/>
          </a:xfrm>
          <a:prstGeom prst="rect">
            <a:avLst/>
          </a:prstGeom>
          <a:solidFill>
            <a:srgbClr val="F5D9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8"/>
          <p:cNvSpPr/>
          <p:nvPr/>
        </p:nvSpPr>
        <p:spPr>
          <a:xfrm>
            <a:off x="3145536" y="258775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28</a:t>
            </a:r>
            <a:endParaRPr b="0" i="0" sz="760" u="none" cap="none" strike="noStrike">
              <a:solidFill>
                <a:schemeClr val="dk1"/>
              </a:solidFill>
              <a:latin typeface="Calibri"/>
              <a:ea typeface="Calibri"/>
              <a:cs typeface="Calibri"/>
              <a:sym typeface="Calibri"/>
            </a:endParaRPr>
          </a:p>
        </p:txBody>
      </p:sp>
      <p:sp>
        <p:nvSpPr>
          <p:cNvPr id="982" name="Google Shape;982;p18"/>
          <p:cNvSpPr/>
          <p:nvPr/>
        </p:nvSpPr>
        <p:spPr>
          <a:xfrm>
            <a:off x="4142232" y="2587752"/>
            <a:ext cx="960120" cy="219456"/>
          </a:xfrm>
          <a:prstGeom prst="rect">
            <a:avLst/>
          </a:prstGeom>
          <a:solidFill>
            <a:srgbClr val="E7F0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8"/>
          <p:cNvSpPr/>
          <p:nvPr/>
        </p:nvSpPr>
        <p:spPr>
          <a:xfrm>
            <a:off x="4142232" y="258775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71</a:t>
            </a:r>
            <a:endParaRPr b="0" i="0" sz="760" u="none" cap="none" strike="noStrike">
              <a:solidFill>
                <a:schemeClr val="dk1"/>
              </a:solidFill>
              <a:latin typeface="Calibri"/>
              <a:ea typeface="Calibri"/>
              <a:cs typeface="Calibri"/>
              <a:sym typeface="Calibri"/>
            </a:endParaRPr>
          </a:p>
        </p:txBody>
      </p:sp>
      <p:sp>
        <p:nvSpPr>
          <p:cNvPr id="984" name="Google Shape;984;p18"/>
          <p:cNvSpPr/>
          <p:nvPr/>
        </p:nvSpPr>
        <p:spPr>
          <a:xfrm>
            <a:off x="5138928" y="2587752"/>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8"/>
          <p:cNvSpPr/>
          <p:nvPr/>
        </p:nvSpPr>
        <p:spPr>
          <a:xfrm>
            <a:off x="5138928" y="258775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39</a:t>
            </a:r>
            <a:endParaRPr b="0" i="0" sz="760" u="none" cap="none" strike="noStrike">
              <a:solidFill>
                <a:schemeClr val="dk1"/>
              </a:solidFill>
              <a:latin typeface="Calibri"/>
              <a:ea typeface="Calibri"/>
              <a:cs typeface="Calibri"/>
              <a:sym typeface="Calibri"/>
            </a:endParaRPr>
          </a:p>
        </p:txBody>
      </p:sp>
      <p:sp>
        <p:nvSpPr>
          <p:cNvPr id="986" name="Google Shape;986;p18"/>
          <p:cNvSpPr/>
          <p:nvPr/>
        </p:nvSpPr>
        <p:spPr>
          <a:xfrm>
            <a:off x="6135624" y="2587752"/>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8"/>
          <p:cNvSpPr/>
          <p:nvPr/>
        </p:nvSpPr>
        <p:spPr>
          <a:xfrm>
            <a:off x="6135624" y="258775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52</a:t>
            </a:r>
            <a:endParaRPr b="0" i="0" sz="760" u="none" cap="none" strike="noStrike">
              <a:solidFill>
                <a:schemeClr val="dk1"/>
              </a:solidFill>
              <a:latin typeface="Calibri"/>
              <a:ea typeface="Calibri"/>
              <a:cs typeface="Calibri"/>
              <a:sym typeface="Calibri"/>
            </a:endParaRPr>
          </a:p>
        </p:txBody>
      </p:sp>
      <p:sp>
        <p:nvSpPr>
          <p:cNvPr id="988" name="Google Shape;988;p18"/>
          <p:cNvSpPr/>
          <p:nvPr/>
        </p:nvSpPr>
        <p:spPr>
          <a:xfrm>
            <a:off x="7132320" y="2587752"/>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8"/>
          <p:cNvSpPr/>
          <p:nvPr/>
        </p:nvSpPr>
        <p:spPr>
          <a:xfrm>
            <a:off x="7132320" y="258775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61</a:t>
            </a:r>
            <a:endParaRPr b="0" i="0" sz="760" u="none" cap="none" strike="noStrike">
              <a:solidFill>
                <a:schemeClr val="dk1"/>
              </a:solidFill>
              <a:latin typeface="Calibri"/>
              <a:ea typeface="Calibri"/>
              <a:cs typeface="Calibri"/>
              <a:sym typeface="Calibri"/>
            </a:endParaRPr>
          </a:p>
        </p:txBody>
      </p:sp>
      <p:sp>
        <p:nvSpPr>
          <p:cNvPr id="990" name="Google Shape;990;p18"/>
          <p:cNvSpPr/>
          <p:nvPr/>
        </p:nvSpPr>
        <p:spPr>
          <a:xfrm>
            <a:off x="8129016" y="2587752"/>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8"/>
          <p:cNvSpPr/>
          <p:nvPr/>
        </p:nvSpPr>
        <p:spPr>
          <a:xfrm>
            <a:off x="8129016" y="258775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40</a:t>
            </a:r>
            <a:endParaRPr b="0" i="0" sz="760" u="none" cap="none" strike="noStrike">
              <a:solidFill>
                <a:schemeClr val="dk1"/>
              </a:solidFill>
              <a:latin typeface="Calibri"/>
              <a:ea typeface="Calibri"/>
              <a:cs typeface="Calibri"/>
              <a:sym typeface="Calibri"/>
            </a:endParaRPr>
          </a:p>
        </p:txBody>
      </p:sp>
      <p:sp>
        <p:nvSpPr>
          <p:cNvPr id="992" name="Google Shape;992;p18"/>
          <p:cNvSpPr/>
          <p:nvPr/>
        </p:nvSpPr>
        <p:spPr>
          <a:xfrm>
            <a:off x="9125712" y="2587752"/>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8"/>
          <p:cNvSpPr/>
          <p:nvPr/>
        </p:nvSpPr>
        <p:spPr>
          <a:xfrm>
            <a:off x="9125712" y="258775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48</a:t>
            </a:r>
            <a:endParaRPr b="0" i="0" sz="760" u="none" cap="none" strike="noStrike">
              <a:solidFill>
                <a:schemeClr val="dk1"/>
              </a:solidFill>
              <a:latin typeface="Calibri"/>
              <a:ea typeface="Calibri"/>
              <a:cs typeface="Calibri"/>
              <a:sym typeface="Calibri"/>
            </a:endParaRPr>
          </a:p>
        </p:txBody>
      </p:sp>
      <p:sp>
        <p:nvSpPr>
          <p:cNvPr id="994" name="Google Shape;994;p18"/>
          <p:cNvSpPr/>
          <p:nvPr/>
        </p:nvSpPr>
        <p:spPr>
          <a:xfrm>
            <a:off x="10122408" y="2587752"/>
            <a:ext cx="960120" cy="219456"/>
          </a:xfrm>
          <a:prstGeom prst="rect">
            <a:avLst/>
          </a:prstGeom>
          <a:solidFill>
            <a:srgbClr val="D1603D"/>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8"/>
          <p:cNvSpPr/>
          <p:nvPr/>
        </p:nvSpPr>
        <p:spPr>
          <a:xfrm>
            <a:off x="10122408" y="258775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46</a:t>
            </a:r>
            <a:endParaRPr b="0" i="0" sz="760" u="none" cap="none" strike="noStrike">
              <a:solidFill>
                <a:schemeClr val="dk1"/>
              </a:solidFill>
              <a:latin typeface="Calibri"/>
              <a:ea typeface="Calibri"/>
              <a:cs typeface="Calibri"/>
              <a:sym typeface="Calibri"/>
            </a:endParaRPr>
          </a:p>
        </p:txBody>
      </p:sp>
      <p:sp>
        <p:nvSpPr>
          <p:cNvPr id="996" name="Google Shape;996;p18"/>
          <p:cNvSpPr/>
          <p:nvPr/>
        </p:nvSpPr>
        <p:spPr>
          <a:xfrm>
            <a:off x="758952" y="2825496"/>
            <a:ext cx="131673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Contacts</a:t>
            </a:r>
            <a:endParaRPr b="0" i="0" sz="780" u="none" cap="none" strike="noStrike">
              <a:solidFill>
                <a:schemeClr val="dk1"/>
              </a:solidFill>
              <a:latin typeface="Calibri"/>
              <a:ea typeface="Calibri"/>
              <a:cs typeface="Calibri"/>
              <a:sym typeface="Calibri"/>
            </a:endParaRPr>
          </a:p>
        </p:txBody>
      </p:sp>
      <p:sp>
        <p:nvSpPr>
          <p:cNvPr id="997" name="Google Shape;997;p18"/>
          <p:cNvSpPr/>
          <p:nvPr/>
        </p:nvSpPr>
        <p:spPr>
          <a:xfrm>
            <a:off x="2148840" y="2843784"/>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8"/>
          <p:cNvSpPr/>
          <p:nvPr/>
        </p:nvSpPr>
        <p:spPr>
          <a:xfrm>
            <a:off x="2148840" y="284378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61</a:t>
            </a:r>
            <a:endParaRPr b="0" i="0" sz="760" u="none" cap="none" strike="noStrike">
              <a:solidFill>
                <a:schemeClr val="dk1"/>
              </a:solidFill>
              <a:latin typeface="Calibri"/>
              <a:ea typeface="Calibri"/>
              <a:cs typeface="Calibri"/>
              <a:sym typeface="Calibri"/>
            </a:endParaRPr>
          </a:p>
        </p:txBody>
      </p:sp>
      <p:sp>
        <p:nvSpPr>
          <p:cNvPr id="999" name="Google Shape;999;p18"/>
          <p:cNvSpPr/>
          <p:nvPr/>
        </p:nvSpPr>
        <p:spPr>
          <a:xfrm>
            <a:off x="3145536" y="2843784"/>
            <a:ext cx="960120" cy="219456"/>
          </a:xfrm>
          <a:prstGeom prst="rect">
            <a:avLst/>
          </a:prstGeom>
          <a:solidFill>
            <a:srgbClr val="F5D9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8"/>
          <p:cNvSpPr/>
          <p:nvPr/>
        </p:nvSpPr>
        <p:spPr>
          <a:xfrm>
            <a:off x="3145536" y="284378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31</a:t>
            </a:r>
            <a:endParaRPr b="0" i="0" sz="760" u="none" cap="none" strike="noStrike">
              <a:solidFill>
                <a:schemeClr val="dk1"/>
              </a:solidFill>
              <a:latin typeface="Calibri"/>
              <a:ea typeface="Calibri"/>
              <a:cs typeface="Calibri"/>
              <a:sym typeface="Calibri"/>
            </a:endParaRPr>
          </a:p>
        </p:txBody>
      </p:sp>
      <p:sp>
        <p:nvSpPr>
          <p:cNvPr id="1001" name="Google Shape;1001;p18"/>
          <p:cNvSpPr/>
          <p:nvPr/>
        </p:nvSpPr>
        <p:spPr>
          <a:xfrm>
            <a:off x="4142232" y="2843784"/>
            <a:ext cx="960120" cy="219456"/>
          </a:xfrm>
          <a:prstGeom prst="rect">
            <a:avLst/>
          </a:prstGeom>
          <a:solidFill>
            <a:srgbClr val="DCEEE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8"/>
          <p:cNvSpPr/>
          <p:nvPr/>
        </p:nvSpPr>
        <p:spPr>
          <a:xfrm>
            <a:off x="4142232" y="284378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82</a:t>
            </a:r>
            <a:endParaRPr b="0" i="0" sz="760" u="none" cap="none" strike="noStrike">
              <a:solidFill>
                <a:schemeClr val="dk1"/>
              </a:solidFill>
              <a:latin typeface="Calibri"/>
              <a:ea typeface="Calibri"/>
              <a:cs typeface="Calibri"/>
              <a:sym typeface="Calibri"/>
            </a:endParaRPr>
          </a:p>
        </p:txBody>
      </p:sp>
      <p:sp>
        <p:nvSpPr>
          <p:cNvPr id="1003" name="Google Shape;1003;p18"/>
          <p:cNvSpPr/>
          <p:nvPr/>
        </p:nvSpPr>
        <p:spPr>
          <a:xfrm>
            <a:off x="5138928" y="2843784"/>
            <a:ext cx="960120" cy="219456"/>
          </a:xfrm>
          <a:prstGeom prst="rect">
            <a:avLst/>
          </a:prstGeom>
          <a:solidFill>
            <a:srgbClr val="E7F0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8"/>
          <p:cNvSpPr/>
          <p:nvPr/>
        </p:nvSpPr>
        <p:spPr>
          <a:xfrm>
            <a:off x="5138928" y="284378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66</a:t>
            </a:r>
            <a:endParaRPr b="0" i="0" sz="760" u="none" cap="none" strike="noStrike">
              <a:solidFill>
                <a:schemeClr val="dk1"/>
              </a:solidFill>
              <a:latin typeface="Calibri"/>
              <a:ea typeface="Calibri"/>
              <a:cs typeface="Calibri"/>
              <a:sym typeface="Calibri"/>
            </a:endParaRPr>
          </a:p>
        </p:txBody>
      </p:sp>
      <p:sp>
        <p:nvSpPr>
          <p:cNvPr id="1005" name="Google Shape;1005;p18"/>
          <p:cNvSpPr/>
          <p:nvPr/>
        </p:nvSpPr>
        <p:spPr>
          <a:xfrm>
            <a:off x="6135624" y="2843784"/>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8"/>
          <p:cNvSpPr/>
          <p:nvPr/>
        </p:nvSpPr>
        <p:spPr>
          <a:xfrm>
            <a:off x="6135624" y="284378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58</a:t>
            </a:r>
            <a:endParaRPr b="0" i="0" sz="760" u="none" cap="none" strike="noStrike">
              <a:solidFill>
                <a:schemeClr val="dk1"/>
              </a:solidFill>
              <a:latin typeface="Calibri"/>
              <a:ea typeface="Calibri"/>
              <a:cs typeface="Calibri"/>
              <a:sym typeface="Calibri"/>
            </a:endParaRPr>
          </a:p>
        </p:txBody>
      </p:sp>
      <p:sp>
        <p:nvSpPr>
          <p:cNvPr id="1007" name="Google Shape;1007;p18"/>
          <p:cNvSpPr/>
          <p:nvPr/>
        </p:nvSpPr>
        <p:spPr>
          <a:xfrm>
            <a:off x="7132320" y="2843784"/>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8"/>
          <p:cNvSpPr/>
          <p:nvPr/>
        </p:nvSpPr>
        <p:spPr>
          <a:xfrm>
            <a:off x="7132320" y="284378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55</a:t>
            </a:r>
            <a:endParaRPr b="0" i="0" sz="760" u="none" cap="none" strike="noStrike">
              <a:solidFill>
                <a:schemeClr val="dk1"/>
              </a:solidFill>
              <a:latin typeface="Calibri"/>
              <a:ea typeface="Calibri"/>
              <a:cs typeface="Calibri"/>
              <a:sym typeface="Calibri"/>
            </a:endParaRPr>
          </a:p>
        </p:txBody>
      </p:sp>
      <p:sp>
        <p:nvSpPr>
          <p:cNvPr id="1009" name="Google Shape;1009;p18"/>
          <p:cNvSpPr/>
          <p:nvPr/>
        </p:nvSpPr>
        <p:spPr>
          <a:xfrm>
            <a:off x="8129016" y="2843784"/>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8"/>
          <p:cNvSpPr/>
          <p:nvPr/>
        </p:nvSpPr>
        <p:spPr>
          <a:xfrm>
            <a:off x="8129016" y="284378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44</a:t>
            </a:r>
            <a:endParaRPr b="0" i="0" sz="760" u="none" cap="none" strike="noStrike">
              <a:solidFill>
                <a:schemeClr val="dk1"/>
              </a:solidFill>
              <a:latin typeface="Calibri"/>
              <a:ea typeface="Calibri"/>
              <a:cs typeface="Calibri"/>
              <a:sym typeface="Calibri"/>
            </a:endParaRPr>
          </a:p>
        </p:txBody>
      </p:sp>
      <p:sp>
        <p:nvSpPr>
          <p:cNvPr id="1011" name="Google Shape;1011;p18"/>
          <p:cNvSpPr/>
          <p:nvPr/>
        </p:nvSpPr>
        <p:spPr>
          <a:xfrm>
            <a:off x="9125712" y="2843784"/>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8"/>
          <p:cNvSpPr/>
          <p:nvPr/>
        </p:nvSpPr>
        <p:spPr>
          <a:xfrm>
            <a:off x="9125712" y="284378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41</a:t>
            </a:r>
            <a:endParaRPr b="0" i="0" sz="760" u="none" cap="none" strike="noStrike">
              <a:solidFill>
                <a:schemeClr val="dk1"/>
              </a:solidFill>
              <a:latin typeface="Calibri"/>
              <a:ea typeface="Calibri"/>
              <a:cs typeface="Calibri"/>
              <a:sym typeface="Calibri"/>
            </a:endParaRPr>
          </a:p>
        </p:txBody>
      </p:sp>
      <p:sp>
        <p:nvSpPr>
          <p:cNvPr id="1013" name="Google Shape;1013;p18"/>
          <p:cNvSpPr/>
          <p:nvPr/>
        </p:nvSpPr>
        <p:spPr>
          <a:xfrm>
            <a:off x="10122408" y="2843784"/>
            <a:ext cx="960120" cy="219456"/>
          </a:xfrm>
          <a:prstGeom prst="rect">
            <a:avLst/>
          </a:prstGeom>
          <a:solidFill>
            <a:srgbClr val="D9A23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8"/>
          <p:cNvSpPr/>
          <p:nvPr/>
        </p:nvSpPr>
        <p:spPr>
          <a:xfrm>
            <a:off x="10122408" y="284378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57</a:t>
            </a:r>
            <a:endParaRPr b="0" i="0" sz="760" u="none" cap="none" strike="noStrike">
              <a:solidFill>
                <a:schemeClr val="dk1"/>
              </a:solidFill>
              <a:latin typeface="Calibri"/>
              <a:ea typeface="Calibri"/>
              <a:cs typeface="Calibri"/>
              <a:sym typeface="Calibri"/>
            </a:endParaRPr>
          </a:p>
        </p:txBody>
      </p:sp>
      <p:sp>
        <p:nvSpPr>
          <p:cNvPr id="1015" name="Google Shape;1015;p18"/>
          <p:cNvSpPr/>
          <p:nvPr/>
        </p:nvSpPr>
        <p:spPr>
          <a:xfrm>
            <a:off x="758952" y="3081528"/>
            <a:ext cx="131673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Accounts</a:t>
            </a:r>
            <a:endParaRPr b="0" i="0" sz="780" u="none" cap="none" strike="noStrike">
              <a:solidFill>
                <a:schemeClr val="dk1"/>
              </a:solidFill>
              <a:latin typeface="Calibri"/>
              <a:ea typeface="Calibri"/>
              <a:cs typeface="Calibri"/>
              <a:sym typeface="Calibri"/>
            </a:endParaRPr>
          </a:p>
        </p:txBody>
      </p:sp>
      <p:sp>
        <p:nvSpPr>
          <p:cNvPr id="1016" name="Google Shape;1016;p18"/>
          <p:cNvSpPr/>
          <p:nvPr/>
        </p:nvSpPr>
        <p:spPr>
          <a:xfrm>
            <a:off x="2148840" y="3099816"/>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8"/>
          <p:cNvSpPr/>
          <p:nvPr/>
        </p:nvSpPr>
        <p:spPr>
          <a:xfrm>
            <a:off x="2148840" y="309981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39</a:t>
            </a:r>
            <a:endParaRPr b="0" i="0" sz="760" u="none" cap="none" strike="noStrike">
              <a:solidFill>
                <a:schemeClr val="dk1"/>
              </a:solidFill>
              <a:latin typeface="Calibri"/>
              <a:ea typeface="Calibri"/>
              <a:cs typeface="Calibri"/>
              <a:sym typeface="Calibri"/>
            </a:endParaRPr>
          </a:p>
        </p:txBody>
      </p:sp>
      <p:sp>
        <p:nvSpPr>
          <p:cNvPr id="1018" name="Google Shape;1018;p18"/>
          <p:cNvSpPr/>
          <p:nvPr/>
        </p:nvSpPr>
        <p:spPr>
          <a:xfrm>
            <a:off x="3145536" y="3099816"/>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8"/>
          <p:cNvSpPr/>
          <p:nvPr/>
        </p:nvSpPr>
        <p:spPr>
          <a:xfrm>
            <a:off x="3145536" y="309981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36</a:t>
            </a:r>
            <a:endParaRPr b="0" i="0" sz="760" u="none" cap="none" strike="noStrike">
              <a:solidFill>
                <a:schemeClr val="dk1"/>
              </a:solidFill>
              <a:latin typeface="Calibri"/>
              <a:ea typeface="Calibri"/>
              <a:cs typeface="Calibri"/>
              <a:sym typeface="Calibri"/>
            </a:endParaRPr>
          </a:p>
        </p:txBody>
      </p:sp>
      <p:sp>
        <p:nvSpPr>
          <p:cNvPr id="1020" name="Google Shape;1020;p18"/>
          <p:cNvSpPr/>
          <p:nvPr/>
        </p:nvSpPr>
        <p:spPr>
          <a:xfrm>
            <a:off x="4142232" y="3099816"/>
            <a:ext cx="960120" cy="219456"/>
          </a:xfrm>
          <a:prstGeom prst="rect">
            <a:avLst/>
          </a:prstGeom>
          <a:solidFill>
            <a:srgbClr val="E7F0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8"/>
          <p:cNvSpPr/>
          <p:nvPr/>
        </p:nvSpPr>
        <p:spPr>
          <a:xfrm>
            <a:off x="4142232" y="309981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74</a:t>
            </a:r>
            <a:endParaRPr b="0" i="0" sz="760" u="none" cap="none" strike="noStrike">
              <a:solidFill>
                <a:schemeClr val="dk1"/>
              </a:solidFill>
              <a:latin typeface="Calibri"/>
              <a:ea typeface="Calibri"/>
              <a:cs typeface="Calibri"/>
              <a:sym typeface="Calibri"/>
            </a:endParaRPr>
          </a:p>
        </p:txBody>
      </p:sp>
      <p:sp>
        <p:nvSpPr>
          <p:cNvPr id="1022" name="Google Shape;1022;p18"/>
          <p:cNvSpPr/>
          <p:nvPr/>
        </p:nvSpPr>
        <p:spPr>
          <a:xfrm>
            <a:off x="5138928" y="3099816"/>
            <a:ext cx="960120" cy="219456"/>
          </a:xfrm>
          <a:prstGeom prst="rect">
            <a:avLst/>
          </a:prstGeom>
          <a:solidFill>
            <a:srgbClr val="E7F0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8"/>
          <p:cNvSpPr/>
          <p:nvPr/>
        </p:nvSpPr>
        <p:spPr>
          <a:xfrm>
            <a:off x="5138928" y="309981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71</a:t>
            </a:r>
            <a:endParaRPr b="0" i="0" sz="760" u="none" cap="none" strike="noStrike">
              <a:solidFill>
                <a:schemeClr val="dk1"/>
              </a:solidFill>
              <a:latin typeface="Calibri"/>
              <a:ea typeface="Calibri"/>
              <a:cs typeface="Calibri"/>
              <a:sym typeface="Calibri"/>
            </a:endParaRPr>
          </a:p>
        </p:txBody>
      </p:sp>
      <p:sp>
        <p:nvSpPr>
          <p:cNvPr id="1024" name="Google Shape;1024;p18"/>
          <p:cNvSpPr/>
          <p:nvPr/>
        </p:nvSpPr>
        <p:spPr>
          <a:xfrm>
            <a:off x="6135624" y="3099816"/>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8"/>
          <p:cNvSpPr/>
          <p:nvPr/>
        </p:nvSpPr>
        <p:spPr>
          <a:xfrm>
            <a:off x="6135624" y="309981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61</a:t>
            </a:r>
            <a:endParaRPr b="0" i="0" sz="760" u="none" cap="none" strike="noStrike">
              <a:solidFill>
                <a:schemeClr val="dk1"/>
              </a:solidFill>
              <a:latin typeface="Calibri"/>
              <a:ea typeface="Calibri"/>
              <a:cs typeface="Calibri"/>
              <a:sym typeface="Calibri"/>
            </a:endParaRPr>
          </a:p>
        </p:txBody>
      </p:sp>
      <p:sp>
        <p:nvSpPr>
          <p:cNvPr id="1026" name="Google Shape;1026;p18"/>
          <p:cNvSpPr/>
          <p:nvPr/>
        </p:nvSpPr>
        <p:spPr>
          <a:xfrm>
            <a:off x="7132320" y="3099816"/>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8"/>
          <p:cNvSpPr/>
          <p:nvPr/>
        </p:nvSpPr>
        <p:spPr>
          <a:xfrm>
            <a:off x="7132320" y="309981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58</a:t>
            </a:r>
            <a:endParaRPr b="0" i="0" sz="760" u="none" cap="none" strike="noStrike">
              <a:solidFill>
                <a:schemeClr val="dk1"/>
              </a:solidFill>
              <a:latin typeface="Calibri"/>
              <a:ea typeface="Calibri"/>
              <a:cs typeface="Calibri"/>
              <a:sym typeface="Calibri"/>
            </a:endParaRPr>
          </a:p>
        </p:txBody>
      </p:sp>
      <p:sp>
        <p:nvSpPr>
          <p:cNvPr id="1028" name="Google Shape;1028;p18"/>
          <p:cNvSpPr/>
          <p:nvPr/>
        </p:nvSpPr>
        <p:spPr>
          <a:xfrm>
            <a:off x="8129016" y="3099816"/>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8"/>
          <p:cNvSpPr/>
          <p:nvPr/>
        </p:nvSpPr>
        <p:spPr>
          <a:xfrm>
            <a:off x="8129016" y="309981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38</a:t>
            </a:r>
            <a:endParaRPr b="0" i="0" sz="760" u="none" cap="none" strike="noStrike">
              <a:solidFill>
                <a:schemeClr val="dk1"/>
              </a:solidFill>
              <a:latin typeface="Calibri"/>
              <a:ea typeface="Calibri"/>
              <a:cs typeface="Calibri"/>
              <a:sym typeface="Calibri"/>
            </a:endParaRPr>
          </a:p>
        </p:txBody>
      </p:sp>
      <p:sp>
        <p:nvSpPr>
          <p:cNvPr id="1030" name="Google Shape;1030;p18"/>
          <p:cNvSpPr/>
          <p:nvPr/>
        </p:nvSpPr>
        <p:spPr>
          <a:xfrm>
            <a:off x="9125712" y="3099816"/>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8"/>
          <p:cNvSpPr/>
          <p:nvPr/>
        </p:nvSpPr>
        <p:spPr>
          <a:xfrm>
            <a:off x="9125712" y="309981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44</a:t>
            </a:r>
            <a:endParaRPr b="0" i="0" sz="760" u="none" cap="none" strike="noStrike">
              <a:solidFill>
                <a:schemeClr val="dk1"/>
              </a:solidFill>
              <a:latin typeface="Calibri"/>
              <a:ea typeface="Calibri"/>
              <a:cs typeface="Calibri"/>
              <a:sym typeface="Calibri"/>
            </a:endParaRPr>
          </a:p>
        </p:txBody>
      </p:sp>
      <p:sp>
        <p:nvSpPr>
          <p:cNvPr id="1032" name="Google Shape;1032;p18"/>
          <p:cNvSpPr/>
          <p:nvPr/>
        </p:nvSpPr>
        <p:spPr>
          <a:xfrm>
            <a:off x="10122408" y="3099816"/>
            <a:ext cx="960120" cy="219456"/>
          </a:xfrm>
          <a:prstGeom prst="rect">
            <a:avLst/>
          </a:prstGeom>
          <a:solidFill>
            <a:srgbClr val="D9A23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8"/>
          <p:cNvSpPr/>
          <p:nvPr/>
        </p:nvSpPr>
        <p:spPr>
          <a:xfrm>
            <a:off x="10122408" y="309981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52</a:t>
            </a:r>
            <a:endParaRPr b="0" i="0" sz="760" u="none" cap="none" strike="noStrike">
              <a:solidFill>
                <a:schemeClr val="dk1"/>
              </a:solidFill>
              <a:latin typeface="Calibri"/>
              <a:ea typeface="Calibri"/>
              <a:cs typeface="Calibri"/>
              <a:sym typeface="Calibri"/>
            </a:endParaRPr>
          </a:p>
        </p:txBody>
      </p:sp>
      <p:sp>
        <p:nvSpPr>
          <p:cNvPr id="1034" name="Google Shape;1034;p18"/>
          <p:cNvSpPr/>
          <p:nvPr/>
        </p:nvSpPr>
        <p:spPr>
          <a:xfrm>
            <a:off x="758952" y="3337560"/>
            <a:ext cx="131673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Deals</a:t>
            </a:r>
            <a:endParaRPr b="0" i="0" sz="780" u="none" cap="none" strike="noStrike">
              <a:solidFill>
                <a:schemeClr val="dk1"/>
              </a:solidFill>
              <a:latin typeface="Calibri"/>
              <a:ea typeface="Calibri"/>
              <a:cs typeface="Calibri"/>
              <a:sym typeface="Calibri"/>
            </a:endParaRPr>
          </a:p>
        </p:txBody>
      </p:sp>
      <p:sp>
        <p:nvSpPr>
          <p:cNvPr id="1035" name="Google Shape;1035;p18"/>
          <p:cNvSpPr/>
          <p:nvPr/>
        </p:nvSpPr>
        <p:spPr>
          <a:xfrm>
            <a:off x="2148840" y="3355848"/>
            <a:ext cx="960120" cy="219456"/>
          </a:xfrm>
          <a:prstGeom prst="rect">
            <a:avLst/>
          </a:prstGeom>
          <a:solidFill>
            <a:srgbClr val="E7F0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8"/>
          <p:cNvSpPr/>
          <p:nvPr/>
        </p:nvSpPr>
        <p:spPr>
          <a:xfrm>
            <a:off x="2148840" y="3355848"/>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66</a:t>
            </a:r>
            <a:endParaRPr b="0" i="0" sz="760" u="none" cap="none" strike="noStrike">
              <a:solidFill>
                <a:schemeClr val="dk1"/>
              </a:solidFill>
              <a:latin typeface="Calibri"/>
              <a:ea typeface="Calibri"/>
              <a:cs typeface="Calibri"/>
              <a:sym typeface="Calibri"/>
            </a:endParaRPr>
          </a:p>
        </p:txBody>
      </p:sp>
      <p:sp>
        <p:nvSpPr>
          <p:cNvPr id="1037" name="Google Shape;1037;p18"/>
          <p:cNvSpPr/>
          <p:nvPr/>
        </p:nvSpPr>
        <p:spPr>
          <a:xfrm>
            <a:off x="3145536" y="3355848"/>
            <a:ext cx="960120" cy="219456"/>
          </a:xfrm>
          <a:prstGeom prst="rect">
            <a:avLst/>
          </a:prstGeom>
          <a:solidFill>
            <a:srgbClr val="E7F0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8"/>
          <p:cNvSpPr/>
          <p:nvPr/>
        </p:nvSpPr>
        <p:spPr>
          <a:xfrm>
            <a:off x="3145536" y="3355848"/>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74</a:t>
            </a:r>
            <a:endParaRPr b="0" i="0" sz="760" u="none" cap="none" strike="noStrike">
              <a:solidFill>
                <a:schemeClr val="dk1"/>
              </a:solidFill>
              <a:latin typeface="Calibri"/>
              <a:ea typeface="Calibri"/>
              <a:cs typeface="Calibri"/>
              <a:sym typeface="Calibri"/>
            </a:endParaRPr>
          </a:p>
        </p:txBody>
      </p:sp>
      <p:sp>
        <p:nvSpPr>
          <p:cNvPr id="1039" name="Google Shape;1039;p18"/>
          <p:cNvSpPr/>
          <p:nvPr/>
        </p:nvSpPr>
        <p:spPr>
          <a:xfrm>
            <a:off x="4142232" y="3355848"/>
            <a:ext cx="960120" cy="219456"/>
          </a:xfrm>
          <a:prstGeom prst="rect">
            <a:avLst/>
          </a:prstGeom>
          <a:solidFill>
            <a:srgbClr val="DCEEE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8"/>
          <p:cNvSpPr/>
          <p:nvPr/>
        </p:nvSpPr>
        <p:spPr>
          <a:xfrm>
            <a:off x="4142232" y="3355848"/>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81</a:t>
            </a:r>
            <a:endParaRPr b="0" i="0" sz="760" u="none" cap="none" strike="noStrike">
              <a:solidFill>
                <a:schemeClr val="dk1"/>
              </a:solidFill>
              <a:latin typeface="Calibri"/>
              <a:ea typeface="Calibri"/>
              <a:cs typeface="Calibri"/>
              <a:sym typeface="Calibri"/>
            </a:endParaRPr>
          </a:p>
        </p:txBody>
      </p:sp>
      <p:sp>
        <p:nvSpPr>
          <p:cNvPr id="1041" name="Google Shape;1041;p18"/>
          <p:cNvSpPr/>
          <p:nvPr/>
        </p:nvSpPr>
        <p:spPr>
          <a:xfrm>
            <a:off x="5138928" y="3355848"/>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8"/>
          <p:cNvSpPr/>
          <p:nvPr/>
        </p:nvSpPr>
        <p:spPr>
          <a:xfrm>
            <a:off x="5138928" y="3355848"/>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48</a:t>
            </a:r>
            <a:endParaRPr b="0" i="0" sz="760" u="none" cap="none" strike="noStrike">
              <a:solidFill>
                <a:schemeClr val="dk1"/>
              </a:solidFill>
              <a:latin typeface="Calibri"/>
              <a:ea typeface="Calibri"/>
              <a:cs typeface="Calibri"/>
              <a:sym typeface="Calibri"/>
            </a:endParaRPr>
          </a:p>
        </p:txBody>
      </p:sp>
      <p:sp>
        <p:nvSpPr>
          <p:cNvPr id="1043" name="Google Shape;1043;p18"/>
          <p:cNvSpPr/>
          <p:nvPr/>
        </p:nvSpPr>
        <p:spPr>
          <a:xfrm>
            <a:off x="6135624" y="3355848"/>
            <a:ext cx="960120" cy="219456"/>
          </a:xfrm>
          <a:prstGeom prst="rect">
            <a:avLst/>
          </a:prstGeom>
          <a:solidFill>
            <a:srgbClr val="F5D9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8"/>
          <p:cNvSpPr/>
          <p:nvPr/>
        </p:nvSpPr>
        <p:spPr>
          <a:xfrm>
            <a:off x="6135624" y="3355848"/>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34</a:t>
            </a:r>
            <a:endParaRPr b="0" i="0" sz="760" u="none" cap="none" strike="noStrike">
              <a:solidFill>
                <a:schemeClr val="dk1"/>
              </a:solidFill>
              <a:latin typeface="Calibri"/>
              <a:ea typeface="Calibri"/>
              <a:cs typeface="Calibri"/>
              <a:sym typeface="Calibri"/>
            </a:endParaRPr>
          </a:p>
        </p:txBody>
      </p:sp>
      <p:sp>
        <p:nvSpPr>
          <p:cNvPr id="1045" name="Google Shape;1045;p18"/>
          <p:cNvSpPr/>
          <p:nvPr/>
        </p:nvSpPr>
        <p:spPr>
          <a:xfrm>
            <a:off x="7132320" y="3355848"/>
            <a:ext cx="960120" cy="219456"/>
          </a:xfrm>
          <a:prstGeom prst="rect">
            <a:avLst/>
          </a:prstGeom>
          <a:solidFill>
            <a:srgbClr val="E7F0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8"/>
          <p:cNvSpPr/>
          <p:nvPr/>
        </p:nvSpPr>
        <p:spPr>
          <a:xfrm>
            <a:off x="7132320" y="3355848"/>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72</a:t>
            </a:r>
            <a:endParaRPr b="0" i="0" sz="760" u="none" cap="none" strike="noStrike">
              <a:solidFill>
                <a:schemeClr val="dk1"/>
              </a:solidFill>
              <a:latin typeface="Calibri"/>
              <a:ea typeface="Calibri"/>
              <a:cs typeface="Calibri"/>
              <a:sym typeface="Calibri"/>
            </a:endParaRPr>
          </a:p>
        </p:txBody>
      </p:sp>
      <p:sp>
        <p:nvSpPr>
          <p:cNvPr id="1047" name="Google Shape;1047;p18"/>
          <p:cNvSpPr/>
          <p:nvPr/>
        </p:nvSpPr>
        <p:spPr>
          <a:xfrm>
            <a:off x="8129016" y="3355848"/>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8"/>
          <p:cNvSpPr/>
          <p:nvPr/>
        </p:nvSpPr>
        <p:spPr>
          <a:xfrm>
            <a:off x="8129016" y="3355848"/>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51</a:t>
            </a:r>
            <a:endParaRPr b="0" i="0" sz="760" u="none" cap="none" strike="noStrike">
              <a:solidFill>
                <a:schemeClr val="dk1"/>
              </a:solidFill>
              <a:latin typeface="Calibri"/>
              <a:ea typeface="Calibri"/>
              <a:cs typeface="Calibri"/>
              <a:sym typeface="Calibri"/>
            </a:endParaRPr>
          </a:p>
        </p:txBody>
      </p:sp>
      <p:sp>
        <p:nvSpPr>
          <p:cNvPr id="1049" name="Google Shape;1049;p18"/>
          <p:cNvSpPr/>
          <p:nvPr/>
        </p:nvSpPr>
        <p:spPr>
          <a:xfrm>
            <a:off x="9125712" y="3355848"/>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8"/>
          <p:cNvSpPr/>
          <p:nvPr/>
        </p:nvSpPr>
        <p:spPr>
          <a:xfrm>
            <a:off x="9125712" y="3355848"/>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62</a:t>
            </a:r>
            <a:endParaRPr b="0" i="0" sz="760" u="none" cap="none" strike="noStrike">
              <a:solidFill>
                <a:schemeClr val="dk1"/>
              </a:solidFill>
              <a:latin typeface="Calibri"/>
              <a:ea typeface="Calibri"/>
              <a:cs typeface="Calibri"/>
              <a:sym typeface="Calibri"/>
            </a:endParaRPr>
          </a:p>
        </p:txBody>
      </p:sp>
      <p:sp>
        <p:nvSpPr>
          <p:cNvPr id="1051" name="Google Shape;1051;p18"/>
          <p:cNvSpPr/>
          <p:nvPr/>
        </p:nvSpPr>
        <p:spPr>
          <a:xfrm>
            <a:off x="10122408" y="3355848"/>
            <a:ext cx="960120" cy="219456"/>
          </a:xfrm>
          <a:prstGeom prst="rect">
            <a:avLst/>
          </a:prstGeom>
          <a:solidFill>
            <a:srgbClr val="D9A23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8"/>
          <p:cNvSpPr/>
          <p:nvPr/>
        </p:nvSpPr>
        <p:spPr>
          <a:xfrm>
            <a:off x="10122408" y="3355848"/>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61</a:t>
            </a:r>
            <a:endParaRPr b="0" i="0" sz="760" u="none" cap="none" strike="noStrike">
              <a:solidFill>
                <a:schemeClr val="dk1"/>
              </a:solidFill>
              <a:latin typeface="Calibri"/>
              <a:ea typeface="Calibri"/>
              <a:cs typeface="Calibri"/>
              <a:sym typeface="Calibri"/>
            </a:endParaRPr>
          </a:p>
        </p:txBody>
      </p:sp>
      <p:sp>
        <p:nvSpPr>
          <p:cNvPr id="1053" name="Google Shape;1053;p18"/>
          <p:cNvSpPr/>
          <p:nvPr/>
        </p:nvSpPr>
        <p:spPr>
          <a:xfrm>
            <a:off x="758952" y="3593592"/>
            <a:ext cx="131673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Vendors</a:t>
            </a:r>
            <a:endParaRPr b="0" i="0" sz="780" u="none" cap="none" strike="noStrike">
              <a:solidFill>
                <a:schemeClr val="dk1"/>
              </a:solidFill>
              <a:latin typeface="Calibri"/>
              <a:ea typeface="Calibri"/>
              <a:cs typeface="Calibri"/>
              <a:sym typeface="Calibri"/>
            </a:endParaRPr>
          </a:p>
        </p:txBody>
      </p:sp>
      <p:sp>
        <p:nvSpPr>
          <p:cNvPr id="1054" name="Google Shape;1054;p18"/>
          <p:cNvSpPr/>
          <p:nvPr/>
        </p:nvSpPr>
        <p:spPr>
          <a:xfrm>
            <a:off x="2148840" y="3611880"/>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8"/>
          <p:cNvSpPr/>
          <p:nvPr/>
        </p:nvSpPr>
        <p:spPr>
          <a:xfrm>
            <a:off x="2148840" y="3611880"/>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58</a:t>
            </a:r>
            <a:endParaRPr b="0" i="0" sz="760" u="none" cap="none" strike="noStrike">
              <a:solidFill>
                <a:schemeClr val="dk1"/>
              </a:solidFill>
              <a:latin typeface="Calibri"/>
              <a:ea typeface="Calibri"/>
              <a:cs typeface="Calibri"/>
              <a:sym typeface="Calibri"/>
            </a:endParaRPr>
          </a:p>
        </p:txBody>
      </p:sp>
      <p:sp>
        <p:nvSpPr>
          <p:cNvPr id="1056" name="Google Shape;1056;p18"/>
          <p:cNvSpPr/>
          <p:nvPr/>
        </p:nvSpPr>
        <p:spPr>
          <a:xfrm>
            <a:off x="3145536" y="3611880"/>
            <a:ext cx="960120" cy="219456"/>
          </a:xfrm>
          <a:prstGeom prst="rect">
            <a:avLst/>
          </a:prstGeom>
          <a:solidFill>
            <a:srgbClr val="F5D9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8"/>
          <p:cNvSpPr/>
          <p:nvPr/>
        </p:nvSpPr>
        <p:spPr>
          <a:xfrm>
            <a:off x="3145536" y="3611880"/>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22</a:t>
            </a:r>
            <a:endParaRPr b="0" i="0" sz="760" u="none" cap="none" strike="noStrike">
              <a:solidFill>
                <a:schemeClr val="dk1"/>
              </a:solidFill>
              <a:latin typeface="Calibri"/>
              <a:ea typeface="Calibri"/>
              <a:cs typeface="Calibri"/>
              <a:sym typeface="Calibri"/>
            </a:endParaRPr>
          </a:p>
        </p:txBody>
      </p:sp>
      <p:sp>
        <p:nvSpPr>
          <p:cNvPr id="1058" name="Google Shape;1058;p18"/>
          <p:cNvSpPr/>
          <p:nvPr/>
        </p:nvSpPr>
        <p:spPr>
          <a:xfrm>
            <a:off x="4142232" y="3611880"/>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8"/>
          <p:cNvSpPr/>
          <p:nvPr/>
        </p:nvSpPr>
        <p:spPr>
          <a:xfrm>
            <a:off x="4142232" y="3611880"/>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49</a:t>
            </a:r>
            <a:endParaRPr b="0" i="0" sz="760" u="none" cap="none" strike="noStrike">
              <a:solidFill>
                <a:schemeClr val="dk1"/>
              </a:solidFill>
              <a:latin typeface="Calibri"/>
              <a:ea typeface="Calibri"/>
              <a:cs typeface="Calibri"/>
              <a:sym typeface="Calibri"/>
            </a:endParaRPr>
          </a:p>
        </p:txBody>
      </p:sp>
      <p:sp>
        <p:nvSpPr>
          <p:cNvPr id="1060" name="Google Shape;1060;p18"/>
          <p:cNvSpPr/>
          <p:nvPr/>
        </p:nvSpPr>
        <p:spPr>
          <a:xfrm>
            <a:off x="5138928" y="3611880"/>
            <a:ext cx="960120" cy="219456"/>
          </a:xfrm>
          <a:prstGeom prst="rect">
            <a:avLst/>
          </a:prstGeom>
          <a:solidFill>
            <a:srgbClr val="E7F0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8"/>
          <p:cNvSpPr/>
          <p:nvPr/>
        </p:nvSpPr>
        <p:spPr>
          <a:xfrm>
            <a:off x="5138928" y="3611880"/>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77</a:t>
            </a:r>
            <a:endParaRPr b="0" i="0" sz="760" u="none" cap="none" strike="noStrike">
              <a:solidFill>
                <a:schemeClr val="dk1"/>
              </a:solidFill>
              <a:latin typeface="Calibri"/>
              <a:ea typeface="Calibri"/>
              <a:cs typeface="Calibri"/>
              <a:sym typeface="Calibri"/>
            </a:endParaRPr>
          </a:p>
        </p:txBody>
      </p:sp>
      <p:sp>
        <p:nvSpPr>
          <p:cNvPr id="1062" name="Google Shape;1062;p18"/>
          <p:cNvSpPr/>
          <p:nvPr/>
        </p:nvSpPr>
        <p:spPr>
          <a:xfrm>
            <a:off x="6135624" y="3611880"/>
            <a:ext cx="960120" cy="219456"/>
          </a:xfrm>
          <a:prstGeom prst="rect">
            <a:avLst/>
          </a:prstGeom>
          <a:solidFill>
            <a:srgbClr val="E7F0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8"/>
          <p:cNvSpPr/>
          <p:nvPr/>
        </p:nvSpPr>
        <p:spPr>
          <a:xfrm>
            <a:off x="6135624" y="3611880"/>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66</a:t>
            </a:r>
            <a:endParaRPr b="0" i="0" sz="760" u="none" cap="none" strike="noStrike">
              <a:solidFill>
                <a:schemeClr val="dk1"/>
              </a:solidFill>
              <a:latin typeface="Calibri"/>
              <a:ea typeface="Calibri"/>
              <a:cs typeface="Calibri"/>
              <a:sym typeface="Calibri"/>
            </a:endParaRPr>
          </a:p>
        </p:txBody>
      </p:sp>
      <p:sp>
        <p:nvSpPr>
          <p:cNvPr id="1064" name="Google Shape;1064;p18"/>
          <p:cNvSpPr/>
          <p:nvPr/>
        </p:nvSpPr>
        <p:spPr>
          <a:xfrm>
            <a:off x="7132320" y="3611880"/>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8"/>
          <p:cNvSpPr/>
          <p:nvPr/>
        </p:nvSpPr>
        <p:spPr>
          <a:xfrm>
            <a:off x="7132320" y="3611880"/>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64</a:t>
            </a:r>
            <a:endParaRPr b="0" i="0" sz="760" u="none" cap="none" strike="noStrike">
              <a:solidFill>
                <a:schemeClr val="dk1"/>
              </a:solidFill>
              <a:latin typeface="Calibri"/>
              <a:ea typeface="Calibri"/>
              <a:cs typeface="Calibri"/>
              <a:sym typeface="Calibri"/>
            </a:endParaRPr>
          </a:p>
        </p:txBody>
      </p:sp>
      <p:sp>
        <p:nvSpPr>
          <p:cNvPr id="1066" name="Google Shape;1066;p18"/>
          <p:cNvSpPr/>
          <p:nvPr/>
        </p:nvSpPr>
        <p:spPr>
          <a:xfrm>
            <a:off x="8129016" y="3611880"/>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8"/>
          <p:cNvSpPr/>
          <p:nvPr/>
        </p:nvSpPr>
        <p:spPr>
          <a:xfrm>
            <a:off x="8129016" y="3611880"/>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47</a:t>
            </a:r>
            <a:endParaRPr b="0" i="0" sz="760" u="none" cap="none" strike="noStrike">
              <a:solidFill>
                <a:schemeClr val="dk1"/>
              </a:solidFill>
              <a:latin typeface="Calibri"/>
              <a:ea typeface="Calibri"/>
              <a:cs typeface="Calibri"/>
              <a:sym typeface="Calibri"/>
            </a:endParaRPr>
          </a:p>
        </p:txBody>
      </p:sp>
      <p:sp>
        <p:nvSpPr>
          <p:cNvPr id="1068" name="Google Shape;1068;p18"/>
          <p:cNvSpPr/>
          <p:nvPr/>
        </p:nvSpPr>
        <p:spPr>
          <a:xfrm>
            <a:off x="9125712" y="3611880"/>
            <a:ext cx="960120" cy="219456"/>
          </a:xfrm>
          <a:prstGeom prst="rect">
            <a:avLst/>
          </a:prstGeom>
          <a:solidFill>
            <a:srgbClr val="F5D9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8"/>
          <p:cNvSpPr/>
          <p:nvPr/>
        </p:nvSpPr>
        <p:spPr>
          <a:xfrm>
            <a:off x="9125712" y="3611880"/>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31</a:t>
            </a:r>
            <a:endParaRPr b="0" i="0" sz="760" u="none" cap="none" strike="noStrike">
              <a:solidFill>
                <a:schemeClr val="dk1"/>
              </a:solidFill>
              <a:latin typeface="Calibri"/>
              <a:ea typeface="Calibri"/>
              <a:cs typeface="Calibri"/>
              <a:sym typeface="Calibri"/>
            </a:endParaRPr>
          </a:p>
        </p:txBody>
      </p:sp>
      <p:sp>
        <p:nvSpPr>
          <p:cNvPr id="1070" name="Google Shape;1070;p18"/>
          <p:cNvSpPr/>
          <p:nvPr/>
        </p:nvSpPr>
        <p:spPr>
          <a:xfrm>
            <a:off x="10122408" y="3611880"/>
            <a:ext cx="960120" cy="219456"/>
          </a:xfrm>
          <a:prstGeom prst="rect">
            <a:avLst/>
          </a:prstGeom>
          <a:solidFill>
            <a:srgbClr val="D9A23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8"/>
          <p:cNvSpPr/>
          <p:nvPr/>
        </p:nvSpPr>
        <p:spPr>
          <a:xfrm>
            <a:off x="10122408" y="3611880"/>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51</a:t>
            </a:r>
            <a:endParaRPr b="0" i="0" sz="760" u="none" cap="none" strike="noStrike">
              <a:solidFill>
                <a:schemeClr val="dk1"/>
              </a:solidFill>
              <a:latin typeface="Calibri"/>
              <a:ea typeface="Calibri"/>
              <a:cs typeface="Calibri"/>
              <a:sym typeface="Calibri"/>
            </a:endParaRPr>
          </a:p>
        </p:txBody>
      </p:sp>
      <p:sp>
        <p:nvSpPr>
          <p:cNvPr id="1072" name="Google Shape;1072;p18"/>
          <p:cNvSpPr/>
          <p:nvPr/>
        </p:nvSpPr>
        <p:spPr>
          <a:xfrm>
            <a:off x="758952" y="3849624"/>
            <a:ext cx="131673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Desk tickets</a:t>
            </a:r>
            <a:endParaRPr b="0" i="0" sz="780" u="none" cap="none" strike="noStrike">
              <a:solidFill>
                <a:schemeClr val="dk1"/>
              </a:solidFill>
              <a:latin typeface="Calibri"/>
              <a:ea typeface="Calibri"/>
              <a:cs typeface="Calibri"/>
              <a:sym typeface="Calibri"/>
            </a:endParaRPr>
          </a:p>
        </p:txBody>
      </p:sp>
      <p:sp>
        <p:nvSpPr>
          <p:cNvPr id="1073" name="Google Shape;1073;p18"/>
          <p:cNvSpPr/>
          <p:nvPr/>
        </p:nvSpPr>
        <p:spPr>
          <a:xfrm>
            <a:off x="2148840" y="3867912"/>
            <a:ext cx="960120" cy="219456"/>
          </a:xfrm>
          <a:prstGeom prst="rect">
            <a:avLst/>
          </a:prstGeom>
          <a:solidFill>
            <a:srgbClr val="E7F0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8"/>
          <p:cNvSpPr/>
          <p:nvPr/>
        </p:nvSpPr>
        <p:spPr>
          <a:xfrm>
            <a:off x="2148840" y="386791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71</a:t>
            </a:r>
            <a:endParaRPr b="0" i="0" sz="760" u="none" cap="none" strike="noStrike">
              <a:solidFill>
                <a:schemeClr val="dk1"/>
              </a:solidFill>
              <a:latin typeface="Calibri"/>
              <a:ea typeface="Calibri"/>
              <a:cs typeface="Calibri"/>
              <a:sym typeface="Calibri"/>
            </a:endParaRPr>
          </a:p>
        </p:txBody>
      </p:sp>
      <p:sp>
        <p:nvSpPr>
          <p:cNvPr id="1075" name="Google Shape;1075;p18"/>
          <p:cNvSpPr/>
          <p:nvPr/>
        </p:nvSpPr>
        <p:spPr>
          <a:xfrm>
            <a:off x="3145536" y="3867912"/>
            <a:ext cx="960120" cy="219456"/>
          </a:xfrm>
          <a:prstGeom prst="rect">
            <a:avLst/>
          </a:prstGeom>
          <a:solidFill>
            <a:srgbClr val="DCEEE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8"/>
          <p:cNvSpPr/>
          <p:nvPr/>
        </p:nvSpPr>
        <p:spPr>
          <a:xfrm>
            <a:off x="3145536" y="386791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88</a:t>
            </a:r>
            <a:endParaRPr b="0" i="0" sz="760" u="none" cap="none" strike="noStrike">
              <a:solidFill>
                <a:schemeClr val="dk1"/>
              </a:solidFill>
              <a:latin typeface="Calibri"/>
              <a:ea typeface="Calibri"/>
              <a:cs typeface="Calibri"/>
              <a:sym typeface="Calibri"/>
            </a:endParaRPr>
          </a:p>
        </p:txBody>
      </p:sp>
      <p:sp>
        <p:nvSpPr>
          <p:cNvPr id="1077" name="Google Shape;1077;p18"/>
          <p:cNvSpPr/>
          <p:nvPr/>
        </p:nvSpPr>
        <p:spPr>
          <a:xfrm>
            <a:off x="4142232" y="3867912"/>
            <a:ext cx="960120" cy="219456"/>
          </a:xfrm>
          <a:prstGeom prst="rect">
            <a:avLst/>
          </a:prstGeom>
          <a:solidFill>
            <a:srgbClr val="DCEEE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8"/>
          <p:cNvSpPr/>
          <p:nvPr/>
        </p:nvSpPr>
        <p:spPr>
          <a:xfrm>
            <a:off x="4142232" y="386791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84</a:t>
            </a:r>
            <a:endParaRPr b="0" i="0" sz="760" u="none" cap="none" strike="noStrike">
              <a:solidFill>
                <a:schemeClr val="dk1"/>
              </a:solidFill>
              <a:latin typeface="Calibri"/>
              <a:ea typeface="Calibri"/>
              <a:cs typeface="Calibri"/>
              <a:sym typeface="Calibri"/>
            </a:endParaRPr>
          </a:p>
        </p:txBody>
      </p:sp>
      <p:sp>
        <p:nvSpPr>
          <p:cNvPr id="1079" name="Google Shape;1079;p18"/>
          <p:cNvSpPr/>
          <p:nvPr/>
        </p:nvSpPr>
        <p:spPr>
          <a:xfrm>
            <a:off x="5138928" y="3867912"/>
            <a:ext cx="960120" cy="219456"/>
          </a:xfrm>
          <a:prstGeom prst="rect">
            <a:avLst/>
          </a:prstGeom>
          <a:solidFill>
            <a:srgbClr val="E7F0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8"/>
          <p:cNvSpPr/>
          <p:nvPr/>
        </p:nvSpPr>
        <p:spPr>
          <a:xfrm>
            <a:off x="5138928" y="386791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79</a:t>
            </a:r>
            <a:endParaRPr b="0" i="0" sz="760" u="none" cap="none" strike="noStrike">
              <a:solidFill>
                <a:schemeClr val="dk1"/>
              </a:solidFill>
              <a:latin typeface="Calibri"/>
              <a:ea typeface="Calibri"/>
              <a:cs typeface="Calibri"/>
              <a:sym typeface="Calibri"/>
            </a:endParaRPr>
          </a:p>
        </p:txBody>
      </p:sp>
      <p:sp>
        <p:nvSpPr>
          <p:cNvPr id="1081" name="Google Shape;1081;p18"/>
          <p:cNvSpPr/>
          <p:nvPr/>
        </p:nvSpPr>
        <p:spPr>
          <a:xfrm>
            <a:off x="6135624" y="3867912"/>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8"/>
          <p:cNvSpPr/>
          <p:nvPr/>
        </p:nvSpPr>
        <p:spPr>
          <a:xfrm>
            <a:off x="6135624" y="386791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41</a:t>
            </a:r>
            <a:endParaRPr b="0" i="0" sz="760" u="none" cap="none" strike="noStrike">
              <a:solidFill>
                <a:schemeClr val="dk1"/>
              </a:solidFill>
              <a:latin typeface="Calibri"/>
              <a:ea typeface="Calibri"/>
              <a:cs typeface="Calibri"/>
              <a:sym typeface="Calibri"/>
            </a:endParaRPr>
          </a:p>
        </p:txBody>
      </p:sp>
      <p:sp>
        <p:nvSpPr>
          <p:cNvPr id="1083" name="Google Shape;1083;p18"/>
          <p:cNvSpPr/>
          <p:nvPr/>
        </p:nvSpPr>
        <p:spPr>
          <a:xfrm>
            <a:off x="7132320" y="3867912"/>
            <a:ext cx="960120" cy="219456"/>
          </a:xfrm>
          <a:prstGeom prst="rect">
            <a:avLst/>
          </a:prstGeom>
          <a:solidFill>
            <a:srgbClr val="E7F0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8"/>
          <p:cNvSpPr/>
          <p:nvPr/>
        </p:nvSpPr>
        <p:spPr>
          <a:xfrm>
            <a:off x="7132320" y="386791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68</a:t>
            </a:r>
            <a:endParaRPr b="0" i="0" sz="760" u="none" cap="none" strike="noStrike">
              <a:solidFill>
                <a:schemeClr val="dk1"/>
              </a:solidFill>
              <a:latin typeface="Calibri"/>
              <a:ea typeface="Calibri"/>
              <a:cs typeface="Calibri"/>
              <a:sym typeface="Calibri"/>
            </a:endParaRPr>
          </a:p>
        </p:txBody>
      </p:sp>
      <p:sp>
        <p:nvSpPr>
          <p:cNvPr id="1085" name="Google Shape;1085;p18"/>
          <p:cNvSpPr/>
          <p:nvPr/>
        </p:nvSpPr>
        <p:spPr>
          <a:xfrm>
            <a:off x="8129016" y="3867912"/>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8"/>
          <p:cNvSpPr/>
          <p:nvPr/>
        </p:nvSpPr>
        <p:spPr>
          <a:xfrm>
            <a:off x="8129016" y="386791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55</a:t>
            </a:r>
            <a:endParaRPr b="0" i="0" sz="760" u="none" cap="none" strike="noStrike">
              <a:solidFill>
                <a:schemeClr val="dk1"/>
              </a:solidFill>
              <a:latin typeface="Calibri"/>
              <a:ea typeface="Calibri"/>
              <a:cs typeface="Calibri"/>
              <a:sym typeface="Calibri"/>
            </a:endParaRPr>
          </a:p>
        </p:txBody>
      </p:sp>
      <p:sp>
        <p:nvSpPr>
          <p:cNvPr id="1087" name="Google Shape;1087;p18"/>
          <p:cNvSpPr/>
          <p:nvPr/>
        </p:nvSpPr>
        <p:spPr>
          <a:xfrm>
            <a:off x="9125712" y="3867912"/>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8"/>
          <p:cNvSpPr/>
          <p:nvPr/>
        </p:nvSpPr>
        <p:spPr>
          <a:xfrm>
            <a:off x="9125712" y="386791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52</a:t>
            </a:r>
            <a:endParaRPr b="0" i="0" sz="760" u="none" cap="none" strike="noStrike">
              <a:solidFill>
                <a:schemeClr val="dk1"/>
              </a:solidFill>
              <a:latin typeface="Calibri"/>
              <a:ea typeface="Calibri"/>
              <a:cs typeface="Calibri"/>
              <a:sym typeface="Calibri"/>
            </a:endParaRPr>
          </a:p>
        </p:txBody>
      </p:sp>
      <p:sp>
        <p:nvSpPr>
          <p:cNvPr id="1089" name="Google Shape;1089;p18"/>
          <p:cNvSpPr/>
          <p:nvPr/>
        </p:nvSpPr>
        <p:spPr>
          <a:xfrm>
            <a:off x="10122408" y="3867912"/>
            <a:ext cx="960120" cy="219456"/>
          </a:xfrm>
          <a:prstGeom prst="rect">
            <a:avLst/>
          </a:prstGeom>
          <a:solidFill>
            <a:srgbClr val="6AA55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8"/>
          <p:cNvSpPr/>
          <p:nvPr/>
        </p:nvSpPr>
        <p:spPr>
          <a:xfrm>
            <a:off x="10122408" y="3867912"/>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68</a:t>
            </a:r>
            <a:endParaRPr b="0" i="0" sz="760" u="none" cap="none" strike="noStrike">
              <a:solidFill>
                <a:schemeClr val="dk1"/>
              </a:solidFill>
              <a:latin typeface="Calibri"/>
              <a:ea typeface="Calibri"/>
              <a:cs typeface="Calibri"/>
              <a:sym typeface="Calibri"/>
            </a:endParaRPr>
          </a:p>
        </p:txBody>
      </p:sp>
      <p:sp>
        <p:nvSpPr>
          <p:cNvPr id="1091" name="Google Shape;1091;p18"/>
          <p:cNvSpPr/>
          <p:nvPr/>
        </p:nvSpPr>
        <p:spPr>
          <a:xfrm>
            <a:off x="758952" y="4105656"/>
            <a:ext cx="131673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Books invoices</a:t>
            </a:r>
            <a:endParaRPr b="0" i="0" sz="780" u="none" cap="none" strike="noStrike">
              <a:solidFill>
                <a:schemeClr val="dk1"/>
              </a:solidFill>
              <a:latin typeface="Calibri"/>
              <a:ea typeface="Calibri"/>
              <a:cs typeface="Calibri"/>
              <a:sym typeface="Calibri"/>
            </a:endParaRPr>
          </a:p>
        </p:txBody>
      </p:sp>
      <p:sp>
        <p:nvSpPr>
          <p:cNvPr id="1092" name="Google Shape;1092;p18"/>
          <p:cNvSpPr/>
          <p:nvPr/>
        </p:nvSpPr>
        <p:spPr>
          <a:xfrm>
            <a:off x="2148840" y="4123944"/>
            <a:ext cx="960120" cy="219456"/>
          </a:xfrm>
          <a:prstGeom prst="rect">
            <a:avLst/>
          </a:prstGeom>
          <a:solidFill>
            <a:srgbClr val="DCEEE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8"/>
          <p:cNvSpPr/>
          <p:nvPr/>
        </p:nvSpPr>
        <p:spPr>
          <a:xfrm>
            <a:off x="2148840" y="412394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84</a:t>
            </a:r>
            <a:endParaRPr b="0" i="0" sz="760" u="none" cap="none" strike="noStrike">
              <a:solidFill>
                <a:schemeClr val="dk1"/>
              </a:solidFill>
              <a:latin typeface="Calibri"/>
              <a:ea typeface="Calibri"/>
              <a:cs typeface="Calibri"/>
              <a:sym typeface="Calibri"/>
            </a:endParaRPr>
          </a:p>
        </p:txBody>
      </p:sp>
      <p:sp>
        <p:nvSpPr>
          <p:cNvPr id="1094" name="Google Shape;1094;p18"/>
          <p:cNvSpPr/>
          <p:nvPr/>
        </p:nvSpPr>
        <p:spPr>
          <a:xfrm>
            <a:off x="3145536" y="4123944"/>
            <a:ext cx="960120" cy="219456"/>
          </a:xfrm>
          <a:prstGeom prst="rect">
            <a:avLst/>
          </a:prstGeom>
          <a:solidFill>
            <a:srgbClr val="DCEEE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8"/>
          <p:cNvSpPr/>
          <p:nvPr/>
        </p:nvSpPr>
        <p:spPr>
          <a:xfrm>
            <a:off x="3145536" y="412394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91</a:t>
            </a:r>
            <a:endParaRPr b="0" i="0" sz="760" u="none" cap="none" strike="noStrike">
              <a:solidFill>
                <a:schemeClr val="dk1"/>
              </a:solidFill>
              <a:latin typeface="Calibri"/>
              <a:ea typeface="Calibri"/>
              <a:cs typeface="Calibri"/>
              <a:sym typeface="Calibri"/>
            </a:endParaRPr>
          </a:p>
        </p:txBody>
      </p:sp>
      <p:sp>
        <p:nvSpPr>
          <p:cNvPr id="1096" name="Google Shape;1096;p18"/>
          <p:cNvSpPr/>
          <p:nvPr/>
        </p:nvSpPr>
        <p:spPr>
          <a:xfrm>
            <a:off x="4142232" y="4123944"/>
            <a:ext cx="960120" cy="219456"/>
          </a:xfrm>
          <a:prstGeom prst="rect">
            <a:avLst/>
          </a:prstGeom>
          <a:solidFill>
            <a:srgbClr val="DCEEE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8"/>
          <p:cNvSpPr/>
          <p:nvPr/>
        </p:nvSpPr>
        <p:spPr>
          <a:xfrm>
            <a:off x="4142232" y="412394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88</a:t>
            </a:r>
            <a:endParaRPr b="0" i="0" sz="760" u="none" cap="none" strike="noStrike">
              <a:solidFill>
                <a:schemeClr val="dk1"/>
              </a:solidFill>
              <a:latin typeface="Calibri"/>
              <a:ea typeface="Calibri"/>
              <a:cs typeface="Calibri"/>
              <a:sym typeface="Calibri"/>
            </a:endParaRPr>
          </a:p>
        </p:txBody>
      </p:sp>
      <p:sp>
        <p:nvSpPr>
          <p:cNvPr id="1098" name="Google Shape;1098;p18"/>
          <p:cNvSpPr/>
          <p:nvPr/>
        </p:nvSpPr>
        <p:spPr>
          <a:xfrm>
            <a:off x="5138928" y="4123944"/>
            <a:ext cx="960120" cy="219456"/>
          </a:xfrm>
          <a:prstGeom prst="rect">
            <a:avLst/>
          </a:prstGeom>
          <a:solidFill>
            <a:srgbClr val="DCEEE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8"/>
          <p:cNvSpPr/>
          <p:nvPr/>
        </p:nvSpPr>
        <p:spPr>
          <a:xfrm>
            <a:off x="5138928" y="412394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82</a:t>
            </a:r>
            <a:endParaRPr b="0" i="0" sz="760" u="none" cap="none" strike="noStrike">
              <a:solidFill>
                <a:schemeClr val="dk1"/>
              </a:solidFill>
              <a:latin typeface="Calibri"/>
              <a:ea typeface="Calibri"/>
              <a:cs typeface="Calibri"/>
              <a:sym typeface="Calibri"/>
            </a:endParaRPr>
          </a:p>
        </p:txBody>
      </p:sp>
      <p:sp>
        <p:nvSpPr>
          <p:cNvPr id="1100" name="Google Shape;1100;p18"/>
          <p:cNvSpPr/>
          <p:nvPr/>
        </p:nvSpPr>
        <p:spPr>
          <a:xfrm>
            <a:off x="6135624" y="4123944"/>
            <a:ext cx="960120" cy="219456"/>
          </a:xfrm>
          <a:prstGeom prst="rect">
            <a:avLst/>
          </a:prstGeom>
          <a:solidFill>
            <a:srgbClr val="E7F0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8"/>
          <p:cNvSpPr/>
          <p:nvPr/>
        </p:nvSpPr>
        <p:spPr>
          <a:xfrm>
            <a:off x="6135624" y="412394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74</a:t>
            </a:r>
            <a:endParaRPr b="0" i="0" sz="760" u="none" cap="none" strike="noStrike">
              <a:solidFill>
                <a:schemeClr val="dk1"/>
              </a:solidFill>
              <a:latin typeface="Calibri"/>
              <a:ea typeface="Calibri"/>
              <a:cs typeface="Calibri"/>
              <a:sym typeface="Calibri"/>
            </a:endParaRPr>
          </a:p>
        </p:txBody>
      </p:sp>
      <p:sp>
        <p:nvSpPr>
          <p:cNvPr id="1102" name="Google Shape;1102;p18"/>
          <p:cNvSpPr/>
          <p:nvPr/>
        </p:nvSpPr>
        <p:spPr>
          <a:xfrm>
            <a:off x="7132320" y="4123944"/>
            <a:ext cx="960120" cy="219456"/>
          </a:xfrm>
          <a:prstGeom prst="rect">
            <a:avLst/>
          </a:prstGeom>
          <a:solidFill>
            <a:srgbClr val="DCEEE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8"/>
          <p:cNvSpPr/>
          <p:nvPr/>
        </p:nvSpPr>
        <p:spPr>
          <a:xfrm>
            <a:off x="7132320" y="412394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81</a:t>
            </a:r>
            <a:endParaRPr b="0" i="0" sz="760" u="none" cap="none" strike="noStrike">
              <a:solidFill>
                <a:schemeClr val="dk1"/>
              </a:solidFill>
              <a:latin typeface="Calibri"/>
              <a:ea typeface="Calibri"/>
              <a:cs typeface="Calibri"/>
              <a:sym typeface="Calibri"/>
            </a:endParaRPr>
          </a:p>
        </p:txBody>
      </p:sp>
      <p:sp>
        <p:nvSpPr>
          <p:cNvPr id="1104" name="Google Shape;1104;p18"/>
          <p:cNvSpPr/>
          <p:nvPr/>
        </p:nvSpPr>
        <p:spPr>
          <a:xfrm>
            <a:off x="8129016" y="4123944"/>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8"/>
          <p:cNvSpPr/>
          <p:nvPr/>
        </p:nvSpPr>
        <p:spPr>
          <a:xfrm>
            <a:off x="8129016" y="412394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62</a:t>
            </a:r>
            <a:endParaRPr b="0" i="0" sz="760" u="none" cap="none" strike="noStrike">
              <a:solidFill>
                <a:schemeClr val="dk1"/>
              </a:solidFill>
              <a:latin typeface="Calibri"/>
              <a:ea typeface="Calibri"/>
              <a:cs typeface="Calibri"/>
              <a:sym typeface="Calibri"/>
            </a:endParaRPr>
          </a:p>
        </p:txBody>
      </p:sp>
      <p:sp>
        <p:nvSpPr>
          <p:cNvPr id="1106" name="Google Shape;1106;p18"/>
          <p:cNvSpPr/>
          <p:nvPr/>
        </p:nvSpPr>
        <p:spPr>
          <a:xfrm>
            <a:off x="9125712" y="4123944"/>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8"/>
          <p:cNvSpPr/>
          <p:nvPr/>
        </p:nvSpPr>
        <p:spPr>
          <a:xfrm>
            <a:off x="9125712" y="412394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58</a:t>
            </a:r>
            <a:endParaRPr b="0" i="0" sz="760" u="none" cap="none" strike="noStrike">
              <a:solidFill>
                <a:schemeClr val="dk1"/>
              </a:solidFill>
              <a:latin typeface="Calibri"/>
              <a:ea typeface="Calibri"/>
              <a:cs typeface="Calibri"/>
              <a:sym typeface="Calibri"/>
            </a:endParaRPr>
          </a:p>
        </p:txBody>
      </p:sp>
      <p:sp>
        <p:nvSpPr>
          <p:cNvPr id="1108" name="Google Shape;1108;p18"/>
          <p:cNvSpPr/>
          <p:nvPr/>
        </p:nvSpPr>
        <p:spPr>
          <a:xfrm>
            <a:off x="10122408" y="4123944"/>
            <a:ext cx="960120" cy="219456"/>
          </a:xfrm>
          <a:prstGeom prst="rect">
            <a:avLst/>
          </a:prstGeom>
          <a:solidFill>
            <a:srgbClr val="2E8B5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8"/>
          <p:cNvSpPr/>
          <p:nvPr/>
        </p:nvSpPr>
        <p:spPr>
          <a:xfrm>
            <a:off x="10122408" y="4123944"/>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81</a:t>
            </a:r>
            <a:endParaRPr b="0" i="0" sz="760" u="none" cap="none" strike="noStrike">
              <a:solidFill>
                <a:schemeClr val="dk1"/>
              </a:solidFill>
              <a:latin typeface="Calibri"/>
              <a:ea typeface="Calibri"/>
              <a:cs typeface="Calibri"/>
              <a:sym typeface="Calibri"/>
            </a:endParaRPr>
          </a:p>
        </p:txBody>
      </p:sp>
      <p:sp>
        <p:nvSpPr>
          <p:cNvPr id="1110" name="Google Shape;1110;p18"/>
          <p:cNvSpPr/>
          <p:nvPr/>
        </p:nvSpPr>
        <p:spPr>
          <a:xfrm>
            <a:off x="758952" y="4361688"/>
            <a:ext cx="131673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Creator apps</a:t>
            </a:r>
            <a:endParaRPr b="0" i="0" sz="780" u="none" cap="none" strike="noStrike">
              <a:solidFill>
                <a:schemeClr val="dk1"/>
              </a:solidFill>
              <a:latin typeface="Calibri"/>
              <a:ea typeface="Calibri"/>
              <a:cs typeface="Calibri"/>
              <a:sym typeface="Calibri"/>
            </a:endParaRPr>
          </a:p>
        </p:txBody>
      </p:sp>
      <p:sp>
        <p:nvSpPr>
          <p:cNvPr id="1111" name="Google Shape;1111;p18"/>
          <p:cNvSpPr/>
          <p:nvPr/>
        </p:nvSpPr>
        <p:spPr>
          <a:xfrm>
            <a:off x="2148840" y="4379976"/>
            <a:ext cx="960120" cy="219456"/>
          </a:xfrm>
          <a:prstGeom prst="rect">
            <a:avLst/>
          </a:prstGeom>
          <a:solidFill>
            <a:srgbClr val="FBEED5"/>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8"/>
          <p:cNvSpPr/>
          <p:nvPr/>
        </p:nvSpPr>
        <p:spPr>
          <a:xfrm>
            <a:off x="2148840" y="437997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52</a:t>
            </a:r>
            <a:endParaRPr b="0" i="0" sz="760" u="none" cap="none" strike="noStrike">
              <a:solidFill>
                <a:schemeClr val="dk1"/>
              </a:solidFill>
              <a:latin typeface="Calibri"/>
              <a:ea typeface="Calibri"/>
              <a:cs typeface="Calibri"/>
              <a:sym typeface="Calibri"/>
            </a:endParaRPr>
          </a:p>
        </p:txBody>
      </p:sp>
      <p:sp>
        <p:nvSpPr>
          <p:cNvPr id="1113" name="Google Shape;1113;p18"/>
          <p:cNvSpPr/>
          <p:nvPr/>
        </p:nvSpPr>
        <p:spPr>
          <a:xfrm>
            <a:off x="3145536" y="4379976"/>
            <a:ext cx="960120" cy="219456"/>
          </a:xfrm>
          <a:prstGeom prst="rect">
            <a:avLst/>
          </a:prstGeom>
          <a:solidFill>
            <a:srgbClr val="F2F4F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8"/>
          <p:cNvSpPr/>
          <p:nvPr/>
        </p:nvSpPr>
        <p:spPr>
          <a:xfrm>
            <a:off x="4142232" y="4379976"/>
            <a:ext cx="960120" cy="219456"/>
          </a:xfrm>
          <a:prstGeom prst="rect">
            <a:avLst/>
          </a:prstGeom>
          <a:solidFill>
            <a:srgbClr val="E7F0D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8"/>
          <p:cNvSpPr/>
          <p:nvPr/>
        </p:nvSpPr>
        <p:spPr>
          <a:xfrm>
            <a:off x="4142232" y="437997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66</a:t>
            </a:r>
            <a:endParaRPr b="0" i="0" sz="760" u="none" cap="none" strike="noStrike">
              <a:solidFill>
                <a:schemeClr val="dk1"/>
              </a:solidFill>
              <a:latin typeface="Calibri"/>
              <a:ea typeface="Calibri"/>
              <a:cs typeface="Calibri"/>
              <a:sym typeface="Calibri"/>
            </a:endParaRPr>
          </a:p>
        </p:txBody>
      </p:sp>
      <p:sp>
        <p:nvSpPr>
          <p:cNvPr id="1116" name="Google Shape;1116;p18"/>
          <p:cNvSpPr/>
          <p:nvPr/>
        </p:nvSpPr>
        <p:spPr>
          <a:xfrm>
            <a:off x="5138928" y="4379976"/>
            <a:ext cx="960120" cy="219456"/>
          </a:xfrm>
          <a:prstGeom prst="rect">
            <a:avLst/>
          </a:prstGeom>
          <a:solidFill>
            <a:srgbClr val="F2F4F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8"/>
          <p:cNvSpPr/>
          <p:nvPr/>
        </p:nvSpPr>
        <p:spPr>
          <a:xfrm>
            <a:off x="6135624" y="4379976"/>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8"/>
          <p:cNvSpPr/>
          <p:nvPr/>
        </p:nvSpPr>
        <p:spPr>
          <a:xfrm>
            <a:off x="6135624" y="437997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48</a:t>
            </a:r>
            <a:endParaRPr b="0" i="0" sz="760" u="none" cap="none" strike="noStrike">
              <a:solidFill>
                <a:schemeClr val="dk1"/>
              </a:solidFill>
              <a:latin typeface="Calibri"/>
              <a:ea typeface="Calibri"/>
              <a:cs typeface="Calibri"/>
              <a:sym typeface="Calibri"/>
            </a:endParaRPr>
          </a:p>
        </p:txBody>
      </p:sp>
      <p:sp>
        <p:nvSpPr>
          <p:cNvPr id="1119" name="Google Shape;1119;p18"/>
          <p:cNvSpPr/>
          <p:nvPr/>
        </p:nvSpPr>
        <p:spPr>
          <a:xfrm>
            <a:off x="7132320" y="4379976"/>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8"/>
          <p:cNvSpPr/>
          <p:nvPr/>
        </p:nvSpPr>
        <p:spPr>
          <a:xfrm>
            <a:off x="7132320" y="437997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44</a:t>
            </a:r>
            <a:endParaRPr b="0" i="0" sz="760" u="none" cap="none" strike="noStrike">
              <a:solidFill>
                <a:schemeClr val="dk1"/>
              </a:solidFill>
              <a:latin typeface="Calibri"/>
              <a:ea typeface="Calibri"/>
              <a:cs typeface="Calibri"/>
              <a:sym typeface="Calibri"/>
            </a:endParaRPr>
          </a:p>
        </p:txBody>
      </p:sp>
      <p:sp>
        <p:nvSpPr>
          <p:cNvPr id="1121" name="Google Shape;1121;p18"/>
          <p:cNvSpPr/>
          <p:nvPr/>
        </p:nvSpPr>
        <p:spPr>
          <a:xfrm>
            <a:off x="8129016" y="4379976"/>
            <a:ext cx="960120" cy="219456"/>
          </a:xfrm>
          <a:prstGeom prst="rect">
            <a:avLst/>
          </a:prstGeom>
          <a:solidFill>
            <a:srgbClr val="F5D9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8"/>
          <p:cNvSpPr/>
          <p:nvPr/>
        </p:nvSpPr>
        <p:spPr>
          <a:xfrm>
            <a:off x="8129016" y="437997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34</a:t>
            </a:r>
            <a:endParaRPr b="0" i="0" sz="760" u="none" cap="none" strike="noStrike">
              <a:solidFill>
                <a:schemeClr val="dk1"/>
              </a:solidFill>
              <a:latin typeface="Calibri"/>
              <a:ea typeface="Calibri"/>
              <a:cs typeface="Calibri"/>
              <a:sym typeface="Calibri"/>
            </a:endParaRPr>
          </a:p>
        </p:txBody>
      </p:sp>
      <p:sp>
        <p:nvSpPr>
          <p:cNvPr id="1123" name="Google Shape;1123;p18"/>
          <p:cNvSpPr/>
          <p:nvPr/>
        </p:nvSpPr>
        <p:spPr>
          <a:xfrm>
            <a:off x="9125712" y="4379976"/>
            <a:ext cx="960120" cy="219456"/>
          </a:xfrm>
          <a:prstGeom prst="rect">
            <a:avLst/>
          </a:prstGeom>
          <a:solidFill>
            <a:srgbClr val="F8E0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8"/>
          <p:cNvSpPr/>
          <p:nvPr/>
        </p:nvSpPr>
        <p:spPr>
          <a:xfrm>
            <a:off x="9125712" y="437997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3038"/>
              </a:buClr>
              <a:buSzPts val="760"/>
              <a:buFont typeface="Calibri"/>
              <a:buNone/>
            </a:pPr>
            <a:r>
              <a:rPr b="1" i="0" lang="en-US" sz="760" u="none" cap="none" strike="noStrike">
                <a:solidFill>
                  <a:srgbClr val="2B3038"/>
                </a:solidFill>
                <a:latin typeface="Calibri"/>
                <a:ea typeface="Calibri"/>
                <a:cs typeface="Calibri"/>
                <a:sym typeface="Calibri"/>
              </a:rPr>
              <a:t>39</a:t>
            </a:r>
            <a:endParaRPr b="0" i="0" sz="760" u="none" cap="none" strike="noStrike">
              <a:solidFill>
                <a:schemeClr val="dk1"/>
              </a:solidFill>
              <a:latin typeface="Calibri"/>
              <a:ea typeface="Calibri"/>
              <a:cs typeface="Calibri"/>
              <a:sym typeface="Calibri"/>
            </a:endParaRPr>
          </a:p>
        </p:txBody>
      </p:sp>
      <p:sp>
        <p:nvSpPr>
          <p:cNvPr id="1125" name="Google Shape;1125;p18"/>
          <p:cNvSpPr/>
          <p:nvPr/>
        </p:nvSpPr>
        <p:spPr>
          <a:xfrm>
            <a:off x="10122408" y="4379976"/>
            <a:ext cx="960120" cy="219456"/>
          </a:xfrm>
          <a:prstGeom prst="rect">
            <a:avLst/>
          </a:prstGeom>
          <a:solidFill>
            <a:srgbClr val="D1603D"/>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8"/>
          <p:cNvSpPr/>
          <p:nvPr/>
        </p:nvSpPr>
        <p:spPr>
          <a:xfrm>
            <a:off x="10122408" y="4379976"/>
            <a:ext cx="9601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47</a:t>
            </a:r>
            <a:endParaRPr b="0" i="0" sz="760" u="none" cap="none" strike="noStrike">
              <a:solidFill>
                <a:schemeClr val="dk1"/>
              </a:solidFill>
              <a:latin typeface="Calibri"/>
              <a:ea typeface="Calibri"/>
              <a:cs typeface="Calibri"/>
              <a:sym typeface="Calibri"/>
            </a:endParaRPr>
          </a:p>
        </p:txBody>
      </p:sp>
      <p:sp>
        <p:nvSpPr>
          <p:cNvPr id="1127" name="Google Shape;1127;p18"/>
          <p:cNvSpPr/>
          <p:nvPr/>
        </p:nvSpPr>
        <p:spPr>
          <a:xfrm>
            <a:off x="758952" y="4709160"/>
            <a:ext cx="10673791" cy="512064"/>
          </a:xfrm>
          <a:prstGeom prst="rect">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8"/>
          <p:cNvSpPr/>
          <p:nvPr/>
        </p:nvSpPr>
        <p:spPr>
          <a:xfrm>
            <a:off x="886968" y="4754880"/>
            <a:ext cx="1033272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2A30"/>
              </a:buClr>
              <a:buSzPts val="839"/>
              <a:buFont typeface="Calibri"/>
              <a:buNone/>
            </a:pPr>
            <a:r>
              <a:rPr b="1" i="0" lang="en-US" sz="840" u="none" cap="none" strike="noStrike">
                <a:solidFill>
                  <a:srgbClr val="062A30"/>
                </a:solidFill>
                <a:latin typeface="Calibri"/>
                <a:ea typeface="Calibri"/>
                <a:cs typeface="Calibri"/>
                <a:sym typeface="Calibri"/>
              </a:rPr>
              <a:t>Worst cell: Vendors against Duplication at 22. 212 vendor records, 46 confirmed duplicate clusters, three of them with different bank details on each copy.</a:t>
            </a:r>
            <a:endParaRPr b="0" i="0" sz="840" u="none" cap="none" strike="noStrike">
              <a:solidFill>
                <a:schemeClr val="dk1"/>
              </a:solidFill>
              <a:latin typeface="Calibri"/>
              <a:ea typeface="Calibri"/>
              <a:cs typeface="Calibri"/>
              <a:sym typeface="Calibri"/>
            </a:endParaRPr>
          </a:p>
        </p:txBody>
      </p:sp>
      <p:sp>
        <p:nvSpPr>
          <p:cNvPr id="1129" name="Google Shape;1129;p18"/>
          <p:cNvSpPr/>
          <p:nvPr/>
        </p:nvSpPr>
        <p:spPr>
          <a:xfrm>
            <a:off x="886968" y="4965192"/>
            <a:ext cx="1033272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800"/>
              <a:buFont typeface="Calibri"/>
              <a:buNone/>
            </a:pPr>
            <a:r>
              <a:rPr b="0" i="0" lang="en-US" sz="800" u="none" cap="none" strike="noStrike">
                <a:solidFill>
                  <a:srgbClr val="4B535C"/>
                </a:solidFill>
                <a:latin typeface="Calibri"/>
                <a:ea typeface="Calibri"/>
                <a:cs typeface="Calibri"/>
                <a:sym typeface="Calibri"/>
              </a:rPr>
              <a:t>Second: Leads against Duplication at 28, driven by a campaign import in June that ran with no duplicate check. Books invoices at 81 shows what good looks like inside their own org, which removes the it is not possible here objection.</a:t>
            </a:r>
            <a:endParaRPr b="0" i="0" sz="800" u="none" cap="none" strike="noStrike">
              <a:solidFill>
                <a:schemeClr val="dk1"/>
              </a:solidFill>
              <a:latin typeface="Calibri"/>
              <a:ea typeface="Calibri"/>
              <a:cs typeface="Calibri"/>
              <a:sym typeface="Calibri"/>
            </a:endParaRPr>
          </a:p>
        </p:txBody>
      </p:sp>
      <p:sp>
        <p:nvSpPr>
          <p:cNvPr id="1130" name="Google Shape;1130;p18"/>
          <p:cNvSpPr/>
          <p:nvPr/>
        </p:nvSpPr>
        <p:spPr>
          <a:xfrm>
            <a:off x="566928" y="5440680"/>
            <a:ext cx="3564026" cy="804672"/>
          </a:xfrm>
          <a:prstGeom prst="roundRect">
            <a:avLst>
              <a:gd fmla="val 7955"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8"/>
          <p:cNvSpPr/>
          <p:nvPr/>
        </p:nvSpPr>
        <p:spPr>
          <a:xfrm>
            <a:off x="694944" y="5486400"/>
            <a:ext cx="330799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2A30"/>
              </a:buClr>
              <a:buSzPts val="1050"/>
              <a:buFont typeface="Cambria"/>
              <a:buNone/>
            </a:pPr>
            <a:r>
              <a:rPr b="1" i="0" lang="en-US" sz="1050" u="none" cap="none" strike="noStrike">
                <a:solidFill>
                  <a:srgbClr val="062A30"/>
                </a:solidFill>
                <a:latin typeface="Cambria"/>
                <a:ea typeface="Cambria"/>
                <a:cs typeface="Cambria"/>
                <a:sym typeface="Cambria"/>
              </a:rPr>
              <a:t>Stage aware, or it is noise</a:t>
            </a:r>
            <a:endParaRPr b="0" i="0" sz="1050" u="none" cap="none" strike="noStrike">
              <a:solidFill>
                <a:schemeClr val="dk1"/>
              </a:solidFill>
              <a:latin typeface="Calibri"/>
              <a:ea typeface="Calibri"/>
              <a:cs typeface="Calibri"/>
              <a:sym typeface="Calibri"/>
            </a:endParaRPr>
          </a:p>
        </p:txBody>
      </p:sp>
      <p:sp>
        <p:nvSpPr>
          <p:cNvPr id="1132" name="Google Shape;1132;p18"/>
          <p:cNvSpPr/>
          <p:nvPr/>
        </p:nvSpPr>
        <p:spPr>
          <a:xfrm>
            <a:off x="694944" y="5687568"/>
            <a:ext cx="3307994" cy="51206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A Lead at New is not judged by the completeness bar set for a Lead at Qualified. Turn stage awareness off and every module drops fifteen points and the client stops believing the screen.</a:t>
            </a:r>
            <a:endParaRPr b="0" i="0" sz="880" u="none" cap="none" strike="noStrike">
              <a:solidFill>
                <a:schemeClr val="dk1"/>
              </a:solidFill>
              <a:latin typeface="Calibri"/>
              <a:ea typeface="Calibri"/>
              <a:cs typeface="Calibri"/>
              <a:sym typeface="Calibri"/>
            </a:endParaRPr>
          </a:p>
        </p:txBody>
      </p:sp>
      <p:sp>
        <p:nvSpPr>
          <p:cNvPr id="1133" name="Google Shape;1133;p18"/>
          <p:cNvSpPr/>
          <p:nvPr/>
        </p:nvSpPr>
        <p:spPr>
          <a:xfrm>
            <a:off x="4313834" y="5440680"/>
            <a:ext cx="3564026" cy="804672"/>
          </a:xfrm>
          <a:prstGeom prst="roundRect">
            <a:avLst>
              <a:gd fmla="val 7955"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8"/>
          <p:cNvSpPr/>
          <p:nvPr/>
        </p:nvSpPr>
        <p:spPr>
          <a:xfrm>
            <a:off x="4441850" y="5486400"/>
            <a:ext cx="330799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2A30"/>
              </a:buClr>
              <a:buSzPts val="1050"/>
              <a:buFont typeface="Cambria"/>
              <a:buNone/>
            </a:pPr>
            <a:r>
              <a:rPr b="1" i="0" lang="en-US" sz="1050" u="none" cap="none" strike="noStrike">
                <a:solidFill>
                  <a:srgbClr val="062A30"/>
                </a:solidFill>
                <a:latin typeface="Cambria"/>
                <a:ea typeface="Cambria"/>
                <a:cs typeface="Cambria"/>
                <a:sym typeface="Cambria"/>
              </a:rPr>
              <a:t>Not applicable is not zero</a:t>
            </a:r>
            <a:endParaRPr b="0" i="0" sz="1050" u="none" cap="none" strike="noStrike">
              <a:solidFill>
                <a:schemeClr val="dk1"/>
              </a:solidFill>
              <a:latin typeface="Calibri"/>
              <a:ea typeface="Calibri"/>
              <a:cs typeface="Calibri"/>
              <a:sym typeface="Calibri"/>
            </a:endParaRPr>
          </a:p>
        </p:txBody>
      </p:sp>
      <p:sp>
        <p:nvSpPr>
          <p:cNvPr id="1135" name="Google Shape;1135;p18"/>
          <p:cNvSpPr/>
          <p:nvPr/>
        </p:nvSpPr>
        <p:spPr>
          <a:xfrm>
            <a:off x="4441850" y="5687568"/>
            <a:ext cx="3307994" cy="51206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A domain that does not apply to a module is excluded from that module's roll up. Scoring it zero would punish a client for a rule that was never relevant.</a:t>
            </a:r>
            <a:endParaRPr b="0" i="0" sz="880" u="none" cap="none" strike="noStrike">
              <a:solidFill>
                <a:schemeClr val="dk1"/>
              </a:solidFill>
              <a:latin typeface="Calibri"/>
              <a:ea typeface="Calibri"/>
              <a:cs typeface="Calibri"/>
              <a:sym typeface="Calibri"/>
            </a:endParaRPr>
          </a:p>
        </p:txBody>
      </p:sp>
      <p:sp>
        <p:nvSpPr>
          <p:cNvPr id="1136" name="Google Shape;1136;p18"/>
          <p:cNvSpPr/>
          <p:nvPr/>
        </p:nvSpPr>
        <p:spPr>
          <a:xfrm>
            <a:off x="8060741" y="5440680"/>
            <a:ext cx="3564026" cy="804672"/>
          </a:xfrm>
          <a:prstGeom prst="roundRect">
            <a:avLst>
              <a:gd fmla="val 7955"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8"/>
          <p:cNvSpPr/>
          <p:nvPr/>
        </p:nvSpPr>
        <p:spPr>
          <a:xfrm>
            <a:off x="8188757" y="5486400"/>
            <a:ext cx="330799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2A30"/>
              </a:buClr>
              <a:buSzPts val="1050"/>
              <a:buFont typeface="Cambria"/>
              <a:buNone/>
            </a:pPr>
            <a:r>
              <a:rPr b="1" i="0" lang="en-US" sz="1050" u="none" cap="none" strike="noStrike">
                <a:solidFill>
                  <a:srgbClr val="062A30"/>
                </a:solidFill>
                <a:latin typeface="Cambria"/>
                <a:ea typeface="Cambria"/>
                <a:cs typeface="Cambria"/>
                <a:sym typeface="Cambria"/>
              </a:rPr>
              <a:t>One cell is the whole meeting</a:t>
            </a:r>
            <a:endParaRPr b="0" i="0" sz="1050" u="none" cap="none" strike="noStrike">
              <a:solidFill>
                <a:schemeClr val="dk1"/>
              </a:solidFill>
              <a:latin typeface="Calibri"/>
              <a:ea typeface="Calibri"/>
              <a:cs typeface="Calibri"/>
              <a:sym typeface="Calibri"/>
            </a:endParaRPr>
          </a:p>
        </p:txBody>
      </p:sp>
      <p:sp>
        <p:nvSpPr>
          <p:cNvPr id="1138" name="Google Shape;1138;p18"/>
          <p:cNvSpPr/>
          <p:nvPr/>
        </p:nvSpPr>
        <p:spPr>
          <a:xfrm>
            <a:off x="8188757" y="5687568"/>
            <a:ext cx="3307994" cy="51206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Nobody argues with the org score once they have found their own worst cell. The matrix moves the conversation from whether there is a problem to which one we fix first.</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3" name="Shape 1143"/>
        <p:cNvGrpSpPr/>
        <p:nvPr/>
      </p:nvGrpSpPr>
      <p:grpSpPr>
        <a:xfrm>
          <a:off x="0" y="0"/>
          <a:ext cx="0" cy="0"/>
          <a:chOff x="0" y="0"/>
          <a:chExt cx="0" cy="0"/>
        </a:xfrm>
      </p:grpSpPr>
      <p:sp>
        <p:nvSpPr>
          <p:cNvPr id="1144" name="Google Shape;1144;p19"/>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Interface 5: time, frequency and cohorts</a:t>
            </a:r>
            <a:endParaRPr b="0" i="0" sz="3000" u="none" cap="none" strike="noStrike">
              <a:solidFill>
                <a:schemeClr val="dk1"/>
              </a:solidFill>
              <a:latin typeface="Calibri"/>
              <a:ea typeface="Calibri"/>
              <a:cs typeface="Calibri"/>
              <a:sym typeface="Calibri"/>
            </a:endParaRPr>
          </a:p>
        </p:txBody>
      </p:sp>
      <p:sp>
        <p:nvSpPr>
          <p:cNvPr id="1145" name="Google Shape;1145;p19"/>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Set any range, pick a clock, and watch whether the process is improving or only the cleanup was.</a:t>
            </a:r>
            <a:endParaRPr b="0" i="0" sz="1350" u="none" cap="none" strike="noStrike">
              <a:solidFill>
                <a:schemeClr val="dk1"/>
              </a:solidFill>
              <a:latin typeface="Calibri"/>
              <a:ea typeface="Calibri"/>
              <a:cs typeface="Calibri"/>
              <a:sym typeface="Calibri"/>
            </a:endParaRPr>
          </a:p>
        </p:txBody>
      </p:sp>
      <p:sp>
        <p:nvSpPr>
          <p:cNvPr id="1146" name="Google Shape;1146;p19"/>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147" name="Google Shape;1147;p19"/>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19</a:t>
            </a:r>
            <a:endParaRPr b="0" i="0" sz="950" u="none" cap="none" strike="noStrike">
              <a:solidFill>
                <a:schemeClr val="dk1"/>
              </a:solidFill>
              <a:latin typeface="Calibri"/>
              <a:ea typeface="Calibri"/>
              <a:cs typeface="Calibri"/>
              <a:sym typeface="Calibri"/>
            </a:endParaRPr>
          </a:p>
        </p:txBody>
      </p:sp>
      <p:sp>
        <p:nvSpPr>
          <p:cNvPr id="1148" name="Google Shape;1148;p19"/>
          <p:cNvSpPr/>
          <p:nvPr/>
        </p:nvSpPr>
        <p:spPr>
          <a:xfrm>
            <a:off x="566928" y="1481328"/>
            <a:ext cx="7726680" cy="4315968"/>
          </a:xfrm>
          <a:prstGeom prst="roundRect">
            <a:avLst>
              <a:gd fmla="val 1059" name="adj"/>
            </a:avLst>
          </a:prstGeom>
          <a:solidFill>
            <a:srgbClr val="FFFFFF"/>
          </a:solidFill>
          <a:ln cap="flat" cmpd="sng" w="12700">
            <a:solidFill>
              <a:srgbClr val="9AA3AD"/>
            </a:solidFill>
            <a:prstDash val="solid"/>
            <a:round/>
            <a:headEnd len="sm" w="sm" type="none"/>
            <a:tailEnd len="sm" w="sm" type="none"/>
          </a:ln>
          <a:effectLst>
            <a:outerShdw blurRad="1270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9"/>
          <p:cNvSpPr/>
          <p:nvPr/>
        </p:nvSpPr>
        <p:spPr>
          <a:xfrm>
            <a:off x="576072" y="1490472"/>
            <a:ext cx="7708392" cy="384048"/>
          </a:xfrm>
          <a:prstGeom prst="rect">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9"/>
          <p:cNvSpPr/>
          <p:nvPr/>
        </p:nvSpPr>
        <p:spPr>
          <a:xfrm>
            <a:off x="694944" y="1623060"/>
            <a:ext cx="100584" cy="100584"/>
          </a:xfrm>
          <a:prstGeom prst="ellipse">
            <a:avLst/>
          </a:prstGeom>
          <a:solidFill>
            <a:srgbClr val="E06C5A"/>
          </a:solidFill>
          <a:ln cap="flat" cmpd="sng" w="12700">
            <a:solidFill>
              <a:srgbClr val="E06C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9"/>
          <p:cNvSpPr/>
          <p:nvPr/>
        </p:nvSpPr>
        <p:spPr>
          <a:xfrm>
            <a:off x="850392" y="1623060"/>
            <a:ext cx="100584" cy="100584"/>
          </a:xfrm>
          <a:prstGeom prst="ellipse">
            <a:avLst/>
          </a:prstGeom>
          <a:solidFill>
            <a:srgbClr val="E0B84A"/>
          </a:solidFill>
          <a:ln cap="flat" cmpd="sng" w="12700">
            <a:solidFill>
              <a:srgbClr val="E0B8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9"/>
          <p:cNvSpPr/>
          <p:nvPr/>
        </p:nvSpPr>
        <p:spPr>
          <a:xfrm>
            <a:off x="1005840" y="1623060"/>
            <a:ext cx="100584" cy="100584"/>
          </a:xfrm>
          <a:prstGeom prst="ellipse">
            <a:avLst/>
          </a:prstGeom>
          <a:solidFill>
            <a:srgbClr val="5AB77A"/>
          </a:solidFill>
          <a:ln cap="flat" cmpd="sng" w="12700">
            <a:solidFill>
              <a:srgbClr val="5AB7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9"/>
          <p:cNvSpPr/>
          <p:nvPr/>
        </p:nvSpPr>
        <p:spPr>
          <a:xfrm>
            <a:off x="1225296" y="1508760"/>
            <a:ext cx="3108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FI Data Health Scanner  ·  Trend</a:t>
            </a:r>
            <a:endParaRPr b="0" i="0" sz="1050" u="none" cap="none" strike="noStrike">
              <a:solidFill>
                <a:schemeClr val="dk1"/>
              </a:solidFill>
              <a:latin typeface="Calibri"/>
              <a:ea typeface="Calibri"/>
              <a:cs typeface="Calibri"/>
              <a:sym typeface="Calibri"/>
            </a:endParaRPr>
          </a:p>
        </p:txBody>
      </p:sp>
      <p:sp>
        <p:nvSpPr>
          <p:cNvPr id="1154" name="Google Shape;1154;p19"/>
          <p:cNvSpPr/>
          <p:nvPr/>
        </p:nvSpPr>
        <p:spPr>
          <a:xfrm>
            <a:off x="7803490" y="1563624"/>
            <a:ext cx="343814"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9"/>
          <p:cNvSpPr/>
          <p:nvPr/>
        </p:nvSpPr>
        <p:spPr>
          <a:xfrm>
            <a:off x="7803490" y="1563624"/>
            <a:ext cx="343814"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Fix</a:t>
            </a:r>
            <a:endParaRPr b="0" i="0" sz="850" u="none" cap="none" strike="noStrike">
              <a:solidFill>
                <a:schemeClr val="dk1"/>
              </a:solidFill>
              <a:latin typeface="Calibri"/>
              <a:ea typeface="Calibri"/>
              <a:cs typeface="Calibri"/>
              <a:sym typeface="Calibri"/>
            </a:endParaRPr>
          </a:p>
        </p:txBody>
      </p:sp>
      <p:sp>
        <p:nvSpPr>
          <p:cNvPr id="1156" name="Google Shape;1156;p19"/>
          <p:cNvSpPr/>
          <p:nvPr/>
        </p:nvSpPr>
        <p:spPr>
          <a:xfrm>
            <a:off x="7123176" y="1563624"/>
            <a:ext cx="607162"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9"/>
          <p:cNvSpPr/>
          <p:nvPr/>
        </p:nvSpPr>
        <p:spPr>
          <a:xfrm>
            <a:off x="7123176" y="1563624"/>
            <a:ext cx="60716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Records</a:t>
            </a:r>
            <a:endParaRPr b="0" i="0" sz="850" u="none" cap="none" strike="noStrike">
              <a:solidFill>
                <a:schemeClr val="dk1"/>
              </a:solidFill>
              <a:latin typeface="Calibri"/>
              <a:ea typeface="Calibri"/>
              <a:cs typeface="Calibri"/>
              <a:sym typeface="Calibri"/>
            </a:endParaRPr>
          </a:p>
        </p:txBody>
      </p:sp>
      <p:sp>
        <p:nvSpPr>
          <p:cNvPr id="1158" name="Google Shape;1158;p19"/>
          <p:cNvSpPr/>
          <p:nvPr/>
        </p:nvSpPr>
        <p:spPr>
          <a:xfrm>
            <a:off x="6574536" y="1563624"/>
            <a:ext cx="475488" cy="228600"/>
          </a:xfrm>
          <a:prstGeom prst="roundRect">
            <a:avLst>
              <a:gd fmla="val 2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9"/>
          <p:cNvSpPr/>
          <p:nvPr/>
        </p:nvSpPr>
        <p:spPr>
          <a:xfrm>
            <a:off x="6574536" y="1563624"/>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Trend</a:t>
            </a:r>
            <a:endParaRPr b="0" i="0" sz="850" u="none" cap="none" strike="noStrike">
              <a:solidFill>
                <a:schemeClr val="dk1"/>
              </a:solidFill>
              <a:latin typeface="Calibri"/>
              <a:ea typeface="Calibri"/>
              <a:cs typeface="Calibri"/>
              <a:sym typeface="Calibri"/>
            </a:endParaRPr>
          </a:p>
        </p:txBody>
      </p:sp>
      <p:sp>
        <p:nvSpPr>
          <p:cNvPr id="1160" name="Google Shape;1160;p19"/>
          <p:cNvSpPr/>
          <p:nvPr/>
        </p:nvSpPr>
        <p:spPr>
          <a:xfrm>
            <a:off x="5894222" y="1563624"/>
            <a:ext cx="607162"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9"/>
          <p:cNvSpPr/>
          <p:nvPr/>
        </p:nvSpPr>
        <p:spPr>
          <a:xfrm>
            <a:off x="5894222" y="1563624"/>
            <a:ext cx="60716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Modules</a:t>
            </a:r>
            <a:endParaRPr b="0" i="0" sz="850" u="none" cap="none" strike="noStrike">
              <a:solidFill>
                <a:schemeClr val="dk1"/>
              </a:solidFill>
              <a:latin typeface="Calibri"/>
              <a:ea typeface="Calibri"/>
              <a:cs typeface="Calibri"/>
              <a:sym typeface="Calibri"/>
            </a:endParaRPr>
          </a:p>
        </p:txBody>
      </p:sp>
      <p:sp>
        <p:nvSpPr>
          <p:cNvPr id="1162" name="Google Shape;1162;p19"/>
          <p:cNvSpPr/>
          <p:nvPr/>
        </p:nvSpPr>
        <p:spPr>
          <a:xfrm>
            <a:off x="5345582" y="1563624"/>
            <a:ext cx="47548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9"/>
          <p:cNvSpPr/>
          <p:nvPr/>
        </p:nvSpPr>
        <p:spPr>
          <a:xfrm>
            <a:off x="5345582" y="1563624"/>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Users</a:t>
            </a:r>
            <a:endParaRPr b="0" i="0" sz="850" u="none" cap="none" strike="noStrike">
              <a:solidFill>
                <a:schemeClr val="dk1"/>
              </a:solidFill>
              <a:latin typeface="Calibri"/>
              <a:ea typeface="Calibri"/>
              <a:cs typeface="Calibri"/>
              <a:sym typeface="Calibri"/>
            </a:endParaRPr>
          </a:p>
        </p:txBody>
      </p:sp>
      <p:sp>
        <p:nvSpPr>
          <p:cNvPr id="1164" name="Google Shape;1164;p19"/>
          <p:cNvSpPr/>
          <p:nvPr/>
        </p:nvSpPr>
        <p:spPr>
          <a:xfrm>
            <a:off x="4599432" y="1563624"/>
            <a:ext cx="67299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9"/>
          <p:cNvSpPr/>
          <p:nvPr/>
        </p:nvSpPr>
        <p:spPr>
          <a:xfrm>
            <a:off x="4599432" y="1563624"/>
            <a:ext cx="67299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Overview</a:t>
            </a:r>
            <a:endParaRPr b="0" i="0" sz="850" u="none" cap="none" strike="noStrike">
              <a:solidFill>
                <a:schemeClr val="dk1"/>
              </a:solidFill>
              <a:latin typeface="Calibri"/>
              <a:ea typeface="Calibri"/>
              <a:cs typeface="Calibri"/>
              <a:sym typeface="Calibri"/>
            </a:endParaRPr>
          </a:p>
        </p:txBody>
      </p:sp>
      <p:sp>
        <p:nvSpPr>
          <p:cNvPr id="1166" name="Google Shape;1166;p19"/>
          <p:cNvSpPr/>
          <p:nvPr/>
        </p:nvSpPr>
        <p:spPr>
          <a:xfrm>
            <a:off x="704088" y="1956816"/>
            <a:ext cx="947318" cy="237744"/>
          </a:xfrm>
          <a:prstGeom prst="roundRect">
            <a:avLst>
              <a:gd fmla="val 19231"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9"/>
          <p:cNvSpPr/>
          <p:nvPr/>
        </p:nvSpPr>
        <p:spPr>
          <a:xfrm>
            <a:off x="795528" y="1956816"/>
            <a:ext cx="764438"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60"/>
              <a:buFont typeface="Calibri"/>
              <a:buNone/>
            </a:pPr>
            <a:r>
              <a:rPr b="1" i="0" lang="en-US" sz="760" u="none" cap="none" strike="noStrike">
                <a:solidFill>
                  <a:srgbClr val="046B73"/>
                </a:solidFill>
                <a:latin typeface="Calibri"/>
                <a:ea typeface="Calibri"/>
                <a:cs typeface="Calibri"/>
                <a:sym typeface="Calibri"/>
              </a:rPr>
              <a:t>Grain  Monthly</a:t>
            </a:r>
            <a:endParaRPr b="0" i="0" sz="760" u="none" cap="none" strike="noStrike">
              <a:solidFill>
                <a:schemeClr val="dk1"/>
              </a:solidFill>
              <a:latin typeface="Calibri"/>
              <a:ea typeface="Calibri"/>
              <a:cs typeface="Calibri"/>
              <a:sym typeface="Calibri"/>
            </a:endParaRPr>
          </a:p>
        </p:txBody>
      </p:sp>
      <p:sp>
        <p:nvSpPr>
          <p:cNvPr id="1168" name="Google Shape;1168;p19"/>
          <p:cNvSpPr/>
          <p:nvPr/>
        </p:nvSpPr>
        <p:spPr>
          <a:xfrm>
            <a:off x="1742846" y="1956816"/>
            <a:ext cx="947318" cy="237744"/>
          </a:xfrm>
          <a:prstGeom prst="roundRect">
            <a:avLst>
              <a:gd fmla="val 19231"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19"/>
          <p:cNvSpPr/>
          <p:nvPr/>
        </p:nvSpPr>
        <p:spPr>
          <a:xfrm>
            <a:off x="1834286" y="1956816"/>
            <a:ext cx="764438"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46B73"/>
              </a:buClr>
              <a:buSzPts val="760"/>
              <a:buFont typeface="Calibri"/>
              <a:buNone/>
            </a:pPr>
            <a:r>
              <a:rPr b="1" i="0" lang="en-US" sz="760" u="none" cap="none" strike="noStrike">
                <a:solidFill>
                  <a:srgbClr val="046B73"/>
                </a:solidFill>
                <a:latin typeface="Calibri"/>
                <a:ea typeface="Calibri"/>
                <a:cs typeface="Calibri"/>
                <a:sym typeface="Calibri"/>
              </a:rPr>
              <a:t>Clock  Created</a:t>
            </a:r>
            <a:endParaRPr b="0" i="0" sz="760" u="none" cap="none" strike="noStrike">
              <a:solidFill>
                <a:schemeClr val="dk1"/>
              </a:solidFill>
              <a:latin typeface="Calibri"/>
              <a:ea typeface="Calibri"/>
              <a:cs typeface="Calibri"/>
              <a:sym typeface="Calibri"/>
            </a:endParaRPr>
          </a:p>
        </p:txBody>
      </p:sp>
      <p:sp>
        <p:nvSpPr>
          <p:cNvPr id="1170" name="Google Shape;1170;p19"/>
          <p:cNvSpPr/>
          <p:nvPr/>
        </p:nvSpPr>
        <p:spPr>
          <a:xfrm>
            <a:off x="2781605" y="1956816"/>
            <a:ext cx="788213" cy="237744"/>
          </a:xfrm>
          <a:prstGeom prst="roundRect">
            <a:avLst>
              <a:gd fmla="val 19231" name="adj"/>
            </a:avLst>
          </a:prstGeom>
          <a:solidFill>
            <a:srgbClr val="FFFFFF"/>
          </a:solid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19"/>
          <p:cNvSpPr/>
          <p:nvPr/>
        </p:nvSpPr>
        <p:spPr>
          <a:xfrm>
            <a:off x="2873045" y="1956816"/>
            <a:ext cx="605333"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60"/>
              <a:buFont typeface="Calibri"/>
              <a:buNone/>
            </a:pPr>
            <a:r>
              <a:rPr b="0" i="0" lang="en-US" sz="760" u="none" cap="none" strike="noStrike">
                <a:solidFill>
                  <a:srgbClr val="4B535C"/>
                </a:solidFill>
                <a:latin typeface="Calibri"/>
                <a:ea typeface="Calibri"/>
                <a:cs typeface="Calibri"/>
                <a:sym typeface="Calibri"/>
              </a:rPr>
              <a:t>Module  All</a:t>
            </a:r>
            <a:endParaRPr b="0" i="0" sz="760" u="none" cap="none" strike="noStrike">
              <a:solidFill>
                <a:schemeClr val="dk1"/>
              </a:solidFill>
              <a:latin typeface="Calibri"/>
              <a:ea typeface="Calibri"/>
              <a:cs typeface="Calibri"/>
              <a:sym typeface="Calibri"/>
            </a:endParaRPr>
          </a:p>
        </p:txBody>
      </p:sp>
      <p:sp>
        <p:nvSpPr>
          <p:cNvPr id="1172" name="Google Shape;1172;p19"/>
          <p:cNvSpPr/>
          <p:nvPr/>
        </p:nvSpPr>
        <p:spPr>
          <a:xfrm>
            <a:off x="7095744" y="1956816"/>
            <a:ext cx="1060704" cy="237744"/>
          </a:xfrm>
          <a:prstGeom prst="roundRect">
            <a:avLst>
              <a:gd fmla="val 19231" name="adj"/>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9"/>
          <p:cNvSpPr/>
          <p:nvPr/>
        </p:nvSpPr>
        <p:spPr>
          <a:xfrm>
            <a:off x="7095744" y="1956816"/>
            <a:ext cx="106070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Add overlay</a:t>
            </a:r>
            <a:endParaRPr b="0" i="0" sz="850" u="none" cap="none" strike="noStrike">
              <a:solidFill>
                <a:schemeClr val="dk1"/>
              </a:solidFill>
              <a:latin typeface="Calibri"/>
              <a:ea typeface="Calibri"/>
              <a:cs typeface="Calibri"/>
              <a:sym typeface="Calibri"/>
            </a:endParaRPr>
          </a:p>
        </p:txBody>
      </p:sp>
      <p:graphicFrame>
        <p:nvGraphicFramePr>
          <p:cNvPr id="1174" name="Google Shape;1174;p19"/>
          <p:cNvGraphicFramePr/>
          <p:nvPr/>
        </p:nvGraphicFramePr>
        <p:xfrm>
          <a:off x="704088" y="2276856"/>
          <a:ext cx="7406640" cy="1783080"/>
        </p:xfrm>
        <a:graphic>
          <a:graphicData uri="http://schemas.openxmlformats.org/drawingml/2006/chart">
            <c:chart r:id="rId3"/>
          </a:graphicData>
        </a:graphic>
      </p:graphicFrame>
      <p:sp>
        <p:nvSpPr>
          <p:cNvPr id="1175" name="Google Shape;1175;p19"/>
          <p:cNvSpPr/>
          <p:nvPr/>
        </p:nvSpPr>
        <p:spPr>
          <a:xfrm>
            <a:off x="704088" y="4123944"/>
            <a:ext cx="740664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60"/>
              <a:buFont typeface="Calibri"/>
              <a:buNone/>
            </a:pPr>
            <a:r>
              <a:rPr b="1" i="0" lang="en-US" sz="760" u="none" cap="none" strike="noStrike">
                <a:solidFill>
                  <a:srgbClr val="6B7280"/>
                </a:solidFill>
                <a:latin typeface="Calibri"/>
                <a:ea typeface="Calibri"/>
                <a:cs typeface="Calibri"/>
                <a:sym typeface="Calibri"/>
              </a:rPr>
              <a:t>COHORT DECAY  ·  how each month of records ages after it was created</a:t>
            </a:r>
            <a:endParaRPr b="0" i="0" sz="760" u="none" cap="none" strike="noStrike">
              <a:solidFill>
                <a:schemeClr val="dk1"/>
              </a:solidFill>
              <a:latin typeface="Calibri"/>
              <a:ea typeface="Calibri"/>
              <a:cs typeface="Calibri"/>
              <a:sym typeface="Calibri"/>
            </a:endParaRPr>
          </a:p>
        </p:txBody>
      </p:sp>
      <p:sp>
        <p:nvSpPr>
          <p:cNvPr id="1176" name="Google Shape;1176;p19"/>
          <p:cNvSpPr/>
          <p:nvPr/>
        </p:nvSpPr>
        <p:spPr>
          <a:xfrm>
            <a:off x="704088" y="4306824"/>
            <a:ext cx="7406640" cy="228600"/>
          </a:xfrm>
          <a:prstGeom prst="rect">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9"/>
          <p:cNvSpPr/>
          <p:nvPr/>
        </p:nvSpPr>
        <p:spPr>
          <a:xfrm>
            <a:off x="768096" y="4306824"/>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Cohort</a:t>
            </a:r>
            <a:endParaRPr b="0" i="0" sz="780" u="none" cap="none" strike="noStrike">
              <a:solidFill>
                <a:schemeClr val="dk1"/>
              </a:solidFill>
              <a:latin typeface="Calibri"/>
              <a:ea typeface="Calibri"/>
              <a:cs typeface="Calibri"/>
              <a:sym typeface="Calibri"/>
            </a:endParaRPr>
          </a:p>
        </p:txBody>
      </p:sp>
      <p:sp>
        <p:nvSpPr>
          <p:cNvPr id="1178" name="Google Shape;1178;p19"/>
          <p:cNvSpPr/>
          <p:nvPr/>
        </p:nvSpPr>
        <p:spPr>
          <a:xfrm>
            <a:off x="2048256" y="4306824"/>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At creation</a:t>
            </a:r>
            <a:endParaRPr b="0" i="0" sz="780" u="none" cap="none" strike="noStrike">
              <a:solidFill>
                <a:schemeClr val="dk1"/>
              </a:solidFill>
              <a:latin typeface="Calibri"/>
              <a:ea typeface="Calibri"/>
              <a:cs typeface="Calibri"/>
              <a:sym typeface="Calibri"/>
            </a:endParaRPr>
          </a:p>
        </p:txBody>
      </p:sp>
      <p:sp>
        <p:nvSpPr>
          <p:cNvPr id="1179" name="Google Shape;1179;p19"/>
          <p:cNvSpPr/>
          <p:nvPr/>
        </p:nvSpPr>
        <p:spPr>
          <a:xfrm>
            <a:off x="3328416" y="4306824"/>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After 1 month</a:t>
            </a:r>
            <a:endParaRPr b="0" i="0" sz="780" u="none" cap="none" strike="noStrike">
              <a:solidFill>
                <a:schemeClr val="dk1"/>
              </a:solidFill>
              <a:latin typeface="Calibri"/>
              <a:ea typeface="Calibri"/>
              <a:cs typeface="Calibri"/>
              <a:sym typeface="Calibri"/>
            </a:endParaRPr>
          </a:p>
        </p:txBody>
      </p:sp>
      <p:sp>
        <p:nvSpPr>
          <p:cNvPr id="1180" name="Google Shape;1180;p19"/>
          <p:cNvSpPr/>
          <p:nvPr/>
        </p:nvSpPr>
        <p:spPr>
          <a:xfrm>
            <a:off x="4379976" y="4306824"/>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After 3 months</a:t>
            </a:r>
            <a:endParaRPr b="0" i="0" sz="780" u="none" cap="none" strike="noStrike">
              <a:solidFill>
                <a:schemeClr val="dk1"/>
              </a:solidFill>
              <a:latin typeface="Calibri"/>
              <a:ea typeface="Calibri"/>
              <a:cs typeface="Calibri"/>
              <a:sym typeface="Calibri"/>
            </a:endParaRPr>
          </a:p>
        </p:txBody>
      </p:sp>
      <p:sp>
        <p:nvSpPr>
          <p:cNvPr id="1181" name="Google Shape;1181;p19"/>
          <p:cNvSpPr/>
          <p:nvPr/>
        </p:nvSpPr>
        <p:spPr>
          <a:xfrm>
            <a:off x="5431536" y="4306824"/>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Today</a:t>
            </a:r>
            <a:endParaRPr b="0" i="0" sz="780" u="none" cap="none" strike="noStrike">
              <a:solidFill>
                <a:schemeClr val="dk1"/>
              </a:solidFill>
              <a:latin typeface="Calibri"/>
              <a:ea typeface="Calibri"/>
              <a:cs typeface="Calibri"/>
              <a:sym typeface="Calibri"/>
            </a:endParaRPr>
          </a:p>
        </p:txBody>
      </p:sp>
      <p:sp>
        <p:nvSpPr>
          <p:cNvPr id="1182" name="Google Shape;1182;p19"/>
          <p:cNvSpPr/>
          <p:nvPr/>
        </p:nvSpPr>
        <p:spPr>
          <a:xfrm>
            <a:off x="6483096" y="4306824"/>
            <a:ext cx="16002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Verdict</a:t>
            </a:r>
            <a:endParaRPr b="0" i="0" sz="780" u="none" cap="none" strike="noStrike">
              <a:solidFill>
                <a:schemeClr val="dk1"/>
              </a:solidFill>
              <a:latin typeface="Calibri"/>
              <a:ea typeface="Calibri"/>
              <a:cs typeface="Calibri"/>
              <a:sym typeface="Calibri"/>
            </a:endParaRPr>
          </a:p>
        </p:txBody>
      </p:sp>
      <p:sp>
        <p:nvSpPr>
          <p:cNvPr id="1183" name="Google Shape;1183;p19"/>
          <p:cNvSpPr/>
          <p:nvPr/>
        </p:nvSpPr>
        <p:spPr>
          <a:xfrm>
            <a:off x="704088" y="4535424"/>
            <a:ext cx="7406640" cy="228600"/>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19"/>
          <p:cNvSpPr/>
          <p:nvPr/>
        </p:nvSpPr>
        <p:spPr>
          <a:xfrm>
            <a:off x="768096" y="4535424"/>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Feb 2026</a:t>
            </a:r>
            <a:endParaRPr b="0" i="0" sz="780" u="none" cap="none" strike="noStrike">
              <a:solidFill>
                <a:schemeClr val="dk1"/>
              </a:solidFill>
              <a:latin typeface="Calibri"/>
              <a:ea typeface="Calibri"/>
              <a:cs typeface="Calibri"/>
              <a:sym typeface="Calibri"/>
            </a:endParaRPr>
          </a:p>
        </p:txBody>
      </p:sp>
      <p:sp>
        <p:nvSpPr>
          <p:cNvPr id="1185" name="Google Shape;1185;p19"/>
          <p:cNvSpPr/>
          <p:nvPr/>
        </p:nvSpPr>
        <p:spPr>
          <a:xfrm>
            <a:off x="2048256" y="4535424"/>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42</a:t>
            </a:r>
            <a:endParaRPr b="0" i="0" sz="780" u="none" cap="none" strike="noStrike">
              <a:solidFill>
                <a:schemeClr val="dk1"/>
              </a:solidFill>
              <a:latin typeface="Calibri"/>
              <a:ea typeface="Calibri"/>
              <a:cs typeface="Calibri"/>
              <a:sym typeface="Calibri"/>
            </a:endParaRPr>
          </a:p>
        </p:txBody>
      </p:sp>
      <p:sp>
        <p:nvSpPr>
          <p:cNvPr id="1186" name="Google Shape;1186;p19"/>
          <p:cNvSpPr/>
          <p:nvPr/>
        </p:nvSpPr>
        <p:spPr>
          <a:xfrm>
            <a:off x="3328416" y="4535424"/>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39</a:t>
            </a:r>
            <a:endParaRPr b="0" i="0" sz="780" u="none" cap="none" strike="noStrike">
              <a:solidFill>
                <a:schemeClr val="dk1"/>
              </a:solidFill>
              <a:latin typeface="Calibri"/>
              <a:ea typeface="Calibri"/>
              <a:cs typeface="Calibri"/>
              <a:sym typeface="Calibri"/>
            </a:endParaRPr>
          </a:p>
        </p:txBody>
      </p:sp>
      <p:sp>
        <p:nvSpPr>
          <p:cNvPr id="1187" name="Google Shape;1187;p19"/>
          <p:cNvSpPr/>
          <p:nvPr/>
        </p:nvSpPr>
        <p:spPr>
          <a:xfrm>
            <a:off x="4379976" y="4535424"/>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34</a:t>
            </a:r>
            <a:endParaRPr b="0" i="0" sz="780" u="none" cap="none" strike="noStrike">
              <a:solidFill>
                <a:schemeClr val="dk1"/>
              </a:solidFill>
              <a:latin typeface="Calibri"/>
              <a:ea typeface="Calibri"/>
              <a:cs typeface="Calibri"/>
              <a:sym typeface="Calibri"/>
            </a:endParaRPr>
          </a:p>
        </p:txBody>
      </p:sp>
      <p:sp>
        <p:nvSpPr>
          <p:cNvPr id="1188" name="Google Shape;1188;p19"/>
          <p:cNvSpPr/>
          <p:nvPr/>
        </p:nvSpPr>
        <p:spPr>
          <a:xfrm>
            <a:off x="5431536" y="4535424"/>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32</a:t>
            </a:r>
            <a:endParaRPr b="0" i="0" sz="780" u="none" cap="none" strike="noStrike">
              <a:solidFill>
                <a:schemeClr val="dk1"/>
              </a:solidFill>
              <a:latin typeface="Calibri"/>
              <a:ea typeface="Calibri"/>
              <a:cs typeface="Calibri"/>
              <a:sym typeface="Calibri"/>
            </a:endParaRPr>
          </a:p>
        </p:txBody>
      </p:sp>
      <p:sp>
        <p:nvSpPr>
          <p:cNvPr id="1189" name="Google Shape;1189;p19"/>
          <p:cNvSpPr/>
          <p:nvPr/>
        </p:nvSpPr>
        <p:spPr>
          <a:xfrm>
            <a:off x="6483096" y="4576572"/>
            <a:ext cx="1051560" cy="146304"/>
          </a:xfrm>
          <a:prstGeom prst="roundRect">
            <a:avLst>
              <a:gd fmla="val 37500" name="adj"/>
            </a:avLst>
          </a:prstGeom>
          <a:solidFill>
            <a:srgbClr val="B8443A"/>
          </a:solidFill>
          <a:ln cap="flat" cmpd="sng" w="12700">
            <a:solidFill>
              <a:srgbClr val="B844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9"/>
          <p:cNvSpPr/>
          <p:nvPr/>
        </p:nvSpPr>
        <p:spPr>
          <a:xfrm>
            <a:off x="6483096" y="4576572"/>
            <a:ext cx="105156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Decaying fast</a:t>
            </a:r>
            <a:endParaRPr b="0" i="0" sz="760" u="none" cap="none" strike="noStrike">
              <a:solidFill>
                <a:schemeClr val="dk1"/>
              </a:solidFill>
              <a:latin typeface="Calibri"/>
              <a:ea typeface="Calibri"/>
              <a:cs typeface="Calibri"/>
              <a:sym typeface="Calibri"/>
            </a:endParaRPr>
          </a:p>
        </p:txBody>
      </p:sp>
      <p:sp>
        <p:nvSpPr>
          <p:cNvPr id="1191" name="Google Shape;1191;p19"/>
          <p:cNvSpPr/>
          <p:nvPr/>
        </p:nvSpPr>
        <p:spPr>
          <a:xfrm>
            <a:off x="704088" y="4764024"/>
            <a:ext cx="7406640" cy="228600"/>
          </a:xfrm>
          <a:prstGeom prst="rect">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9"/>
          <p:cNvSpPr/>
          <p:nvPr/>
        </p:nvSpPr>
        <p:spPr>
          <a:xfrm>
            <a:off x="768096" y="4764024"/>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Apr 2026</a:t>
            </a:r>
            <a:endParaRPr b="0" i="0" sz="780" u="none" cap="none" strike="noStrike">
              <a:solidFill>
                <a:schemeClr val="dk1"/>
              </a:solidFill>
              <a:latin typeface="Calibri"/>
              <a:ea typeface="Calibri"/>
              <a:cs typeface="Calibri"/>
              <a:sym typeface="Calibri"/>
            </a:endParaRPr>
          </a:p>
        </p:txBody>
      </p:sp>
      <p:sp>
        <p:nvSpPr>
          <p:cNvPr id="1193" name="Google Shape;1193;p19"/>
          <p:cNvSpPr/>
          <p:nvPr/>
        </p:nvSpPr>
        <p:spPr>
          <a:xfrm>
            <a:off x="2048256" y="4764024"/>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47</a:t>
            </a:r>
            <a:endParaRPr b="0" i="0" sz="780" u="none" cap="none" strike="noStrike">
              <a:solidFill>
                <a:schemeClr val="dk1"/>
              </a:solidFill>
              <a:latin typeface="Calibri"/>
              <a:ea typeface="Calibri"/>
              <a:cs typeface="Calibri"/>
              <a:sym typeface="Calibri"/>
            </a:endParaRPr>
          </a:p>
        </p:txBody>
      </p:sp>
      <p:sp>
        <p:nvSpPr>
          <p:cNvPr id="1194" name="Google Shape;1194;p19"/>
          <p:cNvSpPr/>
          <p:nvPr/>
        </p:nvSpPr>
        <p:spPr>
          <a:xfrm>
            <a:off x="3328416" y="4764024"/>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45</a:t>
            </a:r>
            <a:endParaRPr b="0" i="0" sz="780" u="none" cap="none" strike="noStrike">
              <a:solidFill>
                <a:schemeClr val="dk1"/>
              </a:solidFill>
              <a:latin typeface="Calibri"/>
              <a:ea typeface="Calibri"/>
              <a:cs typeface="Calibri"/>
              <a:sym typeface="Calibri"/>
            </a:endParaRPr>
          </a:p>
        </p:txBody>
      </p:sp>
      <p:sp>
        <p:nvSpPr>
          <p:cNvPr id="1195" name="Google Shape;1195;p19"/>
          <p:cNvSpPr/>
          <p:nvPr/>
        </p:nvSpPr>
        <p:spPr>
          <a:xfrm>
            <a:off x="4379976" y="4764024"/>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43</a:t>
            </a:r>
            <a:endParaRPr b="0" i="0" sz="780" u="none" cap="none" strike="noStrike">
              <a:solidFill>
                <a:schemeClr val="dk1"/>
              </a:solidFill>
              <a:latin typeface="Calibri"/>
              <a:ea typeface="Calibri"/>
              <a:cs typeface="Calibri"/>
              <a:sym typeface="Calibri"/>
            </a:endParaRPr>
          </a:p>
        </p:txBody>
      </p:sp>
      <p:sp>
        <p:nvSpPr>
          <p:cNvPr id="1196" name="Google Shape;1196;p19"/>
          <p:cNvSpPr/>
          <p:nvPr/>
        </p:nvSpPr>
        <p:spPr>
          <a:xfrm>
            <a:off x="5431536" y="4764024"/>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43</a:t>
            </a:r>
            <a:endParaRPr b="0" i="0" sz="780" u="none" cap="none" strike="noStrike">
              <a:solidFill>
                <a:schemeClr val="dk1"/>
              </a:solidFill>
              <a:latin typeface="Calibri"/>
              <a:ea typeface="Calibri"/>
              <a:cs typeface="Calibri"/>
              <a:sym typeface="Calibri"/>
            </a:endParaRPr>
          </a:p>
        </p:txBody>
      </p:sp>
      <p:sp>
        <p:nvSpPr>
          <p:cNvPr id="1197" name="Google Shape;1197;p19"/>
          <p:cNvSpPr/>
          <p:nvPr/>
        </p:nvSpPr>
        <p:spPr>
          <a:xfrm>
            <a:off x="6483096" y="4805172"/>
            <a:ext cx="868680" cy="146304"/>
          </a:xfrm>
          <a:prstGeom prst="roundRect">
            <a:avLst>
              <a:gd fmla="val 37500" name="adj"/>
            </a:avLst>
          </a:prstGeom>
          <a:solidFill>
            <a:srgbClr val="C77700"/>
          </a:solidFill>
          <a:ln cap="flat" cmpd="sng" w="12700">
            <a:solidFill>
              <a:srgbClr val="C77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9"/>
          <p:cNvSpPr/>
          <p:nvPr/>
        </p:nvSpPr>
        <p:spPr>
          <a:xfrm>
            <a:off x="6483096" y="4805172"/>
            <a:ext cx="8686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Decaying</a:t>
            </a:r>
            <a:endParaRPr b="0" i="0" sz="760" u="none" cap="none" strike="noStrike">
              <a:solidFill>
                <a:schemeClr val="dk1"/>
              </a:solidFill>
              <a:latin typeface="Calibri"/>
              <a:ea typeface="Calibri"/>
              <a:cs typeface="Calibri"/>
              <a:sym typeface="Calibri"/>
            </a:endParaRPr>
          </a:p>
        </p:txBody>
      </p:sp>
      <p:sp>
        <p:nvSpPr>
          <p:cNvPr id="1199" name="Google Shape;1199;p19"/>
          <p:cNvSpPr/>
          <p:nvPr/>
        </p:nvSpPr>
        <p:spPr>
          <a:xfrm>
            <a:off x="704088" y="4992624"/>
            <a:ext cx="7406640" cy="228600"/>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9"/>
          <p:cNvSpPr/>
          <p:nvPr/>
        </p:nvSpPr>
        <p:spPr>
          <a:xfrm>
            <a:off x="768096" y="4992624"/>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Jul 2026</a:t>
            </a:r>
            <a:endParaRPr b="0" i="0" sz="780" u="none" cap="none" strike="noStrike">
              <a:solidFill>
                <a:schemeClr val="dk1"/>
              </a:solidFill>
              <a:latin typeface="Calibri"/>
              <a:ea typeface="Calibri"/>
              <a:cs typeface="Calibri"/>
              <a:sym typeface="Calibri"/>
            </a:endParaRPr>
          </a:p>
        </p:txBody>
      </p:sp>
      <p:sp>
        <p:nvSpPr>
          <p:cNvPr id="1201" name="Google Shape;1201;p19"/>
          <p:cNvSpPr/>
          <p:nvPr/>
        </p:nvSpPr>
        <p:spPr>
          <a:xfrm>
            <a:off x="2048256" y="4992624"/>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58</a:t>
            </a:r>
            <a:endParaRPr b="0" i="0" sz="780" u="none" cap="none" strike="noStrike">
              <a:solidFill>
                <a:schemeClr val="dk1"/>
              </a:solidFill>
              <a:latin typeface="Calibri"/>
              <a:ea typeface="Calibri"/>
              <a:cs typeface="Calibri"/>
              <a:sym typeface="Calibri"/>
            </a:endParaRPr>
          </a:p>
        </p:txBody>
      </p:sp>
      <p:sp>
        <p:nvSpPr>
          <p:cNvPr id="1202" name="Google Shape;1202;p19"/>
          <p:cNvSpPr/>
          <p:nvPr/>
        </p:nvSpPr>
        <p:spPr>
          <a:xfrm>
            <a:off x="3328416" y="4992624"/>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57</a:t>
            </a:r>
            <a:endParaRPr b="0" i="0" sz="780" u="none" cap="none" strike="noStrike">
              <a:solidFill>
                <a:schemeClr val="dk1"/>
              </a:solidFill>
              <a:latin typeface="Calibri"/>
              <a:ea typeface="Calibri"/>
              <a:cs typeface="Calibri"/>
              <a:sym typeface="Calibri"/>
            </a:endParaRPr>
          </a:p>
        </p:txBody>
      </p:sp>
      <p:sp>
        <p:nvSpPr>
          <p:cNvPr id="1203" name="Google Shape;1203;p19"/>
          <p:cNvSpPr/>
          <p:nvPr/>
        </p:nvSpPr>
        <p:spPr>
          <a:xfrm>
            <a:off x="4379976" y="4992624"/>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n/a</a:t>
            </a:r>
            <a:endParaRPr b="0" i="0" sz="780" u="none" cap="none" strike="noStrike">
              <a:solidFill>
                <a:schemeClr val="dk1"/>
              </a:solidFill>
              <a:latin typeface="Calibri"/>
              <a:ea typeface="Calibri"/>
              <a:cs typeface="Calibri"/>
              <a:sym typeface="Calibri"/>
            </a:endParaRPr>
          </a:p>
        </p:txBody>
      </p:sp>
      <p:sp>
        <p:nvSpPr>
          <p:cNvPr id="1204" name="Google Shape;1204;p19"/>
          <p:cNvSpPr/>
          <p:nvPr/>
        </p:nvSpPr>
        <p:spPr>
          <a:xfrm>
            <a:off x="5431536" y="4992624"/>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57</a:t>
            </a:r>
            <a:endParaRPr b="0" i="0" sz="780" u="none" cap="none" strike="noStrike">
              <a:solidFill>
                <a:schemeClr val="dk1"/>
              </a:solidFill>
              <a:latin typeface="Calibri"/>
              <a:ea typeface="Calibri"/>
              <a:cs typeface="Calibri"/>
              <a:sym typeface="Calibri"/>
            </a:endParaRPr>
          </a:p>
        </p:txBody>
      </p:sp>
      <p:sp>
        <p:nvSpPr>
          <p:cNvPr id="1205" name="Google Shape;1205;p19"/>
          <p:cNvSpPr/>
          <p:nvPr/>
        </p:nvSpPr>
        <p:spPr>
          <a:xfrm>
            <a:off x="6483096" y="5033772"/>
            <a:ext cx="777240" cy="146304"/>
          </a:xfrm>
          <a:prstGeom prst="roundRect">
            <a:avLst>
              <a:gd fmla="val 37500" name="adj"/>
            </a:avLst>
          </a:prstGeom>
          <a:solidFill>
            <a:srgbClr val="2E8B57"/>
          </a:solidFill>
          <a:ln cap="flat" cmpd="sng" w="12700">
            <a:solidFill>
              <a:srgbClr val="2E8B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9"/>
          <p:cNvSpPr/>
          <p:nvPr/>
        </p:nvSpPr>
        <p:spPr>
          <a:xfrm>
            <a:off x="6483096" y="5033772"/>
            <a:ext cx="77724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Holding</a:t>
            </a:r>
            <a:endParaRPr b="0" i="0" sz="760" u="none" cap="none" strike="noStrike">
              <a:solidFill>
                <a:schemeClr val="dk1"/>
              </a:solidFill>
              <a:latin typeface="Calibri"/>
              <a:ea typeface="Calibri"/>
              <a:cs typeface="Calibri"/>
              <a:sym typeface="Calibri"/>
            </a:endParaRPr>
          </a:p>
        </p:txBody>
      </p:sp>
      <p:sp>
        <p:nvSpPr>
          <p:cNvPr id="1207" name="Google Shape;1207;p19"/>
          <p:cNvSpPr/>
          <p:nvPr/>
        </p:nvSpPr>
        <p:spPr>
          <a:xfrm>
            <a:off x="704088" y="5294376"/>
            <a:ext cx="7406640" cy="457200"/>
          </a:xfrm>
          <a:prstGeom prst="rect">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9"/>
          <p:cNvSpPr/>
          <p:nvPr/>
        </p:nvSpPr>
        <p:spPr>
          <a:xfrm>
            <a:off x="813816" y="5340096"/>
            <a:ext cx="71780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2A30"/>
              </a:buClr>
              <a:buSzPts val="820"/>
              <a:buFont typeface="Calibri"/>
              <a:buNone/>
            </a:pPr>
            <a:r>
              <a:rPr b="1" i="0" lang="en-US" sz="820" u="none" cap="none" strike="noStrike">
                <a:solidFill>
                  <a:srgbClr val="062A30"/>
                </a:solidFill>
                <a:latin typeface="Calibri"/>
                <a:ea typeface="Calibri"/>
                <a:cs typeface="Calibri"/>
                <a:sym typeface="Calibri"/>
              </a:rPr>
              <a:t>Entry quality is improving. Maintenance quality is not. Two different problems, two different owners.</a:t>
            </a:r>
            <a:endParaRPr b="0" i="0" sz="820" u="none" cap="none" strike="noStrike">
              <a:solidFill>
                <a:schemeClr val="dk1"/>
              </a:solidFill>
              <a:latin typeface="Calibri"/>
              <a:ea typeface="Calibri"/>
              <a:cs typeface="Calibri"/>
              <a:sym typeface="Calibri"/>
            </a:endParaRPr>
          </a:p>
        </p:txBody>
      </p:sp>
      <p:sp>
        <p:nvSpPr>
          <p:cNvPr id="1209" name="Google Shape;1209;p19"/>
          <p:cNvSpPr/>
          <p:nvPr/>
        </p:nvSpPr>
        <p:spPr>
          <a:xfrm>
            <a:off x="813816" y="5532120"/>
            <a:ext cx="71780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90"/>
              <a:buFont typeface="Calibri"/>
              <a:buNone/>
            </a:pPr>
            <a:r>
              <a:rPr b="0" i="0" lang="en-US" sz="790" u="none" cap="none" strike="noStrike">
                <a:solidFill>
                  <a:srgbClr val="4B535C"/>
                </a:solidFill>
                <a:latin typeface="Calibri"/>
                <a:ea typeface="Calibri"/>
                <a:cs typeface="Calibri"/>
                <a:sym typeface="Calibri"/>
              </a:rPr>
              <a:t>Older cohorts decay because nobody updates a record after it is created. That is an SLA and workflow problem, not a training one.</a:t>
            </a:r>
            <a:endParaRPr b="0" i="0" sz="790" u="none" cap="none" strike="noStrike">
              <a:solidFill>
                <a:schemeClr val="dk1"/>
              </a:solidFill>
              <a:latin typeface="Calibri"/>
              <a:ea typeface="Calibri"/>
              <a:cs typeface="Calibri"/>
              <a:sym typeface="Calibri"/>
            </a:endParaRPr>
          </a:p>
        </p:txBody>
      </p:sp>
      <p:sp>
        <p:nvSpPr>
          <p:cNvPr id="1210" name="Google Shape;1210;p19"/>
          <p:cNvSpPr/>
          <p:nvPr/>
        </p:nvSpPr>
        <p:spPr>
          <a:xfrm>
            <a:off x="8567928" y="1655064"/>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9"/>
          <p:cNvSpPr/>
          <p:nvPr/>
        </p:nvSpPr>
        <p:spPr>
          <a:xfrm>
            <a:off x="8567928" y="1655064"/>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1</a:t>
            </a:r>
            <a:endParaRPr b="0" i="0" sz="800" u="none" cap="none" strike="noStrike">
              <a:solidFill>
                <a:schemeClr val="dk1"/>
              </a:solidFill>
              <a:latin typeface="Calibri"/>
              <a:ea typeface="Calibri"/>
              <a:cs typeface="Calibri"/>
              <a:sym typeface="Calibri"/>
            </a:endParaRPr>
          </a:p>
        </p:txBody>
      </p:sp>
      <p:sp>
        <p:nvSpPr>
          <p:cNvPr id="1212" name="Google Shape;1212;p19"/>
          <p:cNvSpPr/>
          <p:nvPr/>
        </p:nvSpPr>
        <p:spPr>
          <a:xfrm>
            <a:off x="8842248" y="1627632"/>
            <a:ext cx="27825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Three lines, three questions</a:t>
            </a:r>
            <a:endParaRPr b="0" i="0" sz="1150" u="none" cap="none" strike="noStrike">
              <a:solidFill>
                <a:schemeClr val="dk1"/>
              </a:solidFill>
              <a:latin typeface="Calibri"/>
              <a:ea typeface="Calibri"/>
              <a:cs typeface="Calibri"/>
              <a:sym typeface="Calibri"/>
            </a:endParaRPr>
          </a:p>
        </p:txBody>
      </p:sp>
      <p:sp>
        <p:nvSpPr>
          <p:cNvPr id="1213" name="Google Shape;1213;p19"/>
          <p:cNvSpPr/>
          <p:nvPr/>
        </p:nvSpPr>
        <p:spPr>
          <a:xfrm>
            <a:off x="8842248" y="1865376"/>
            <a:ext cx="2782519"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Created in month is entry quality. Modified in month is maintenance. Whole org is the lagging average that hides both.</a:t>
            </a:r>
            <a:endParaRPr b="0" i="0" sz="1000" u="none" cap="none" strike="noStrike">
              <a:solidFill>
                <a:schemeClr val="dk1"/>
              </a:solidFill>
              <a:latin typeface="Calibri"/>
              <a:ea typeface="Calibri"/>
              <a:cs typeface="Calibri"/>
              <a:sym typeface="Calibri"/>
            </a:endParaRPr>
          </a:p>
        </p:txBody>
      </p:sp>
      <p:sp>
        <p:nvSpPr>
          <p:cNvPr id="1214" name="Google Shape;1214;p19"/>
          <p:cNvSpPr/>
          <p:nvPr/>
        </p:nvSpPr>
        <p:spPr>
          <a:xfrm>
            <a:off x="8567928" y="2752344"/>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19"/>
          <p:cNvSpPr/>
          <p:nvPr/>
        </p:nvSpPr>
        <p:spPr>
          <a:xfrm>
            <a:off x="8567928" y="2752344"/>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
        <p:nvSpPr>
          <p:cNvPr id="1216" name="Google Shape;1216;p19"/>
          <p:cNvSpPr/>
          <p:nvPr/>
        </p:nvSpPr>
        <p:spPr>
          <a:xfrm>
            <a:off x="8842248" y="2724912"/>
            <a:ext cx="27825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Overlays explain dips</a:t>
            </a:r>
            <a:endParaRPr b="0" i="0" sz="1150" u="none" cap="none" strike="noStrike">
              <a:solidFill>
                <a:schemeClr val="dk1"/>
              </a:solidFill>
              <a:latin typeface="Calibri"/>
              <a:ea typeface="Calibri"/>
              <a:cs typeface="Calibri"/>
              <a:sym typeface="Calibri"/>
            </a:endParaRPr>
          </a:p>
        </p:txBody>
      </p:sp>
      <p:sp>
        <p:nvSpPr>
          <p:cNvPr id="1217" name="Google Shape;1217;p19"/>
          <p:cNvSpPr/>
          <p:nvPr/>
        </p:nvSpPr>
        <p:spPr>
          <a:xfrm>
            <a:off x="8842248" y="2962656"/>
            <a:ext cx="2782519"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Go live dates, new joiner cohorts, campaign imports and releases plotted on the line. A dip with a marked cause is a finding, not an argument.</a:t>
            </a:r>
            <a:endParaRPr b="0" i="0" sz="1000" u="none" cap="none" strike="noStrike">
              <a:solidFill>
                <a:schemeClr val="dk1"/>
              </a:solidFill>
              <a:latin typeface="Calibri"/>
              <a:ea typeface="Calibri"/>
              <a:cs typeface="Calibri"/>
              <a:sym typeface="Calibri"/>
            </a:endParaRPr>
          </a:p>
        </p:txBody>
      </p:sp>
      <p:sp>
        <p:nvSpPr>
          <p:cNvPr id="1218" name="Google Shape;1218;p19"/>
          <p:cNvSpPr/>
          <p:nvPr/>
        </p:nvSpPr>
        <p:spPr>
          <a:xfrm>
            <a:off x="8567928" y="3922776"/>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9"/>
          <p:cNvSpPr/>
          <p:nvPr/>
        </p:nvSpPr>
        <p:spPr>
          <a:xfrm>
            <a:off x="8567928" y="3922776"/>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
        <p:nvSpPr>
          <p:cNvPr id="1220" name="Google Shape;1220;p19"/>
          <p:cNvSpPr/>
          <p:nvPr/>
        </p:nvSpPr>
        <p:spPr>
          <a:xfrm>
            <a:off x="8842248" y="3895344"/>
            <a:ext cx="27825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Cohort decay splits the problem</a:t>
            </a:r>
            <a:endParaRPr b="0" i="0" sz="1150" u="none" cap="none" strike="noStrike">
              <a:solidFill>
                <a:schemeClr val="dk1"/>
              </a:solidFill>
              <a:latin typeface="Calibri"/>
              <a:ea typeface="Calibri"/>
              <a:cs typeface="Calibri"/>
              <a:sym typeface="Calibri"/>
            </a:endParaRPr>
          </a:p>
        </p:txBody>
      </p:sp>
      <p:sp>
        <p:nvSpPr>
          <p:cNvPr id="1221" name="Google Shape;1221;p19"/>
          <p:cNvSpPr/>
          <p:nvPr/>
        </p:nvSpPr>
        <p:spPr>
          <a:xfrm>
            <a:off x="8842248" y="4133088"/>
            <a:ext cx="2782519"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If records are born clean and rot afterwards, training will not help. That is a workflow and ownership fix, and it is a different sale.</a:t>
            </a:r>
            <a:endParaRPr b="0" i="0" sz="1000" u="none" cap="none" strike="noStrike">
              <a:solidFill>
                <a:schemeClr val="dk1"/>
              </a:solidFill>
              <a:latin typeface="Calibri"/>
              <a:ea typeface="Calibri"/>
              <a:cs typeface="Calibri"/>
              <a:sym typeface="Calibri"/>
            </a:endParaRPr>
          </a:p>
        </p:txBody>
      </p:sp>
      <p:sp>
        <p:nvSpPr>
          <p:cNvPr id="1222" name="Google Shape;1222;p19"/>
          <p:cNvSpPr/>
          <p:nvPr/>
        </p:nvSpPr>
        <p:spPr>
          <a:xfrm>
            <a:off x="8567928" y="5093208"/>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9"/>
          <p:cNvSpPr/>
          <p:nvPr/>
        </p:nvSpPr>
        <p:spPr>
          <a:xfrm>
            <a:off x="8567928" y="5093208"/>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
        <p:nvSpPr>
          <p:cNvPr id="1224" name="Google Shape;1224;p19"/>
          <p:cNvSpPr/>
          <p:nvPr/>
        </p:nvSpPr>
        <p:spPr>
          <a:xfrm>
            <a:off x="8842248" y="5065776"/>
            <a:ext cx="27825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Any grain, any range</a:t>
            </a:r>
            <a:endParaRPr b="0" i="0" sz="1150" u="none" cap="none" strike="noStrike">
              <a:solidFill>
                <a:schemeClr val="dk1"/>
              </a:solidFill>
              <a:latin typeface="Calibri"/>
              <a:ea typeface="Calibri"/>
              <a:cs typeface="Calibri"/>
              <a:sym typeface="Calibri"/>
            </a:endParaRPr>
          </a:p>
        </p:txBody>
      </p:sp>
      <p:sp>
        <p:nvSpPr>
          <p:cNvPr id="1225" name="Google Shape;1225;p19"/>
          <p:cNvSpPr/>
          <p:nvPr/>
        </p:nvSpPr>
        <p:spPr>
          <a:xfrm>
            <a:off x="8842248" y="5303520"/>
            <a:ext cx="2782519"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Daily, weekly, monthly or quarterly. Every range carries its prior period automatically, so no number is ever shown without a direction.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0" name="Shape 1230"/>
        <p:cNvGrpSpPr/>
        <p:nvPr/>
      </p:nvGrpSpPr>
      <p:grpSpPr>
        <a:xfrm>
          <a:off x="0" y="0"/>
          <a:ext cx="0" cy="0"/>
          <a:chOff x="0" y="0"/>
          <a:chExt cx="0" cy="0"/>
        </a:xfrm>
      </p:grpSpPr>
      <p:sp>
        <p:nvSpPr>
          <p:cNvPr id="1231" name="Google Shape;1231;p20"/>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Interface 6: record state explorer</a:t>
            </a:r>
            <a:endParaRPr b="0" i="0" sz="3000" u="none" cap="none" strike="noStrike">
              <a:solidFill>
                <a:schemeClr val="dk1"/>
              </a:solidFill>
              <a:latin typeface="Calibri"/>
              <a:ea typeface="Calibri"/>
              <a:cs typeface="Calibri"/>
              <a:sym typeface="Calibri"/>
            </a:endParaRPr>
          </a:p>
        </p:txBody>
      </p:sp>
      <p:sp>
        <p:nvSpPr>
          <p:cNvPr id="1232" name="Google Shape;1232;p20"/>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Every number on every screen drills through to here. This is how we prove a finding is real inside the same meeting.</a:t>
            </a:r>
            <a:endParaRPr b="0" i="0" sz="1350" u="none" cap="none" strike="noStrike">
              <a:solidFill>
                <a:schemeClr val="dk1"/>
              </a:solidFill>
              <a:latin typeface="Calibri"/>
              <a:ea typeface="Calibri"/>
              <a:cs typeface="Calibri"/>
              <a:sym typeface="Calibri"/>
            </a:endParaRPr>
          </a:p>
        </p:txBody>
      </p:sp>
      <p:sp>
        <p:nvSpPr>
          <p:cNvPr id="1233" name="Google Shape;1233;p20"/>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234" name="Google Shape;1234;p20"/>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20</a:t>
            </a:r>
            <a:endParaRPr b="0" i="0" sz="950" u="none" cap="none" strike="noStrike">
              <a:solidFill>
                <a:schemeClr val="dk1"/>
              </a:solidFill>
              <a:latin typeface="Calibri"/>
              <a:ea typeface="Calibri"/>
              <a:cs typeface="Calibri"/>
              <a:sym typeface="Calibri"/>
            </a:endParaRPr>
          </a:p>
        </p:txBody>
      </p:sp>
      <p:sp>
        <p:nvSpPr>
          <p:cNvPr id="1235" name="Google Shape;1235;p20"/>
          <p:cNvSpPr/>
          <p:nvPr/>
        </p:nvSpPr>
        <p:spPr>
          <a:xfrm>
            <a:off x="566928" y="1481328"/>
            <a:ext cx="7726680" cy="4114800"/>
          </a:xfrm>
          <a:prstGeom prst="roundRect">
            <a:avLst>
              <a:gd fmla="val 1111" name="adj"/>
            </a:avLst>
          </a:prstGeom>
          <a:solidFill>
            <a:srgbClr val="FFFFFF"/>
          </a:solidFill>
          <a:ln cap="flat" cmpd="sng" w="12700">
            <a:solidFill>
              <a:srgbClr val="9AA3AD"/>
            </a:solidFill>
            <a:prstDash val="solid"/>
            <a:round/>
            <a:headEnd len="sm" w="sm" type="none"/>
            <a:tailEnd len="sm" w="sm" type="none"/>
          </a:ln>
          <a:effectLst>
            <a:outerShdw blurRad="1270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0"/>
          <p:cNvSpPr/>
          <p:nvPr/>
        </p:nvSpPr>
        <p:spPr>
          <a:xfrm>
            <a:off x="576072" y="1490472"/>
            <a:ext cx="7708392" cy="384048"/>
          </a:xfrm>
          <a:prstGeom prst="rect">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0"/>
          <p:cNvSpPr/>
          <p:nvPr/>
        </p:nvSpPr>
        <p:spPr>
          <a:xfrm>
            <a:off x="694944" y="1623060"/>
            <a:ext cx="100584" cy="100584"/>
          </a:xfrm>
          <a:prstGeom prst="ellipse">
            <a:avLst/>
          </a:prstGeom>
          <a:solidFill>
            <a:srgbClr val="E06C5A"/>
          </a:solidFill>
          <a:ln cap="flat" cmpd="sng" w="12700">
            <a:solidFill>
              <a:srgbClr val="E06C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0"/>
          <p:cNvSpPr/>
          <p:nvPr/>
        </p:nvSpPr>
        <p:spPr>
          <a:xfrm>
            <a:off x="850392" y="1623060"/>
            <a:ext cx="100584" cy="100584"/>
          </a:xfrm>
          <a:prstGeom prst="ellipse">
            <a:avLst/>
          </a:prstGeom>
          <a:solidFill>
            <a:srgbClr val="E0B84A"/>
          </a:solidFill>
          <a:ln cap="flat" cmpd="sng" w="12700">
            <a:solidFill>
              <a:srgbClr val="E0B8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0"/>
          <p:cNvSpPr/>
          <p:nvPr/>
        </p:nvSpPr>
        <p:spPr>
          <a:xfrm>
            <a:off x="1005840" y="1623060"/>
            <a:ext cx="100584" cy="100584"/>
          </a:xfrm>
          <a:prstGeom prst="ellipse">
            <a:avLst/>
          </a:prstGeom>
          <a:solidFill>
            <a:srgbClr val="5AB77A"/>
          </a:solidFill>
          <a:ln cap="flat" cmpd="sng" w="12700">
            <a:solidFill>
              <a:srgbClr val="5AB7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0"/>
          <p:cNvSpPr/>
          <p:nvPr/>
        </p:nvSpPr>
        <p:spPr>
          <a:xfrm>
            <a:off x="1225296" y="1508760"/>
            <a:ext cx="3108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FI Data Health Scanner  ·  Records</a:t>
            </a:r>
            <a:endParaRPr b="0" i="0" sz="1050" u="none" cap="none" strike="noStrike">
              <a:solidFill>
                <a:schemeClr val="dk1"/>
              </a:solidFill>
              <a:latin typeface="Calibri"/>
              <a:ea typeface="Calibri"/>
              <a:cs typeface="Calibri"/>
              <a:sym typeface="Calibri"/>
            </a:endParaRPr>
          </a:p>
        </p:txBody>
      </p:sp>
      <p:sp>
        <p:nvSpPr>
          <p:cNvPr id="1241" name="Google Shape;1241;p20"/>
          <p:cNvSpPr/>
          <p:nvPr/>
        </p:nvSpPr>
        <p:spPr>
          <a:xfrm>
            <a:off x="7803490" y="1563624"/>
            <a:ext cx="343814"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0"/>
          <p:cNvSpPr/>
          <p:nvPr/>
        </p:nvSpPr>
        <p:spPr>
          <a:xfrm>
            <a:off x="7803490" y="1563624"/>
            <a:ext cx="343814"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Fix</a:t>
            </a:r>
            <a:endParaRPr b="0" i="0" sz="850" u="none" cap="none" strike="noStrike">
              <a:solidFill>
                <a:schemeClr val="dk1"/>
              </a:solidFill>
              <a:latin typeface="Calibri"/>
              <a:ea typeface="Calibri"/>
              <a:cs typeface="Calibri"/>
              <a:sym typeface="Calibri"/>
            </a:endParaRPr>
          </a:p>
        </p:txBody>
      </p:sp>
      <p:sp>
        <p:nvSpPr>
          <p:cNvPr id="1243" name="Google Shape;1243;p20"/>
          <p:cNvSpPr/>
          <p:nvPr/>
        </p:nvSpPr>
        <p:spPr>
          <a:xfrm>
            <a:off x="7123176" y="1563624"/>
            <a:ext cx="607162" cy="228600"/>
          </a:xfrm>
          <a:prstGeom prst="roundRect">
            <a:avLst>
              <a:gd fmla="val 2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0"/>
          <p:cNvSpPr/>
          <p:nvPr/>
        </p:nvSpPr>
        <p:spPr>
          <a:xfrm>
            <a:off x="7123176" y="1563624"/>
            <a:ext cx="60716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Records</a:t>
            </a:r>
            <a:endParaRPr b="0" i="0" sz="850" u="none" cap="none" strike="noStrike">
              <a:solidFill>
                <a:schemeClr val="dk1"/>
              </a:solidFill>
              <a:latin typeface="Calibri"/>
              <a:ea typeface="Calibri"/>
              <a:cs typeface="Calibri"/>
              <a:sym typeface="Calibri"/>
            </a:endParaRPr>
          </a:p>
        </p:txBody>
      </p:sp>
      <p:sp>
        <p:nvSpPr>
          <p:cNvPr id="1245" name="Google Shape;1245;p20"/>
          <p:cNvSpPr/>
          <p:nvPr/>
        </p:nvSpPr>
        <p:spPr>
          <a:xfrm>
            <a:off x="6574536" y="1563624"/>
            <a:ext cx="47548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0"/>
          <p:cNvSpPr/>
          <p:nvPr/>
        </p:nvSpPr>
        <p:spPr>
          <a:xfrm>
            <a:off x="6574536" y="1563624"/>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Trend</a:t>
            </a:r>
            <a:endParaRPr b="0" i="0" sz="850" u="none" cap="none" strike="noStrike">
              <a:solidFill>
                <a:schemeClr val="dk1"/>
              </a:solidFill>
              <a:latin typeface="Calibri"/>
              <a:ea typeface="Calibri"/>
              <a:cs typeface="Calibri"/>
              <a:sym typeface="Calibri"/>
            </a:endParaRPr>
          </a:p>
        </p:txBody>
      </p:sp>
      <p:sp>
        <p:nvSpPr>
          <p:cNvPr id="1247" name="Google Shape;1247;p20"/>
          <p:cNvSpPr/>
          <p:nvPr/>
        </p:nvSpPr>
        <p:spPr>
          <a:xfrm>
            <a:off x="5894222" y="1563624"/>
            <a:ext cx="607162"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0"/>
          <p:cNvSpPr/>
          <p:nvPr/>
        </p:nvSpPr>
        <p:spPr>
          <a:xfrm>
            <a:off x="5894222" y="1563624"/>
            <a:ext cx="60716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Modules</a:t>
            </a:r>
            <a:endParaRPr b="0" i="0" sz="850" u="none" cap="none" strike="noStrike">
              <a:solidFill>
                <a:schemeClr val="dk1"/>
              </a:solidFill>
              <a:latin typeface="Calibri"/>
              <a:ea typeface="Calibri"/>
              <a:cs typeface="Calibri"/>
              <a:sym typeface="Calibri"/>
            </a:endParaRPr>
          </a:p>
        </p:txBody>
      </p:sp>
      <p:sp>
        <p:nvSpPr>
          <p:cNvPr id="1249" name="Google Shape;1249;p20"/>
          <p:cNvSpPr/>
          <p:nvPr/>
        </p:nvSpPr>
        <p:spPr>
          <a:xfrm>
            <a:off x="5345582" y="1563624"/>
            <a:ext cx="47548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0"/>
          <p:cNvSpPr/>
          <p:nvPr/>
        </p:nvSpPr>
        <p:spPr>
          <a:xfrm>
            <a:off x="5345582" y="1563624"/>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Users</a:t>
            </a:r>
            <a:endParaRPr b="0" i="0" sz="850" u="none" cap="none" strike="noStrike">
              <a:solidFill>
                <a:schemeClr val="dk1"/>
              </a:solidFill>
              <a:latin typeface="Calibri"/>
              <a:ea typeface="Calibri"/>
              <a:cs typeface="Calibri"/>
              <a:sym typeface="Calibri"/>
            </a:endParaRPr>
          </a:p>
        </p:txBody>
      </p:sp>
      <p:sp>
        <p:nvSpPr>
          <p:cNvPr id="1251" name="Google Shape;1251;p20"/>
          <p:cNvSpPr/>
          <p:nvPr/>
        </p:nvSpPr>
        <p:spPr>
          <a:xfrm>
            <a:off x="4599432" y="1563624"/>
            <a:ext cx="67299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0"/>
          <p:cNvSpPr/>
          <p:nvPr/>
        </p:nvSpPr>
        <p:spPr>
          <a:xfrm>
            <a:off x="4599432" y="1563624"/>
            <a:ext cx="67299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Overview</a:t>
            </a:r>
            <a:endParaRPr b="0" i="0" sz="850" u="none" cap="none" strike="noStrike">
              <a:solidFill>
                <a:schemeClr val="dk1"/>
              </a:solidFill>
              <a:latin typeface="Calibri"/>
              <a:ea typeface="Calibri"/>
              <a:cs typeface="Calibri"/>
              <a:sym typeface="Calibri"/>
            </a:endParaRPr>
          </a:p>
        </p:txBody>
      </p:sp>
      <p:sp>
        <p:nvSpPr>
          <p:cNvPr id="1253" name="Google Shape;1253;p20"/>
          <p:cNvSpPr/>
          <p:nvPr/>
        </p:nvSpPr>
        <p:spPr>
          <a:xfrm>
            <a:off x="704088" y="1984248"/>
            <a:ext cx="901598" cy="219456"/>
          </a:xfrm>
          <a:prstGeom prst="roundRect">
            <a:avLst>
              <a:gd fmla="val 25000"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0"/>
          <p:cNvSpPr/>
          <p:nvPr/>
        </p:nvSpPr>
        <p:spPr>
          <a:xfrm>
            <a:off x="704088" y="1984248"/>
            <a:ext cx="90159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35C"/>
              </a:buClr>
              <a:buSzPts val="760"/>
              <a:buFont typeface="Calibri"/>
              <a:buNone/>
            </a:pPr>
            <a:r>
              <a:rPr b="1" i="0" lang="en-US" sz="760" u="none" cap="none" strike="noStrike">
                <a:solidFill>
                  <a:srgbClr val="4B535C"/>
                </a:solidFill>
                <a:latin typeface="Calibri"/>
                <a:ea typeface="Calibri"/>
                <a:cs typeface="Calibri"/>
                <a:sym typeface="Calibri"/>
              </a:rPr>
              <a:t>Proper 20,164</a:t>
            </a:r>
            <a:endParaRPr b="0" i="0" sz="760" u="none" cap="none" strike="noStrike">
              <a:solidFill>
                <a:schemeClr val="dk1"/>
              </a:solidFill>
              <a:latin typeface="Calibri"/>
              <a:ea typeface="Calibri"/>
              <a:cs typeface="Calibri"/>
              <a:sym typeface="Calibri"/>
            </a:endParaRPr>
          </a:p>
        </p:txBody>
      </p:sp>
      <p:sp>
        <p:nvSpPr>
          <p:cNvPr id="1255" name="Google Shape;1255;p20"/>
          <p:cNvSpPr/>
          <p:nvPr/>
        </p:nvSpPr>
        <p:spPr>
          <a:xfrm>
            <a:off x="1669694" y="1984248"/>
            <a:ext cx="1071677" cy="219456"/>
          </a:xfrm>
          <a:prstGeom prst="roundRect">
            <a:avLst>
              <a:gd fmla="val 25000"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0"/>
          <p:cNvSpPr/>
          <p:nvPr/>
        </p:nvSpPr>
        <p:spPr>
          <a:xfrm>
            <a:off x="1669694" y="1984248"/>
            <a:ext cx="1071677"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35C"/>
              </a:buClr>
              <a:buSzPts val="760"/>
              <a:buFont typeface="Calibri"/>
              <a:buNone/>
            </a:pPr>
            <a:r>
              <a:rPr b="1" i="0" lang="en-US" sz="760" u="none" cap="none" strike="noStrike">
                <a:solidFill>
                  <a:srgbClr val="4B535C"/>
                </a:solidFill>
                <a:latin typeface="Calibri"/>
                <a:ea typeface="Calibri"/>
                <a:cs typeface="Calibri"/>
                <a:sym typeface="Calibri"/>
              </a:rPr>
              <a:t>Incomplete 5,619</a:t>
            </a:r>
            <a:endParaRPr b="0" i="0" sz="760" u="none" cap="none" strike="noStrike">
              <a:solidFill>
                <a:schemeClr val="dk1"/>
              </a:solidFill>
              <a:latin typeface="Calibri"/>
              <a:ea typeface="Calibri"/>
              <a:cs typeface="Calibri"/>
              <a:sym typeface="Calibri"/>
            </a:endParaRPr>
          </a:p>
        </p:txBody>
      </p:sp>
      <p:sp>
        <p:nvSpPr>
          <p:cNvPr id="1257" name="Google Shape;1257;p20"/>
          <p:cNvSpPr/>
          <p:nvPr/>
        </p:nvSpPr>
        <p:spPr>
          <a:xfrm>
            <a:off x="2805379" y="1984248"/>
            <a:ext cx="1071677" cy="219456"/>
          </a:xfrm>
          <a:prstGeom prst="roundRect">
            <a:avLst>
              <a:gd fmla="val 25000"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0"/>
          <p:cNvSpPr/>
          <p:nvPr/>
        </p:nvSpPr>
        <p:spPr>
          <a:xfrm>
            <a:off x="2805379" y="1984248"/>
            <a:ext cx="1071677"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35C"/>
              </a:buClr>
              <a:buSzPts val="760"/>
              <a:buFont typeface="Calibri"/>
              <a:buNone/>
            </a:pPr>
            <a:r>
              <a:rPr b="1" i="0" lang="en-US" sz="760" u="none" cap="none" strike="noStrike">
                <a:solidFill>
                  <a:srgbClr val="4B535C"/>
                </a:solidFill>
                <a:latin typeface="Calibri"/>
                <a:ea typeface="Calibri"/>
                <a:cs typeface="Calibri"/>
                <a:sym typeface="Calibri"/>
              </a:rPr>
              <a:t>Inaccurate 2,975</a:t>
            </a:r>
            <a:endParaRPr b="0" i="0" sz="760" u="none" cap="none" strike="noStrike">
              <a:solidFill>
                <a:schemeClr val="dk1"/>
              </a:solidFill>
              <a:latin typeface="Calibri"/>
              <a:ea typeface="Calibri"/>
              <a:cs typeface="Calibri"/>
              <a:sym typeface="Calibri"/>
            </a:endParaRPr>
          </a:p>
        </p:txBody>
      </p:sp>
      <p:sp>
        <p:nvSpPr>
          <p:cNvPr id="1259" name="Google Shape;1259;p20"/>
          <p:cNvSpPr/>
          <p:nvPr/>
        </p:nvSpPr>
        <p:spPr>
          <a:xfrm>
            <a:off x="3941064" y="1984248"/>
            <a:ext cx="1071677" cy="219456"/>
          </a:xfrm>
          <a:prstGeom prst="roundRect">
            <a:avLst>
              <a:gd fmla="val 25000" name="adj"/>
            </a:avLst>
          </a:prstGeom>
          <a:solidFill>
            <a:srgbClr val="7A5AA6"/>
          </a:solidFill>
          <a:ln cap="flat" cmpd="sng" w="12700">
            <a:solidFill>
              <a:srgbClr val="7A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0"/>
          <p:cNvSpPr/>
          <p:nvPr/>
        </p:nvSpPr>
        <p:spPr>
          <a:xfrm>
            <a:off x="3941064" y="1984248"/>
            <a:ext cx="1071677"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Suspicious 1,322</a:t>
            </a:r>
            <a:endParaRPr b="0" i="0" sz="760" u="none" cap="none" strike="noStrike">
              <a:solidFill>
                <a:schemeClr val="dk1"/>
              </a:solidFill>
              <a:latin typeface="Calibri"/>
              <a:ea typeface="Calibri"/>
              <a:cs typeface="Calibri"/>
              <a:sym typeface="Calibri"/>
            </a:endParaRPr>
          </a:p>
        </p:txBody>
      </p:sp>
      <p:sp>
        <p:nvSpPr>
          <p:cNvPr id="1261" name="Google Shape;1261;p20"/>
          <p:cNvSpPr/>
          <p:nvPr/>
        </p:nvSpPr>
        <p:spPr>
          <a:xfrm>
            <a:off x="5076749" y="1984248"/>
            <a:ext cx="1014984" cy="219456"/>
          </a:xfrm>
          <a:prstGeom prst="roundRect">
            <a:avLst>
              <a:gd fmla="val 25000"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0"/>
          <p:cNvSpPr/>
          <p:nvPr/>
        </p:nvSpPr>
        <p:spPr>
          <a:xfrm>
            <a:off x="5076749" y="1984248"/>
            <a:ext cx="101498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35C"/>
              </a:buClr>
              <a:buSzPts val="760"/>
              <a:buFont typeface="Calibri"/>
              <a:buNone/>
            </a:pPr>
            <a:r>
              <a:rPr b="1" i="0" lang="en-US" sz="760" u="none" cap="none" strike="noStrike">
                <a:solidFill>
                  <a:srgbClr val="4B535C"/>
                </a:solidFill>
                <a:latin typeface="Calibri"/>
                <a:ea typeface="Calibri"/>
                <a:cs typeface="Calibri"/>
                <a:sym typeface="Calibri"/>
              </a:rPr>
              <a:t>Suspected 1,983</a:t>
            </a:r>
            <a:endParaRPr b="0" i="0" sz="760" u="none" cap="none" strike="noStrike">
              <a:solidFill>
                <a:schemeClr val="dk1"/>
              </a:solidFill>
              <a:latin typeface="Calibri"/>
              <a:ea typeface="Calibri"/>
              <a:cs typeface="Calibri"/>
              <a:sym typeface="Calibri"/>
            </a:endParaRPr>
          </a:p>
        </p:txBody>
      </p:sp>
      <p:sp>
        <p:nvSpPr>
          <p:cNvPr id="1263" name="Google Shape;1263;p20"/>
          <p:cNvSpPr/>
          <p:nvPr/>
        </p:nvSpPr>
        <p:spPr>
          <a:xfrm>
            <a:off x="6155741" y="1984248"/>
            <a:ext cx="901598" cy="219456"/>
          </a:xfrm>
          <a:prstGeom prst="roundRect">
            <a:avLst>
              <a:gd fmla="val 25000"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0"/>
          <p:cNvSpPr/>
          <p:nvPr/>
        </p:nvSpPr>
        <p:spPr>
          <a:xfrm>
            <a:off x="6155741" y="1984248"/>
            <a:ext cx="90159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35C"/>
              </a:buClr>
              <a:buSzPts val="760"/>
              <a:buFont typeface="Calibri"/>
              <a:buNone/>
            </a:pPr>
            <a:r>
              <a:rPr b="1" i="0" lang="en-US" sz="760" u="none" cap="none" strike="noStrike">
                <a:solidFill>
                  <a:srgbClr val="4B535C"/>
                </a:solidFill>
                <a:latin typeface="Calibri"/>
                <a:ea typeface="Calibri"/>
                <a:cs typeface="Calibri"/>
                <a:sym typeface="Calibri"/>
              </a:rPr>
              <a:t>Confirmed 992</a:t>
            </a:r>
            <a:endParaRPr b="0" i="0" sz="760" u="none" cap="none" strike="noStrike">
              <a:solidFill>
                <a:schemeClr val="dk1"/>
              </a:solidFill>
              <a:latin typeface="Calibri"/>
              <a:ea typeface="Calibri"/>
              <a:cs typeface="Calibri"/>
              <a:sym typeface="Calibri"/>
            </a:endParaRPr>
          </a:p>
        </p:txBody>
      </p:sp>
      <p:sp>
        <p:nvSpPr>
          <p:cNvPr id="1265" name="Google Shape;1265;p20"/>
          <p:cNvSpPr/>
          <p:nvPr/>
        </p:nvSpPr>
        <p:spPr>
          <a:xfrm>
            <a:off x="704088" y="2313432"/>
            <a:ext cx="7452360" cy="228600"/>
          </a:xfrm>
          <a:prstGeom prst="rect">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0"/>
          <p:cNvSpPr/>
          <p:nvPr/>
        </p:nvSpPr>
        <p:spPr>
          <a:xfrm>
            <a:off x="768096" y="2313432"/>
            <a:ext cx="1325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Record</a:t>
            </a:r>
            <a:endParaRPr b="0" i="0" sz="780" u="none" cap="none" strike="noStrike">
              <a:solidFill>
                <a:schemeClr val="dk1"/>
              </a:solidFill>
              <a:latin typeface="Calibri"/>
              <a:ea typeface="Calibri"/>
              <a:cs typeface="Calibri"/>
              <a:sym typeface="Calibri"/>
            </a:endParaRPr>
          </a:p>
        </p:txBody>
      </p:sp>
      <p:sp>
        <p:nvSpPr>
          <p:cNvPr id="1267" name="Google Shape;1267;p20"/>
          <p:cNvSpPr/>
          <p:nvPr/>
        </p:nvSpPr>
        <p:spPr>
          <a:xfrm>
            <a:off x="2185416" y="23134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Module</a:t>
            </a:r>
            <a:endParaRPr b="0" i="0" sz="780" u="none" cap="none" strike="noStrike">
              <a:solidFill>
                <a:schemeClr val="dk1"/>
              </a:solidFill>
              <a:latin typeface="Calibri"/>
              <a:ea typeface="Calibri"/>
              <a:cs typeface="Calibri"/>
              <a:sym typeface="Calibri"/>
            </a:endParaRPr>
          </a:p>
        </p:txBody>
      </p:sp>
      <p:sp>
        <p:nvSpPr>
          <p:cNvPr id="1268" name="Google Shape;1268;p20"/>
          <p:cNvSpPr/>
          <p:nvPr/>
        </p:nvSpPr>
        <p:spPr>
          <a:xfrm>
            <a:off x="3054096" y="2313432"/>
            <a:ext cx="19659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Why it was flagged</a:t>
            </a:r>
            <a:endParaRPr b="0" i="0" sz="780" u="none" cap="none" strike="noStrike">
              <a:solidFill>
                <a:schemeClr val="dk1"/>
              </a:solidFill>
              <a:latin typeface="Calibri"/>
              <a:ea typeface="Calibri"/>
              <a:cs typeface="Calibri"/>
              <a:sym typeface="Calibri"/>
            </a:endParaRPr>
          </a:p>
        </p:txBody>
      </p:sp>
      <p:sp>
        <p:nvSpPr>
          <p:cNvPr id="1269" name="Google Shape;1269;p20"/>
          <p:cNvSpPr/>
          <p:nvPr/>
        </p:nvSpPr>
        <p:spPr>
          <a:xfrm>
            <a:off x="5111496" y="2313432"/>
            <a:ext cx="1051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Created by</a:t>
            </a:r>
            <a:endParaRPr b="0" i="0" sz="780" u="none" cap="none" strike="noStrike">
              <a:solidFill>
                <a:schemeClr val="dk1"/>
              </a:solidFill>
              <a:latin typeface="Calibri"/>
              <a:ea typeface="Calibri"/>
              <a:cs typeface="Calibri"/>
              <a:sym typeface="Calibri"/>
            </a:endParaRPr>
          </a:p>
        </p:txBody>
      </p:sp>
      <p:sp>
        <p:nvSpPr>
          <p:cNvPr id="1270" name="Google Shape;1270;p20"/>
          <p:cNvSpPr/>
          <p:nvPr/>
        </p:nvSpPr>
        <p:spPr>
          <a:xfrm>
            <a:off x="6254496" y="2313432"/>
            <a:ext cx="7315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Created</a:t>
            </a:r>
            <a:endParaRPr b="0" i="0" sz="780" u="none" cap="none" strike="noStrike">
              <a:solidFill>
                <a:schemeClr val="dk1"/>
              </a:solidFill>
              <a:latin typeface="Calibri"/>
              <a:ea typeface="Calibri"/>
              <a:cs typeface="Calibri"/>
              <a:sym typeface="Calibri"/>
            </a:endParaRPr>
          </a:p>
        </p:txBody>
      </p:sp>
      <p:sp>
        <p:nvSpPr>
          <p:cNvPr id="1271" name="Google Shape;1271;p20"/>
          <p:cNvSpPr/>
          <p:nvPr/>
        </p:nvSpPr>
        <p:spPr>
          <a:xfrm>
            <a:off x="7077456" y="2313432"/>
            <a:ext cx="1051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Suggested fix</a:t>
            </a:r>
            <a:endParaRPr b="0" i="0" sz="780" u="none" cap="none" strike="noStrike">
              <a:solidFill>
                <a:schemeClr val="dk1"/>
              </a:solidFill>
              <a:latin typeface="Calibri"/>
              <a:ea typeface="Calibri"/>
              <a:cs typeface="Calibri"/>
              <a:sym typeface="Calibri"/>
            </a:endParaRPr>
          </a:p>
        </p:txBody>
      </p:sp>
      <p:sp>
        <p:nvSpPr>
          <p:cNvPr id="1272" name="Google Shape;1272;p20"/>
          <p:cNvSpPr/>
          <p:nvPr/>
        </p:nvSpPr>
        <p:spPr>
          <a:xfrm>
            <a:off x="704088" y="2542032"/>
            <a:ext cx="7452360" cy="228600"/>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0"/>
          <p:cNvSpPr/>
          <p:nvPr/>
        </p:nvSpPr>
        <p:spPr>
          <a:xfrm>
            <a:off x="768096" y="2542032"/>
            <a:ext cx="1325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Lead 402118</a:t>
            </a:r>
            <a:endParaRPr b="0" i="0" sz="780" u="none" cap="none" strike="noStrike">
              <a:solidFill>
                <a:schemeClr val="dk1"/>
              </a:solidFill>
              <a:latin typeface="Calibri"/>
              <a:ea typeface="Calibri"/>
              <a:cs typeface="Calibri"/>
              <a:sym typeface="Calibri"/>
            </a:endParaRPr>
          </a:p>
        </p:txBody>
      </p:sp>
      <p:sp>
        <p:nvSpPr>
          <p:cNvPr id="1274" name="Google Shape;1274;p20"/>
          <p:cNvSpPr/>
          <p:nvPr/>
        </p:nvSpPr>
        <p:spPr>
          <a:xfrm>
            <a:off x="2185416" y="25420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Leads</a:t>
            </a:r>
            <a:endParaRPr b="0" i="0" sz="780" u="none" cap="none" strike="noStrike">
              <a:solidFill>
                <a:schemeClr val="dk1"/>
              </a:solidFill>
              <a:latin typeface="Calibri"/>
              <a:ea typeface="Calibri"/>
              <a:cs typeface="Calibri"/>
              <a:sym typeface="Calibri"/>
            </a:endParaRPr>
          </a:p>
        </p:txBody>
      </p:sp>
      <p:sp>
        <p:nvSpPr>
          <p:cNvPr id="1275" name="Google Shape;1275;p20"/>
          <p:cNvSpPr/>
          <p:nvPr/>
        </p:nvSpPr>
        <p:spPr>
          <a:xfrm>
            <a:off x="3054096" y="2542032"/>
            <a:ext cx="19659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38 leads by one user in 4 minutes</a:t>
            </a:r>
            <a:endParaRPr b="0" i="0" sz="780" u="none" cap="none" strike="noStrike">
              <a:solidFill>
                <a:schemeClr val="dk1"/>
              </a:solidFill>
              <a:latin typeface="Calibri"/>
              <a:ea typeface="Calibri"/>
              <a:cs typeface="Calibri"/>
              <a:sym typeface="Calibri"/>
            </a:endParaRPr>
          </a:p>
        </p:txBody>
      </p:sp>
      <p:sp>
        <p:nvSpPr>
          <p:cNvPr id="1276" name="Google Shape;1276;p20"/>
          <p:cNvSpPr/>
          <p:nvPr/>
        </p:nvSpPr>
        <p:spPr>
          <a:xfrm>
            <a:off x="5111496" y="2542032"/>
            <a:ext cx="1051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S. Iyer</a:t>
            </a:r>
            <a:endParaRPr b="0" i="0" sz="780" u="none" cap="none" strike="noStrike">
              <a:solidFill>
                <a:schemeClr val="dk1"/>
              </a:solidFill>
              <a:latin typeface="Calibri"/>
              <a:ea typeface="Calibri"/>
              <a:cs typeface="Calibri"/>
              <a:sym typeface="Calibri"/>
            </a:endParaRPr>
          </a:p>
        </p:txBody>
      </p:sp>
      <p:sp>
        <p:nvSpPr>
          <p:cNvPr id="1277" name="Google Shape;1277;p20"/>
          <p:cNvSpPr/>
          <p:nvPr/>
        </p:nvSpPr>
        <p:spPr>
          <a:xfrm>
            <a:off x="6254496" y="2542032"/>
            <a:ext cx="7315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12 Jun</a:t>
            </a:r>
            <a:endParaRPr b="0" i="0" sz="780" u="none" cap="none" strike="noStrike">
              <a:solidFill>
                <a:schemeClr val="dk1"/>
              </a:solidFill>
              <a:latin typeface="Calibri"/>
              <a:ea typeface="Calibri"/>
              <a:cs typeface="Calibri"/>
              <a:sym typeface="Calibri"/>
            </a:endParaRPr>
          </a:p>
        </p:txBody>
      </p:sp>
      <p:sp>
        <p:nvSpPr>
          <p:cNvPr id="1278" name="Google Shape;1278;p20"/>
          <p:cNvSpPr/>
          <p:nvPr/>
        </p:nvSpPr>
        <p:spPr>
          <a:xfrm>
            <a:off x="7077456" y="2583180"/>
            <a:ext cx="960120" cy="146304"/>
          </a:xfrm>
          <a:prstGeom prst="roundRect">
            <a:avLst>
              <a:gd fmla="val 37500" name="adj"/>
            </a:avLst>
          </a:prstGeom>
          <a:solidFill>
            <a:srgbClr val="C77700"/>
          </a:solidFill>
          <a:ln cap="flat" cmpd="sng" w="12700">
            <a:solidFill>
              <a:srgbClr val="C77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0"/>
          <p:cNvSpPr/>
          <p:nvPr/>
        </p:nvSpPr>
        <p:spPr>
          <a:xfrm>
            <a:off x="7077456" y="2583180"/>
            <a:ext cx="9601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Manual audit</a:t>
            </a:r>
            <a:endParaRPr b="0" i="0" sz="760" u="none" cap="none" strike="noStrike">
              <a:solidFill>
                <a:schemeClr val="dk1"/>
              </a:solidFill>
              <a:latin typeface="Calibri"/>
              <a:ea typeface="Calibri"/>
              <a:cs typeface="Calibri"/>
              <a:sym typeface="Calibri"/>
            </a:endParaRPr>
          </a:p>
        </p:txBody>
      </p:sp>
      <p:sp>
        <p:nvSpPr>
          <p:cNvPr id="1280" name="Google Shape;1280;p20"/>
          <p:cNvSpPr/>
          <p:nvPr/>
        </p:nvSpPr>
        <p:spPr>
          <a:xfrm>
            <a:off x="704088" y="2770632"/>
            <a:ext cx="7452360" cy="228600"/>
          </a:xfrm>
          <a:prstGeom prst="rect">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0"/>
          <p:cNvSpPr/>
          <p:nvPr/>
        </p:nvSpPr>
        <p:spPr>
          <a:xfrm>
            <a:off x="768096" y="2770632"/>
            <a:ext cx="1325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Lead 402119</a:t>
            </a:r>
            <a:endParaRPr b="0" i="0" sz="780" u="none" cap="none" strike="noStrike">
              <a:solidFill>
                <a:schemeClr val="dk1"/>
              </a:solidFill>
              <a:latin typeface="Calibri"/>
              <a:ea typeface="Calibri"/>
              <a:cs typeface="Calibri"/>
              <a:sym typeface="Calibri"/>
            </a:endParaRPr>
          </a:p>
        </p:txBody>
      </p:sp>
      <p:sp>
        <p:nvSpPr>
          <p:cNvPr id="1282" name="Google Shape;1282;p20"/>
          <p:cNvSpPr/>
          <p:nvPr/>
        </p:nvSpPr>
        <p:spPr>
          <a:xfrm>
            <a:off x="2185416" y="27706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Leads</a:t>
            </a:r>
            <a:endParaRPr b="0" i="0" sz="780" u="none" cap="none" strike="noStrike">
              <a:solidFill>
                <a:schemeClr val="dk1"/>
              </a:solidFill>
              <a:latin typeface="Calibri"/>
              <a:ea typeface="Calibri"/>
              <a:cs typeface="Calibri"/>
              <a:sym typeface="Calibri"/>
            </a:endParaRPr>
          </a:p>
        </p:txBody>
      </p:sp>
      <p:sp>
        <p:nvSpPr>
          <p:cNvPr id="1283" name="Google Shape;1283;p20"/>
          <p:cNvSpPr/>
          <p:nvPr/>
        </p:nvSpPr>
        <p:spPr>
          <a:xfrm>
            <a:off x="3054096" y="2770632"/>
            <a:ext cx="19659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Same mobile as 29 other leads</a:t>
            </a:r>
            <a:endParaRPr b="0" i="0" sz="780" u="none" cap="none" strike="noStrike">
              <a:solidFill>
                <a:schemeClr val="dk1"/>
              </a:solidFill>
              <a:latin typeface="Calibri"/>
              <a:ea typeface="Calibri"/>
              <a:cs typeface="Calibri"/>
              <a:sym typeface="Calibri"/>
            </a:endParaRPr>
          </a:p>
        </p:txBody>
      </p:sp>
      <p:sp>
        <p:nvSpPr>
          <p:cNvPr id="1284" name="Google Shape;1284;p20"/>
          <p:cNvSpPr/>
          <p:nvPr/>
        </p:nvSpPr>
        <p:spPr>
          <a:xfrm>
            <a:off x="5111496" y="2770632"/>
            <a:ext cx="1051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S. Iyer</a:t>
            </a:r>
            <a:endParaRPr b="0" i="0" sz="780" u="none" cap="none" strike="noStrike">
              <a:solidFill>
                <a:schemeClr val="dk1"/>
              </a:solidFill>
              <a:latin typeface="Calibri"/>
              <a:ea typeface="Calibri"/>
              <a:cs typeface="Calibri"/>
              <a:sym typeface="Calibri"/>
            </a:endParaRPr>
          </a:p>
        </p:txBody>
      </p:sp>
      <p:sp>
        <p:nvSpPr>
          <p:cNvPr id="1285" name="Google Shape;1285;p20"/>
          <p:cNvSpPr/>
          <p:nvPr/>
        </p:nvSpPr>
        <p:spPr>
          <a:xfrm>
            <a:off x="6254496" y="2770632"/>
            <a:ext cx="7315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12 Jun</a:t>
            </a:r>
            <a:endParaRPr b="0" i="0" sz="780" u="none" cap="none" strike="noStrike">
              <a:solidFill>
                <a:schemeClr val="dk1"/>
              </a:solidFill>
              <a:latin typeface="Calibri"/>
              <a:ea typeface="Calibri"/>
              <a:cs typeface="Calibri"/>
              <a:sym typeface="Calibri"/>
            </a:endParaRPr>
          </a:p>
        </p:txBody>
      </p:sp>
      <p:sp>
        <p:nvSpPr>
          <p:cNvPr id="1286" name="Google Shape;1286;p20"/>
          <p:cNvSpPr/>
          <p:nvPr/>
        </p:nvSpPr>
        <p:spPr>
          <a:xfrm>
            <a:off x="7077456" y="2811780"/>
            <a:ext cx="960120" cy="146304"/>
          </a:xfrm>
          <a:prstGeom prst="roundRect">
            <a:avLst>
              <a:gd fmla="val 37500" name="adj"/>
            </a:avLst>
          </a:prstGeom>
          <a:solidFill>
            <a:srgbClr val="C77700"/>
          </a:solidFill>
          <a:ln cap="flat" cmpd="sng" w="12700">
            <a:solidFill>
              <a:srgbClr val="C77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0"/>
          <p:cNvSpPr/>
          <p:nvPr/>
        </p:nvSpPr>
        <p:spPr>
          <a:xfrm>
            <a:off x="7077456" y="2811780"/>
            <a:ext cx="9601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Manual audit</a:t>
            </a:r>
            <a:endParaRPr b="0" i="0" sz="760" u="none" cap="none" strike="noStrike">
              <a:solidFill>
                <a:schemeClr val="dk1"/>
              </a:solidFill>
              <a:latin typeface="Calibri"/>
              <a:ea typeface="Calibri"/>
              <a:cs typeface="Calibri"/>
              <a:sym typeface="Calibri"/>
            </a:endParaRPr>
          </a:p>
        </p:txBody>
      </p:sp>
      <p:sp>
        <p:nvSpPr>
          <p:cNvPr id="1288" name="Google Shape;1288;p20"/>
          <p:cNvSpPr/>
          <p:nvPr/>
        </p:nvSpPr>
        <p:spPr>
          <a:xfrm>
            <a:off x="704088" y="2999232"/>
            <a:ext cx="7452360" cy="228600"/>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0"/>
          <p:cNvSpPr/>
          <p:nvPr/>
        </p:nvSpPr>
        <p:spPr>
          <a:xfrm>
            <a:off x="768096" y="2999232"/>
            <a:ext cx="1325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Contact 88104</a:t>
            </a:r>
            <a:endParaRPr b="0" i="0" sz="780" u="none" cap="none" strike="noStrike">
              <a:solidFill>
                <a:schemeClr val="dk1"/>
              </a:solidFill>
              <a:latin typeface="Calibri"/>
              <a:ea typeface="Calibri"/>
              <a:cs typeface="Calibri"/>
              <a:sym typeface="Calibri"/>
            </a:endParaRPr>
          </a:p>
        </p:txBody>
      </p:sp>
      <p:sp>
        <p:nvSpPr>
          <p:cNvPr id="1290" name="Google Shape;1290;p20"/>
          <p:cNvSpPr/>
          <p:nvPr/>
        </p:nvSpPr>
        <p:spPr>
          <a:xfrm>
            <a:off x="2185416" y="29992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Contacts</a:t>
            </a:r>
            <a:endParaRPr b="0" i="0" sz="780" u="none" cap="none" strike="noStrike">
              <a:solidFill>
                <a:schemeClr val="dk1"/>
              </a:solidFill>
              <a:latin typeface="Calibri"/>
              <a:ea typeface="Calibri"/>
              <a:cs typeface="Calibri"/>
              <a:sym typeface="Calibri"/>
            </a:endParaRPr>
          </a:p>
        </p:txBody>
      </p:sp>
      <p:sp>
        <p:nvSpPr>
          <p:cNvPr id="1291" name="Google Shape;1291;p20"/>
          <p:cNvSpPr/>
          <p:nvPr/>
        </p:nvSpPr>
        <p:spPr>
          <a:xfrm>
            <a:off x="3054096" y="2999232"/>
            <a:ext cx="19659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Name field reads asdfgh</a:t>
            </a:r>
            <a:endParaRPr b="0" i="0" sz="780" u="none" cap="none" strike="noStrike">
              <a:solidFill>
                <a:schemeClr val="dk1"/>
              </a:solidFill>
              <a:latin typeface="Calibri"/>
              <a:ea typeface="Calibri"/>
              <a:cs typeface="Calibri"/>
              <a:sym typeface="Calibri"/>
            </a:endParaRPr>
          </a:p>
        </p:txBody>
      </p:sp>
      <p:sp>
        <p:nvSpPr>
          <p:cNvPr id="1292" name="Google Shape;1292;p20"/>
          <p:cNvSpPr/>
          <p:nvPr/>
        </p:nvSpPr>
        <p:spPr>
          <a:xfrm>
            <a:off x="5111496" y="2999232"/>
            <a:ext cx="1051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S. Iyer</a:t>
            </a:r>
            <a:endParaRPr b="0" i="0" sz="780" u="none" cap="none" strike="noStrike">
              <a:solidFill>
                <a:schemeClr val="dk1"/>
              </a:solidFill>
              <a:latin typeface="Calibri"/>
              <a:ea typeface="Calibri"/>
              <a:cs typeface="Calibri"/>
              <a:sym typeface="Calibri"/>
            </a:endParaRPr>
          </a:p>
        </p:txBody>
      </p:sp>
      <p:sp>
        <p:nvSpPr>
          <p:cNvPr id="1293" name="Google Shape;1293;p20"/>
          <p:cNvSpPr/>
          <p:nvPr/>
        </p:nvSpPr>
        <p:spPr>
          <a:xfrm>
            <a:off x="6254496" y="2999232"/>
            <a:ext cx="7315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03 Jul</a:t>
            </a:r>
            <a:endParaRPr b="0" i="0" sz="780" u="none" cap="none" strike="noStrike">
              <a:solidFill>
                <a:schemeClr val="dk1"/>
              </a:solidFill>
              <a:latin typeface="Calibri"/>
              <a:ea typeface="Calibri"/>
              <a:cs typeface="Calibri"/>
              <a:sym typeface="Calibri"/>
            </a:endParaRPr>
          </a:p>
        </p:txBody>
      </p:sp>
      <p:sp>
        <p:nvSpPr>
          <p:cNvPr id="1294" name="Google Shape;1294;p20"/>
          <p:cNvSpPr/>
          <p:nvPr/>
        </p:nvSpPr>
        <p:spPr>
          <a:xfrm>
            <a:off x="7077456" y="3040380"/>
            <a:ext cx="1005840" cy="146304"/>
          </a:xfrm>
          <a:prstGeom prst="roundRect">
            <a:avLst>
              <a:gd fmla="val 37500" name="adj"/>
            </a:avLst>
          </a:prstGeom>
          <a:solidFill>
            <a:srgbClr val="B8443A"/>
          </a:solidFill>
          <a:ln cap="flat" cmpd="sng" w="12700">
            <a:solidFill>
              <a:srgbClr val="B844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0"/>
          <p:cNvSpPr/>
          <p:nvPr/>
        </p:nvSpPr>
        <p:spPr>
          <a:xfrm>
            <a:off x="7077456" y="3040380"/>
            <a:ext cx="100584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Delete or fix</a:t>
            </a:r>
            <a:endParaRPr b="0" i="0" sz="760" u="none" cap="none" strike="noStrike">
              <a:solidFill>
                <a:schemeClr val="dk1"/>
              </a:solidFill>
              <a:latin typeface="Calibri"/>
              <a:ea typeface="Calibri"/>
              <a:cs typeface="Calibri"/>
              <a:sym typeface="Calibri"/>
            </a:endParaRPr>
          </a:p>
        </p:txBody>
      </p:sp>
      <p:sp>
        <p:nvSpPr>
          <p:cNvPr id="1296" name="Google Shape;1296;p20"/>
          <p:cNvSpPr/>
          <p:nvPr/>
        </p:nvSpPr>
        <p:spPr>
          <a:xfrm>
            <a:off x="704088" y="3227832"/>
            <a:ext cx="7452360" cy="228600"/>
          </a:xfrm>
          <a:prstGeom prst="rect">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0"/>
          <p:cNvSpPr/>
          <p:nvPr/>
        </p:nvSpPr>
        <p:spPr>
          <a:xfrm>
            <a:off x="768096" y="3227832"/>
            <a:ext cx="1325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Deal 55021</a:t>
            </a:r>
            <a:endParaRPr b="0" i="0" sz="780" u="none" cap="none" strike="noStrike">
              <a:solidFill>
                <a:schemeClr val="dk1"/>
              </a:solidFill>
              <a:latin typeface="Calibri"/>
              <a:ea typeface="Calibri"/>
              <a:cs typeface="Calibri"/>
              <a:sym typeface="Calibri"/>
            </a:endParaRPr>
          </a:p>
        </p:txBody>
      </p:sp>
      <p:sp>
        <p:nvSpPr>
          <p:cNvPr id="1298" name="Google Shape;1298;p20"/>
          <p:cNvSpPr/>
          <p:nvPr/>
        </p:nvSpPr>
        <p:spPr>
          <a:xfrm>
            <a:off x="2185416" y="32278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Deals</a:t>
            </a:r>
            <a:endParaRPr b="0" i="0" sz="780" u="none" cap="none" strike="noStrike">
              <a:solidFill>
                <a:schemeClr val="dk1"/>
              </a:solidFill>
              <a:latin typeface="Calibri"/>
              <a:ea typeface="Calibri"/>
              <a:cs typeface="Calibri"/>
              <a:sym typeface="Calibri"/>
            </a:endParaRPr>
          </a:p>
        </p:txBody>
      </p:sp>
      <p:sp>
        <p:nvSpPr>
          <p:cNvPr id="1299" name="Google Shape;1299;p20"/>
          <p:cNvSpPr/>
          <p:nvPr/>
        </p:nvSpPr>
        <p:spPr>
          <a:xfrm>
            <a:off x="3054096" y="3227832"/>
            <a:ext cx="19659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Created and won in the same minute</a:t>
            </a:r>
            <a:endParaRPr b="0" i="0" sz="780" u="none" cap="none" strike="noStrike">
              <a:solidFill>
                <a:schemeClr val="dk1"/>
              </a:solidFill>
              <a:latin typeface="Calibri"/>
              <a:ea typeface="Calibri"/>
              <a:cs typeface="Calibri"/>
              <a:sym typeface="Calibri"/>
            </a:endParaRPr>
          </a:p>
        </p:txBody>
      </p:sp>
      <p:sp>
        <p:nvSpPr>
          <p:cNvPr id="1300" name="Google Shape;1300;p20"/>
          <p:cNvSpPr/>
          <p:nvPr/>
        </p:nvSpPr>
        <p:spPr>
          <a:xfrm>
            <a:off x="5111496" y="3227832"/>
            <a:ext cx="1051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N. Gupta</a:t>
            </a:r>
            <a:endParaRPr b="0" i="0" sz="780" u="none" cap="none" strike="noStrike">
              <a:solidFill>
                <a:schemeClr val="dk1"/>
              </a:solidFill>
              <a:latin typeface="Calibri"/>
              <a:ea typeface="Calibri"/>
              <a:cs typeface="Calibri"/>
              <a:sym typeface="Calibri"/>
            </a:endParaRPr>
          </a:p>
        </p:txBody>
      </p:sp>
      <p:sp>
        <p:nvSpPr>
          <p:cNvPr id="1301" name="Google Shape;1301;p20"/>
          <p:cNvSpPr/>
          <p:nvPr/>
        </p:nvSpPr>
        <p:spPr>
          <a:xfrm>
            <a:off x="6254496" y="3227832"/>
            <a:ext cx="7315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28 Jun</a:t>
            </a:r>
            <a:endParaRPr b="0" i="0" sz="780" u="none" cap="none" strike="noStrike">
              <a:solidFill>
                <a:schemeClr val="dk1"/>
              </a:solidFill>
              <a:latin typeface="Calibri"/>
              <a:ea typeface="Calibri"/>
              <a:cs typeface="Calibri"/>
              <a:sym typeface="Calibri"/>
            </a:endParaRPr>
          </a:p>
        </p:txBody>
      </p:sp>
      <p:sp>
        <p:nvSpPr>
          <p:cNvPr id="1302" name="Google Shape;1302;p20"/>
          <p:cNvSpPr/>
          <p:nvPr/>
        </p:nvSpPr>
        <p:spPr>
          <a:xfrm>
            <a:off x="7077456" y="3268980"/>
            <a:ext cx="960120" cy="146304"/>
          </a:xfrm>
          <a:prstGeom prst="roundRect">
            <a:avLst>
              <a:gd fmla="val 37500" name="adj"/>
            </a:avLst>
          </a:prstGeom>
          <a:solidFill>
            <a:srgbClr val="C77700"/>
          </a:solidFill>
          <a:ln cap="flat" cmpd="sng" w="12700">
            <a:solidFill>
              <a:srgbClr val="C77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0"/>
          <p:cNvSpPr/>
          <p:nvPr/>
        </p:nvSpPr>
        <p:spPr>
          <a:xfrm>
            <a:off x="7077456" y="3268980"/>
            <a:ext cx="9601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Manual audit</a:t>
            </a:r>
            <a:endParaRPr b="0" i="0" sz="760" u="none" cap="none" strike="noStrike">
              <a:solidFill>
                <a:schemeClr val="dk1"/>
              </a:solidFill>
              <a:latin typeface="Calibri"/>
              <a:ea typeface="Calibri"/>
              <a:cs typeface="Calibri"/>
              <a:sym typeface="Calibri"/>
            </a:endParaRPr>
          </a:p>
        </p:txBody>
      </p:sp>
      <p:sp>
        <p:nvSpPr>
          <p:cNvPr id="1304" name="Google Shape;1304;p20"/>
          <p:cNvSpPr/>
          <p:nvPr/>
        </p:nvSpPr>
        <p:spPr>
          <a:xfrm>
            <a:off x="704088" y="3456432"/>
            <a:ext cx="7452360" cy="228600"/>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0"/>
          <p:cNvSpPr/>
          <p:nvPr/>
        </p:nvSpPr>
        <p:spPr>
          <a:xfrm>
            <a:off x="768096" y="3456432"/>
            <a:ext cx="1325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Account 12044</a:t>
            </a:r>
            <a:endParaRPr b="0" i="0" sz="780" u="none" cap="none" strike="noStrike">
              <a:solidFill>
                <a:schemeClr val="dk1"/>
              </a:solidFill>
              <a:latin typeface="Calibri"/>
              <a:ea typeface="Calibri"/>
              <a:cs typeface="Calibri"/>
              <a:sym typeface="Calibri"/>
            </a:endParaRPr>
          </a:p>
        </p:txBody>
      </p:sp>
      <p:sp>
        <p:nvSpPr>
          <p:cNvPr id="1306" name="Google Shape;1306;p20"/>
          <p:cNvSpPr/>
          <p:nvPr/>
        </p:nvSpPr>
        <p:spPr>
          <a:xfrm>
            <a:off x="2185416" y="34564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Accounts</a:t>
            </a:r>
            <a:endParaRPr b="0" i="0" sz="780" u="none" cap="none" strike="noStrike">
              <a:solidFill>
                <a:schemeClr val="dk1"/>
              </a:solidFill>
              <a:latin typeface="Calibri"/>
              <a:ea typeface="Calibri"/>
              <a:cs typeface="Calibri"/>
              <a:sym typeface="Calibri"/>
            </a:endParaRPr>
          </a:p>
        </p:txBody>
      </p:sp>
      <p:sp>
        <p:nvSpPr>
          <p:cNvPr id="1307" name="Google Shape;1307;p20"/>
          <p:cNvSpPr/>
          <p:nvPr/>
        </p:nvSpPr>
        <p:spPr>
          <a:xfrm>
            <a:off x="3054096" y="3456432"/>
            <a:ext cx="19659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GSTIN checksum fails</a:t>
            </a:r>
            <a:endParaRPr b="0" i="0" sz="780" u="none" cap="none" strike="noStrike">
              <a:solidFill>
                <a:schemeClr val="dk1"/>
              </a:solidFill>
              <a:latin typeface="Calibri"/>
              <a:ea typeface="Calibri"/>
              <a:cs typeface="Calibri"/>
              <a:sym typeface="Calibri"/>
            </a:endParaRPr>
          </a:p>
        </p:txBody>
      </p:sp>
      <p:sp>
        <p:nvSpPr>
          <p:cNvPr id="1308" name="Google Shape;1308;p20"/>
          <p:cNvSpPr/>
          <p:nvPr/>
        </p:nvSpPr>
        <p:spPr>
          <a:xfrm>
            <a:off x="5111496" y="3456432"/>
            <a:ext cx="1051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R. Kulkarni</a:t>
            </a:r>
            <a:endParaRPr b="0" i="0" sz="780" u="none" cap="none" strike="noStrike">
              <a:solidFill>
                <a:schemeClr val="dk1"/>
              </a:solidFill>
              <a:latin typeface="Calibri"/>
              <a:ea typeface="Calibri"/>
              <a:cs typeface="Calibri"/>
              <a:sym typeface="Calibri"/>
            </a:endParaRPr>
          </a:p>
        </p:txBody>
      </p:sp>
      <p:sp>
        <p:nvSpPr>
          <p:cNvPr id="1309" name="Google Shape;1309;p20"/>
          <p:cNvSpPr/>
          <p:nvPr/>
        </p:nvSpPr>
        <p:spPr>
          <a:xfrm>
            <a:off x="6254496" y="3456432"/>
            <a:ext cx="7315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19 May</a:t>
            </a:r>
            <a:endParaRPr b="0" i="0" sz="780" u="none" cap="none" strike="noStrike">
              <a:solidFill>
                <a:schemeClr val="dk1"/>
              </a:solidFill>
              <a:latin typeface="Calibri"/>
              <a:ea typeface="Calibri"/>
              <a:cs typeface="Calibri"/>
              <a:sym typeface="Calibri"/>
            </a:endParaRPr>
          </a:p>
        </p:txBody>
      </p:sp>
      <p:sp>
        <p:nvSpPr>
          <p:cNvPr id="1310" name="Google Shape;1310;p20"/>
          <p:cNvSpPr/>
          <p:nvPr/>
        </p:nvSpPr>
        <p:spPr>
          <a:xfrm>
            <a:off x="7077456" y="3497580"/>
            <a:ext cx="868680" cy="146304"/>
          </a:xfrm>
          <a:prstGeom prst="roundRect">
            <a:avLst>
              <a:gd fmla="val 375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0"/>
          <p:cNvSpPr/>
          <p:nvPr/>
        </p:nvSpPr>
        <p:spPr>
          <a:xfrm>
            <a:off x="7077456" y="3497580"/>
            <a:ext cx="8686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Script fix</a:t>
            </a:r>
            <a:endParaRPr b="0" i="0" sz="760" u="none" cap="none" strike="noStrike">
              <a:solidFill>
                <a:schemeClr val="dk1"/>
              </a:solidFill>
              <a:latin typeface="Calibri"/>
              <a:ea typeface="Calibri"/>
              <a:cs typeface="Calibri"/>
              <a:sym typeface="Calibri"/>
            </a:endParaRPr>
          </a:p>
        </p:txBody>
      </p:sp>
      <p:sp>
        <p:nvSpPr>
          <p:cNvPr id="1312" name="Google Shape;1312;p20"/>
          <p:cNvSpPr/>
          <p:nvPr/>
        </p:nvSpPr>
        <p:spPr>
          <a:xfrm>
            <a:off x="704088" y="3685032"/>
            <a:ext cx="7452360" cy="228600"/>
          </a:xfrm>
          <a:prstGeom prst="rect">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0"/>
          <p:cNvSpPr/>
          <p:nvPr/>
        </p:nvSpPr>
        <p:spPr>
          <a:xfrm>
            <a:off x="768096" y="3685032"/>
            <a:ext cx="1325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Contact 88422</a:t>
            </a:r>
            <a:endParaRPr b="0" i="0" sz="780" u="none" cap="none" strike="noStrike">
              <a:solidFill>
                <a:schemeClr val="dk1"/>
              </a:solidFill>
              <a:latin typeface="Calibri"/>
              <a:ea typeface="Calibri"/>
              <a:cs typeface="Calibri"/>
              <a:sym typeface="Calibri"/>
            </a:endParaRPr>
          </a:p>
        </p:txBody>
      </p:sp>
      <p:sp>
        <p:nvSpPr>
          <p:cNvPr id="1314" name="Google Shape;1314;p20"/>
          <p:cNvSpPr/>
          <p:nvPr/>
        </p:nvSpPr>
        <p:spPr>
          <a:xfrm>
            <a:off x="2185416" y="36850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Contacts</a:t>
            </a:r>
            <a:endParaRPr b="0" i="0" sz="780" u="none" cap="none" strike="noStrike">
              <a:solidFill>
                <a:schemeClr val="dk1"/>
              </a:solidFill>
              <a:latin typeface="Calibri"/>
              <a:ea typeface="Calibri"/>
              <a:cs typeface="Calibri"/>
              <a:sym typeface="Calibri"/>
            </a:endParaRPr>
          </a:p>
        </p:txBody>
      </p:sp>
      <p:sp>
        <p:nvSpPr>
          <p:cNvPr id="1315" name="Google Shape;1315;p20"/>
          <p:cNvSpPr/>
          <p:nvPr/>
        </p:nvSpPr>
        <p:spPr>
          <a:xfrm>
            <a:off x="3054096" y="3685032"/>
            <a:ext cx="19659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Email has no domain part</a:t>
            </a:r>
            <a:endParaRPr b="0" i="0" sz="780" u="none" cap="none" strike="noStrike">
              <a:solidFill>
                <a:schemeClr val="dk1"/>
              </a:solidFill>
              <a:latin typeface="Calibri"/>
              <a:ea typeface="Calibri"/>
              <a:cs typeface="Calibri"/>
              <a:sym typeface="Calibri"/>
            </a:endParaRPr>
          </a:p>
        </p:txBody>
      </p:sp>
      <p:sp>
        <p:nvSpPr>
          <p:cNvPr id="1316" name="Google Shape;1316;p20"/>
          <p:cNvSpPr/>
          <p:nvPr/>
        </p:nvSpPr>
        <p:spPr>
          <a:xfrm>
            <a:off x="5111496" y="3685032"/>
            <a:ext cx="1051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R. Kulkarni</a:t>
            </a:r>
            <a:endParaRPr b="0" i="0" sz="780" u="none" cap="none" strike="noStrike">
              <a:solidFill>
                <a:schemeClr val="dk1"/>
              </a:solidFill>
              <a:latin typeface="Calibri"/>
              <a:ea typeface="Calibri"/>
              <a:cs typeface="Calibri"/>
              <a:sym typeface="Calibri"/>
            </a:endParaRPr>
          </a:p>
        </p:txBody>
      </p:sp>
      <p:sp>
        <p:nvSpPr>
          <p:cNvPr id="1317" name="Google Shape;1317;p20"/>
          <p:cNvSpPr/>
          <p:nvPr/>
        </p:nvSpPr>
        <p:spPr>
          <a:xfrm>
            <a:off x="6254496" y="3685032"/>
            <a:ext cx="7315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22 May</a:t>
            </a:r>
            <a:endParaRPr b="0" i="0" sz="780" u="none" cap="none" strike="noStrike">
              <a:solidFill>
                <a:schemeClr val="dk1"/>
              </a:solidFill>
              <a:latin typeface="Calibri"/>
              <a:ea typeface="Calibri"/>
              <a:cs typeface="Calibri"/>
              <a:sym typeface="Calibri"/>
            </a:endParaRPr>
          </a:p>
        </p:txBody>
      </p:sp>
      <p:sp>
        <p:nvSpPr>
          <p:cNvPr id="1318" name="Google Shape;1318;p20"/>
          <p:cNvSpPr/>
          <p:nvPr/>
        </p:nvSpPr>
        <p:spPr>
          <a:xfrm>
            <a:off x="7077456" y="3726180"/>
            <a:ext cx="868680" cy="146304"/>
          </a:xfrm>
          <a:prstGeom prst="roundRect">
            <a:avLst>
              <a:gd fmla="val 375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0"/>
          <p:cNvSpPr/>
          <p:nvPr/>
        </p:nvSpPr>
        <p:spPr>
          <a:xfrm>
            <a:off x="7077456" y="3726180"/>
            <a:ext cx="8686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Script fix</a:t>
            </a:r>
            <a:endParaRPr b="0" i="0" sz="760" u="none" cap="none" strike="noStrike">
              <a:solidFill>
                <a:schemeClr val="dk1"/>
              </a:solidFill>
              <a:latin typeface="Calibri"/>
              <a:ea typeface="Calibri"/>
              <a:cs typeface="Calibri"/>
              <a:sym typeface="Calibri"/>
            </a:endParaRPr>
          </a:p>
        </p:txBody>
      </p:sp>
      <p:sp>
        <p:nvSpPr>
          <p:cNvPr id="1320" name="Google Shape;1320;p20"/>
          <p:cNvSpPr/>
          <p:nvPr/>
        </p:nvSpPr>
        <p:spPr>
          <a:xfrm>
            <a:off x="704088" y="3913632"/>
            <a:ext cx="7452360" cy="228600"/>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0"/>
          <p:cNvSpPr/>
          <p:nvPr/>
        </p:nvSpPr>
        <p:spPr>
          <a:xfrm>
            <a:off x="768096" y="3913632"/>
            <a:ext cx="1325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Deal 55880</a:t>
            </a:r>
            <a:endParaRPr b="0" i="0" sz="780" u="none" cap="none" strike="noStrike">
              <a:solidFill>
                <a:schemeClr val="dk1"/>
              </a:solidFill>
              <a:latin typeface="Calibri"/>
              <a:ea typeface="Calibri"/>
              <a:cs typeface="Calibri"/>
              <a:sym typeface="Calibri"/>
            </a:endParaRPr>
          </a:p>
        </p:txBody>
      </p:sp>
      <p:sp>
        <p:nvSpPr>
          <p:cNvPr id="1322" name="Google Shape;1322;p20"/>
          <p:cNvSpPr/>
          <p:nvPr/>
        </p:nvSpPr>
        <p:spPr>
          <a:xfrm>
            <a:off x="2185416" y="39136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Deals</a:t>
            </a:r>
            <a:endParaRPr b="0" i="0" sz="780" u="none" cap="none" strike="noStrike">
              <a:solidFill>
                <a:schemeClr val="dk1"/>
              </a:solidFill>
              <a:latin typeface="Calibri"/>
              <a:ea typeface="Calibri"/>
              <a:cs typeface="Calibri"/>
              <a:sym typeface="Calibri"/>
            </a:endParaRPr>
          </a:p>
        </p:txBody>
      </p:sp>
      <p:sp>
        <p:nvSpPr>
          <p:cNvPr id="1323" name="Google Shape;1323;p20"/>
          <p:cNvSpPr/>
          <p:nvPr/>
        </p:nvSpPr>
        <p:spPr>
          <a:xfrm>
            <a:off x="3054096" y="3913632"/>
            <a:ext cx="19659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Open, close date 14 months past</a:t>
            </a:r>
            <a:endParaRPr b="0" i="0" sz="780" u="none" cap="none" strike="noStrike">
              <a:solidFill>
                <a:schemeClr val="dk1"/>
              </a:solidFill>
              <a:latin typeface="Calibri"/>
              <a:ea typeface="Calibri"/>
              <a:cs typeface="Calibri"/>
              <a:sym typeface="Calibri"/>
            </a:endParaRPr>
          </a:p>
        </p:txBody>
      </p:sp>
      <p:sp>
        <p:nvSpPr>
          <p:cNvPr id="1324" name="Google Shape;1324;p20"/>
          <p:cNvSpPr/>
          <p:nvPr/>
        </p:nvSpPr>
        <p:spPr>
          <a:xfrm>
            <a:off x="5111496" y="3913632"/>
            <a:ext cx="1051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S. Shelke</a:t>
            </a:r>
            <a:endParaRPr b="0" i="0" sz="780" u="none" cap="none" strike="noStrike">
              <a:solidFill>
                <a:schemeClr val="dk1"/>
              </a:solidFill>
              <a:latin typeface="Calibri"/>
              <a:ea typeface="Calibri"/>
              <a:cs typeface="Calibri"/>
              <a:sym typeface="Calibri"/>
            </a:endParaRPr>
          </a:p>
        </p:txBody>
      </p:sp>
      <p:sp>
        <p:nvSpPr>
          <p:cNvPr id="1325" name="Google Shape;1325;p20"/>
          <p:cNvSpPr/>
          <p:nvPr/>
        </p:nvSpPr>
        <p:spPr>
          <a:xfrm>
            <a:off x="6254496" y="3913632"/>
            <a:ext cx="7315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02 Apr</a:t>
            </a:r>
            <a:endParaRPr b="0" i="0" sz="780" u="none" cap="none" strike="noStrike">
              <a:solidFill>
                <a:schemeClr val="dk1"/>
              </a:solidFill>
              <a:latin typeface="Calibri"/>
              <a:ea typeface="Calibri"/>
              <a:cs typeface="Calibri"/>
              <a:sym typeface="Calibri"/>
            </a:endParaRPr>
          </a:p>
        </p:txBody>
      </p:sp>
      <p:sp>
        <p:nvSpPr>
          <p:cNvPr id="1326" name="Google Shape;1326;p20"/>
          <p:cNvSpPr/>
          <p:nvPr/>
        </p:nvSpPr>
        <p:spPr>
          <a:xfrm>
            <a:off x="7077456" y="3954780"/>
            <a:ext cx="822960" cy="146304"/>
          </a:xfrm>
          <a:prstGeom prst="roundRect">
            <a:avLst>
              <a:gd fmla="val 375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0"/>
          <p:cNvSpPr/>
          <p:nvPr/>
        </p:nvSpPr>
        <p:spPr>
          <a:xfrm>
            <a:off x="7077456" y="3954780"/>
            <a:ext cx="82296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Workflow</a:t>
            </a:r>
            <a:endParaRPr b="0" i="0" sz="760" u="none" cap="none" strike="noStrike">
              <a:solidFill>
                <a:schemeClr val="dk1"/>
              </a:solidFill>
              <a:latin typeface="Calibri"/>
              <a:ea typeface="Calibri"/>
              <a:cs typeface="Calibri"/>
              <a:sym typeface="Calibri"/>
            </a:endParaRPr>
          </a:p>
        </p:txBody>
      </p:sp>
      <p:sp>
        <p:nvSpPr>
          <p:cNvPr id="1328" name="Google Shape;1328;p20"/>
          <p:cNvSpPr/>
          <p:nvPr/>
        </p:nvSpPr>
        <p:spPr>
          <a:xfrm>
            <a:off x="704088" y="4142232"/>
            <a:ext cx="7452360" cy="228600"/>
          </a:xfrm>
          <a:prstGeom prst="rect">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0"/>
          <p:cNvSpPr/>
          <p:nvPr/>
        </p:nvSpPr>
        <p:spPr>
          <a:xfrm>
            <a:off x="768096" y="4142232"/>
            <a:ext cx="132588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Vendor 2041</a:t>
            </a:r>
            <a:endParaRPr b="0" i="0" sz="780" u="none" cap="none" strike="noStrike">
              <a:solidFill>
                <a:schemeClr val="dk1"/>
              </a:solidFill>
              <a:latin typeface="Calibri"/>
              <a:ea typeface="Calibri"/>
              <a:cs typeface="Calibri"/>
              <a:sym typeface="Calibri"/>
            </a:endParaRPr>
          </a:p>
        </p:txBody>
      </p:sp>
      <p:sp>
        <p:nvSpPr>
          <p:cNvPr id="1330" name="Google Shape;1330;p20"/>
          <p:cNvSpPr/>
          <p:nvPr/>
        </p:nvSpPr>
        <p:spPr>
          <a:xfrm>
            <a:off x="2185416" y="41422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Vendors</a:t>
            </a:r>
            <a:endParaRPr b="0" i="0" sz="780" u="none" cap="none" strike="noStrike">
              <a:solidFill>
                <a:schemeClr val="dk1"/>
              </a:solidFill>
              <a:latin typeface="Calibri"/>
              <a:ea typeface="Calibri"/>
              <a:cs typeface="Calibri"/>
              <a:sym typeface="Calibri"/>
            </a:endParaRPr>
          </a:p>
        </p:txBody>
      </p:sp>
      <p:sp>
        <p:nvSpPr>
          <p:cNvPr id="1331" name="Google Shape;1331;p20"/>
          <p:cNvSpPr/>
          <p:nvPr/>
        </p:nvSpPr>
        <p:spPr>
          <a:xfrm>
            <a:off x="3054096" y="4142232"/>
            <a:ext cx="19659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Identical GSTIN to Vendor 1990</a:t>
            </a:r>
            <a:endParaRPr b="0" i="0" sz="780" u="none" cap="none" strike="noStrike">
              <a:solidFill>
                <a:schemeClr val="dk1"/>
              </a:solidFill>
              <a:latin typeface="Calibri"/>
              <a:ea typeface="Calibri"/>
              <a:cs typeface="Calibri"/>
              <a:sym typeface="Calibri"/>
            </a:endParaRPr>
          </a:p>
        </p:txBody>
      </p:sp>
      <p:sp>
        <p:nvSpPr>
          <p:cNvPr id="1332" name="Google Shape;1332;p20"/>
          <p:cNvSpPr/>
          <p:nvPr/>
        </p:nvSpPr>
        <p:spPr>
          <a:xfrm>
            <a:off x="5111496" y="4142232"/>
            <a:ext cx="1051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Import user</a:t>
            </a:r>
            <a:endParaRPr b="0" i="0" sz="780" u="none" cap="none" strike="noStrike">
              <a:solidFill>
                <a:schemeClr val="dk1"/>
              </a:solidFill>
              <a:latin typeface="Calibri"/>
              <a:ea typeface="Calibri"/>
              <a:cs typeface="Calibri"/>
              <a:sym typeface="Calibri"/>
            </a:endParaRPr>
          </a:p>
        </p:txBody>
      </p:sp>
      <p:sp>
        <p:nvSpPr>
          <p:cNvPr id="1333" name="Google Shape;1333;p20"/>
          <p:cNvSpPr/>
          <p:nvPr/>
        </p:nvSpPr>
        <p:spPr>
          <a:xfrm>
            <a:off x="6254496" y="4142232"/>
            <a:ext cx="7315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14 Jun</a:t>
            </a:r>
            <a:endParaRPr b="0" i="0" sz="780" u="none" cap="none" strike="noStrike">
              <a:solidFill>
                <a:schemeClr val="dk1"/>
              </a:solidFill>
              <a:latin typeface="Calibri"/>
              <a:ea typeface="Calibri"/>
              <a:cs typeface="Calibri"/>
              <a:sym typeface="Calibri"/>
            </a:endParaRPr>
          </a:p>
        </p:txBody>
      </p:sp>
      <p:sp>
        <p:nvSpPr>
          <p:cNvPr id="1334" name="Google Shape;1334;p20"/>
          <p:cNvSpPr/>
          <p:nvPr/>
        </p:nvSpPr>
        <p:spPr>
          <a:xfrm>
            <a:off x="7077456" y="4183380"/>
            <a:ext cx="731520" cy="146304"/>
          </a:xfrm>
          <a:prstGeom prst="roundRect">
            <a:avLst>
              <a:gd fmla="val 37500" name="adj"/>
            </a:avLst>
          </a:prstGeom>
          <a:solidFill>
            <a:srgbClr val="B8443A"/>
          </a:solidFill>
          <a:ln cap="flat" cmpd="sng" w="12700">
            <a:solidFill>
              <a:srgbClr val="B844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0"/>
          <p:cNvSpPr/>
          <p:nvPr/>
        </p:nvSpPr>
        <p:spPr>
          <a:xfrm>
            <a:off x="7077456" y="4183380"/>
            <a:ext cx="7315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Merge</a:t>
            </a:r>
            <a:endParaRPr b="0" i="0" sz="760" u="none" cap="none" strike="noStrike">
              <a:solidFill>
                <a:schemeClr val="dk1"/>
              </a:solidFill>
              <a:latin typeface="Calibri"/>
              <a:ea typeface="Calibri"/>
              <a:cs typeface="Calibri"/>
              <a:sym typeface="Calibri"/>
            </a:endParaRPr>
          </a:p>
        </p:txBody>
      </p:sp>
      <p:sp>
        <p:nvSpPr>
          <p:cNvPr id="1336" name="Google Shape;1336;p20"/>
          <p:cNvSpPr/>
          <p:nvPr/>
        </p:nvSpPr>
        <p:spPr>
          <a:xfrm>
            <a:off x="704088" y="4453128"/>
            <a:ext cx="7452360" cy="658368"/>
          </a:xfrm>
          <a:prstGeom prst="rect">
            <a:avLst/>
          </a:prstGeom>
          <a:solidFill>
            <a:srgbClr val="F3EFF7"/>
          </a:solidFill>
          <a:ln cap="flat" cmpd="sng" w="9525">
            <a:solidFill>
              <a:srgbClr val="7A5A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0"/>
          <p:cNvSpPr/>
          <p:nvPr/>
        </p:nvSpPr>
        <p:spPr>
          <a:xfrm>
            <a:off x="832104" y="4526280"/>
            <a:ext cx="72237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3468"/>
              </a:buClr>
              <a:buSzPts val="839"/>
              <a:buFont typeface="Calibri"/>
              <a:buNone/>
            </a:pPr>
            <a:r>
              <a:rPr b="1" i="0" lang="en-US" sz="840" u="none" cap="none" strike="noStrike">
                <a:solidFill>
                  <a:srgbClr val="4A3468"/>
                </a:solidFill>
                <a:latin typeface="Calibri"/>
                <a:ea typeface="Calibri"/>
                <a:cs typeface="Calibri"/>
                <a:sym typeface="Calibri"/>
              </a:rPr>
              <a:t>Suspicious cluster detected: 1,322 records, 71 percent created by one user across nine bursts</a:t>
            </a:r>
            <a:endParaRPr b="0" i="0" sz="840" u="none" cap="none" strike="noStrike">
              <a:solidFill>
                <a:schemeClr val="dk1"/>
              </a:solidFill>
              <a:latin typeface="Calibri"/>
              <a:ea typeface="Calibri"/>
              <a:cs typeface="Calibri"/>
              <a:sym typeface="Calibri"/>
            </a:endParaRPr>
          </a:p>
        </p:txBody>
      </p:sp>
      <p:sp>
        <p:nvSpPr>
          <p:cNvPr id="1338" name="Google Shape;1338;p20"/>
          <p:cNvSpPr/>
          <p:nvPr/>
        </p:nvSpPr>
        <p:spPr>
          <a:xfrm>
            <a:off x="832104" y="4727448"/>
            <a:ext cx="72237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C4A78"/>
              </a:buClr>
              <a:buSzPts val="800"/>
              <a:buFont typeface="Calibri"/>
              <a:buNone/>
            </a:pPr>
            <a:r>
              <a:rPr b="0" i="0" lang="en-US" sz="800" u="none" cap="none" strike="noStrike">
                <a:solidFill>
                  <a:srgbClr val="5C4A78"/>
                </a:solidFill>
                <a:latin typeface="Calibri"/>
                <a:ea typeface="Calibri"/>
                <a:cs typeface="Calibri"/>
                <a:sym typeface="Calibri"/>
              </a:rPr>
              <a:t>Every burst falls in the last three working days of a month. Format valid throughout, so no native report would ever surface these.</a:t>
            </a:r>
            <a:endParaRPr b="0" i="0" sz="800" u="none" cap="none" strike="noStrike">
              <a:solidFill>
                <a:schemeClr val="dk1"/>
              </a:solidFill>
              <a:latin typeface="Calibri"/>
              <a:ea typeface="Calibri"/>
              <a:cs typeface="Calibri"/>
              <a:sym typeface="Calibri"/>
            </a:endParaRPr>
          </a:p>
        </p:txBody>
      </p:sp>
      <p:sp>
        <p:nvSpPr>
          <p:cNvPr id="1339" name="Google Shape;1339;p20"/>
          <p:cNvSpPr/>
          <p:nvPr/>
        </p:nvSpPr>
        <p:spPr>
          <a:xfrm>
            <a:off x="704088" y="5239512"/>
            <a:ext cx="1325880" cy="256032"/>
          </a:xfrm>
          <a:prstGeom prst="roundRect">
            <a:avLst>
              <a:gd fmla="val 17857" name="adj"/>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0"/>
          <p:cNvSpPr/>
          <p:nvPr/>
        </p:nvSpPr>
        <p:spPr>
          <a:xfrm>
            <a:off x="704088" y="5239512"/>
            <a:ext cx="13258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Export list</a:t>
            </a:r>
            <a:endParaRPr b="0" i="0" sz="850" u="none" cap="none" strike="noStrike">
              <a:solidFill>
                <a:schemeClr val="dk1"/>
              </a:solidFill>
              <a:latin typeface="Calibri"/>
              <a:ea typeface="Calibri"/>
              <a:cs typeface="Calibri"/>
              <a:sym typeface="Calibri"/>
            </a:endParaRPr>
          </a:p>
        </p:txBody>
      </p:sp>
      <p:sp>
        <p:nvSpPr>
          <p:cNvPr id="1341" name="Google Shape;1341;p20"/>
          <p:cNvSpPr/>
          <p:nvPr/>
        </p:nvSpPr>
        <p:spPr>
          <a:xfrm>
            <a:off x="2121408" y="5239512"/>
            <a:ext cx="1463040" cy="256032"/>
          </a:xfrm>
          <a:prstGeom prst="roundRect">
            <a:avLst>
              <a:gd fmla="val 17857"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0"/>
          <p:cNvSpPr/>
          <p:nvPr/>
        </p:nvSpPr>
        <p:spPr>
          <a:xfrm>
            <a:off x="2121408" y="5239512"/>
            <a:ext cx="14630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Send to fix list</a:t>
            </a:r>
            <a:endParaRPr b="0" i="0" sz="850" u="none" cap="none" strike="noStrike">
              <a:solidFill>
                <a:schemeClr val="dk1"/>
              </a:solidFill>
              <a:latin typeface="Calibri"/>
              <a:ea typeface="Calibri"/>
              <a:cs typeface="Calibri"/>
              <a:sym typeface="Calibri"/>
            </a:endParaRPr>
          </a:p>
        </p:txBody>
      </p:sp>
      <p:sp>
        <p:nvSpPr>
          <p:cNvPr id="1343" name="Google Shape;1343;p20"/>
          <p:cNvSpPr/>
          <p:nvPr/>
        </p:nvSpPr>
        <p:spPr>
          <a:xfrm>
            <a:off x="3730752" y="5239512"/>
            <a:ext cx="43891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60"/>
              <a:buFont typeface="Calibri"/>
              <a:buNone/>
            </a:pPr>
            <a:r>
              <a:rPr b="0" i="1" lang="en-US" sz="760" u="none" cap="none" strike="noStrike">
                <a:solidFill>
                  <a:srgbClr val="6B7280"/>
                </a:solidFill>
                <a:latin typeface="Calibri"/>
                <a:ea typeface="Calibri"/>
                <a:cs typeface="Calibri"/>
                <a:sym typeface="Calibri"/>
              </a:rPr>
              <a:t>Record identifiers only. Field values are never exported from the client region.</a:t>
            </a:r>
            <a:endParaRPr b="0" i="0" sz="760" u="none" cap="none" strike="noStrike">
              <a:solidFill>
                <a:schemeClr val="dk1"/>
              </a:solidFill>
              <a:latin typeface="Calibri"/>
              <a:ea typeface="Calibri"/>
              <a:cs typeface="Calibri"/>
              <a:sym typeface="Calibri"/>
            </a:endParaRPr>
          </a:p>
        </p:txBody>
      </p:sp>
      <p:sp>
        <p:nvSpPr>
          <p:cNvPr id="1344" name="Google Shape;1344;p20"/>
          <p:cNvSpPr/>
          <p:nvPr/>
        </p:nvSpPr>
        <p:spPr>
          <a:xfrm>
            <a:off x="8567928" y="1655064"/>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0"/>
          <p:cNvSpPr/>
          <p:nvPr/>
        </p:nvSpPr>
        <p:spPr>
          <a:xfrm>
            <a:off x="8567928" y="1655064"/>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1</a:t>
            </a:r>
            <a:endParaRPr b="0" i="0" sz="800" u="none" cap="none" strike="noStrike">
              <a:solidFill>
                <a:schemeClr val="dk1"/>
              </a:solidFill>
              <a:latin typeface="Calibri"/>
              <a:ea typeface="Calibri"/>
              <a:cs typeface="Calibri"/>
              <a:sym typeface="Calibri"/>
            </a:endParaRPr>
          </a:p>
        </p:txBody>
      </p:sp>
      <p:sp>
        <p:nvSpPr>
          <p:cNvPr id="1346" name="Google Shape;1346;p20"/>
          <p:cNvSpPr/>
          <p:nvPr/>
        </p:nvSpPr>
        <p:spPr>
          <a:xfrm>
            <a:off x="8842248" y="1627632"/>
            <a:ext cx="27825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Every count is clickable</a:t>
            </a:r>
            <a:endParaRPr b="0" i="0" sz="1150" u="none" cap="none" strike="noStrike">
              <a:solidFill>
                <a:schemeClr val="dk1"/>
              </a:solidFill>
              <a:latin typeface="Calibri"/>
              <a:ea typeface="Calibri"/>
              <a:cs typeface="Calibri"/>
              <a:sym typeface="Calibri"/>
            </a:endParaRPr>
          </a:p>
        </p:txBody>
      </p:sp>
      <p:sp>
        <p:nvSpPr>
          <p:cNvPr id="1347" name="Google Shape;1347;p20"/>
          <p:cNvSpPr/>
          <p:nvPr/>
        </p:nvSpPr>
        <p:spPr>
          <a:xfrm>
            <a:off x="8842248" y="1865376"/>
            <a:ext cx="2782519"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A client who can open the actual records stops questioning the number and starts asking what we do about it.</a:t>
            </a:r>
            <a:endParaRPr b="0" i="0" sz="1000" u="none" cap="none" strike="noStrike">
              <a:solidFill>
                <a:schemeClr val="dk1"/>
              </a:solidFill>
              <a:latin typeface="Calibri"/>
              <a:ea typeface="Calibri"/>
              <a:cs typeface="Calibri"/>
              <a:sym typeface="Calibri"/>
            </a:endParaRPr>
          </a:p>
        </p:txBody>
      </p:sp>
      <p:sp>
        <p:nvSpPr>
          <p:cNvPr id="1348" name="Google Shape;1348;p20"/>
          <p:cNvSpPr/>
          <p:nvPr/>
        </p:nvSpPr>
        <p:spPr>
          <a:xfrm>
            <a:off x="8567928" y="2679192"/>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0"/>
          <p:cNvSpPr/>
          <p:nvPr/>
        </p:nvSpPr>
        <p:spPr>
          <a:xfrm>
            <a:off x="8567928" y="2679192"/>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
        <p:nvSpPr>
          <p:cNvPr id="1350" name="Google Shape;1350;p20"/>
          <p:cNvSpPr/>
          <p:nvPr/>
        </p:nvSpPr>
        <p:spPr>
          <a:xfrm>
            <a:off x="8842248" y="2651760"/>
            <a:ext cx="27825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The reason is always stated</a:t>
            </a:r>
            <a:endParaRPr b="0" i="0" sz="1150" u="none" cap="none" strike="noStrike">
              <a:solidFill>
                <a:schemeClr val="dk1"/>
              </a:solidFill>
              <a:latin typeface="Calibri"/>
              <a:ea typeface="Calibri"/>
              <a:cs typeface="Calibri"/>
              <a:sym typeface="Calibri"/>
            </a:endParaRPr>
          </a:p>
        </p:txBody>
      </p:sp>
      <p:sp>
        <p:nvSpPr>
          <p:cNvPr id="1351" name="Google Shape;1351;p20"/>
          <p:cNvSpPr/>
          <p:nvPr/>
        </p:nvSpPr>
        <p:spPr>
          <a:xfrm>
            <a:off x="8842248" y="2889504"/>
            <a:ext cx="2782519"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Not flagged, but 38 leads by one user in 4 minutes. A finding with a stated reason survives being challenged in the room.</a:t>
            </a:r>
            <a:endParaRPr b="0" i="0" sz="1000" u="none" cap="none" strike="noStrike">
              <a:solidFill>
                <a:schemeClr val="dk1"/>
              </a:solidFill>
              <a:latin typeface="Calibri"/>
              <a:ea typeface="Calibri"/>
              <a:cs typeface="Calibri"/>
              <a:sym typeface="Calibri"/>
            </a:endParaRPr>
          </a:p>
        </p:txBody>
      </p:sp>
      <p:sp>
        <p:nvSpPr>
          <p:cNvPr id="1352" name="Google Shape;1352;p20"/>
          <p:cNvSpPr/>
          <p:nvPr/>
        </p:nvSpPr>
        <p:spPr>
          <a:xfrm>
            <a:off x="8567928" y="3776472"/>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0"/>
          <p:cNvSpPr/>
          <p:nvPr/>
        </p:nvSpPr>
        <p:spPr>
          <a:xfrm>
            <a:off x="8567928" y="3776472"/>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
        <p:nvSpPr>
          <p:cNvPr id="1354" name="Google Shape;1354;p20"/>
          <p:cNvSpPr/>
          <p:nvPr/>
        </p:nvSpPr>
        <p:spPr>
          <a:xfrm>
            <a:off x="8842248" y="3749040"/>
            <a:ext cx="27825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The fix is on the same row</a:t>
            </a:r>
            <a:endParaRPr b="0" i="0" sz="1150" u="none" cap="none" strike="noStrike">
              <a:solidFill>
                <a:schemeClr val="dk1"/>
              </a:solidFill>
              <a:latin typeface="Calibri"/>
              <a:ea typeface="Calibri"/>
              <a:cs typeface="Calibri"/>
              <a:sym typeface="Calibri"/>
            </a:endParaRPr>
          </a:p>
        </p:txBody>
      </p:sp>
      <p:sp>
        <p:nvSpPr>
          <p:cNvPr id="1355" name="Google Shape;1355;p20"/>
          <p:cNvSpPr/>
          <p:nvPr/>
        </p:nvSpPr>
        <p:spPr>
          <a:xfrm>
            <a:off x="8842248" y="3986784"/>
            <a:ext cx="2782519"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Script fix, workflow, merge, manual audit, delete. This column is what routes the finding into the right accelerator or the right wave.</a:t>
            </a:r>
            <a:endParaRPr b="0" i="0" sz="1000" u="none" cap="none" strike="noStrike">
              <a:solidFill>
                <a:schemeClr val="dk1"/>
              </a:solidFill>
              <a:latin typeface="Calibri"/>
              <a:ea typeface="Calibri"/>
              <a:cs typeface="Calibri"/>
              <a:sym typeface="Calibri"/>
            </a:endParaRPr>
          </a:p>
        </p:txBody>
      </p:sp>
      <p:sp>
        <p:nvSpPr>
          <p:cNvPr id="1356" name="Google Shape;1356;p20"/>
          <p:cNvSpPr/>
          <p:nvPr/>
        </p:nvSpPr>
        <p:spPr>
          <a:xfrm>
            <a:off x="8567928" y="4873752"/>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0"/>
          <p:cNvSpPr/>
          <p:nvPr/>
        </p:nvSpPr>
        <p:spPr>
          <a:xfrm>
            <a:off x="8567928" y="4873752"/>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
        <p:nvSpPr>
          <p:cNvPr id="1358" name="Google Shape;1358;p20"/>
          <p:cNvSpPr/>
          <p:nvPr/>
        </p:nvSpPr>
        <p:spPr>
          <a:xfrm>
            <a:off x="8842248" y="4846320"/>
            <a:ext cx="27825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Identifiers only leave</a:t>
            </a:r>
            <a:endParaRPr b="0" i="0" sz="1150" u="none" cap="none" strike="noStrike">
              <a:solidFill>
                <a:schemeClr val="dk1"/>
              </a:solidFill>
              <a:latin typeface="Calibri"/>
              <a:ea typeface="Calibri"/>
              <a:cs typeface="Calibri"/>
              <a:sym typeface="Calibri"/>
            </a:endParaRPr>
          </a:p>
        </p:txBody>
      </p:sp>
      <p:sp>
        <p:nvSpPr>
          <p:cNvPr id="1359" name="Google Shape;1359;p20"/>
          <p:cNvSpPr/>
          <p:nvPr/>
        </p:nvSpPr>
        <p:spPr>
          <a:xfrm>
            <a:off x="8842248" y="5084064"/>
            <a:ext cx="2782519"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Exports carry record IDs and states, never field values. This is the sentence that gets us past a security review.</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4" name="Shape 1364"/>
        <p:cNvGrpSpPr/>
        <p:nvPr/>
      </p:nvGrpSpPr>
      <p:grpSpPr>
        <a:xfrm>
          <a:off x="0" y="0"/>
          <a:ext cx="0" cy="0"/>
          <a:chOff x="0" y="0"/>
          <a:chExt cx="0" cy="0"/>
        </a:xfrm>
      </p:grpSpPr>
      <p:sp>
        <p:nvSpPr>
          <p:cNvPr id="1365" name="Google Shape;1365;p21"/>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Interface 7: the remediation action centre</a:t>
            </a:r>
            <a:endParaRPr b="0" i="0" sz="3000" u="none" cap="none" strike="noStrike">
              <a:solidFill>
                <a:schemeClr val="dk1"/>
              </a:solidFill>
              <a:latin typeface="Calibri"/>
              <a:ea typeface="Calibri"/>
              <a:cs typeface="Calibri"/>
              <a:sym typeface="Calibri"/>
            </a:endParaRPr>
          </a:p>
        </p:txBody>
      </p:sp>
      <p:sp>
        <p:nvSpPr>
          <p:cNvPr id="1366" name="Google Shape;1366;p21"/>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What can be done, grouped into waves, with the projected score gain of each action before it runs.</a:t>
            </a:r>
            <a:endParaRPr b="0" i="0" sz="1350" u="none" cap="none" strike="noStrike">
              <a:solidFill>
                <a:schemeClr val="dk1"/>
              </a:solidFill>
              <a:latin typeface="Calibri"/>
              <a:ea typeface="Calibri"/>
              <a:cs typeface="Calibri"/>
              <a:sym typeface="Calibri"/>
            </a:endParaRPr>
          </a:p>
        </p:txBody>
      </p:sp>
      <p:sp>
        <p:nvSpPr>
          <p:cNvPr id="1367" name="Google Shape;1367;p21"/>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368" name="Google Shape;1368;p21"/>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21</a:t>
            </a:r>
            <a:endParaRPr b="0" i="0" sz="950" u="none" cap="none" strike="noStrike">
              <a:solidFill>
                <a:schemeClr val="dk1"/>
              </a:solidFill>
              <a:latin typeface="Calibri"/>
              <a:ea typeface="Calibri"/>
              <a:cs typeface="Calibri"/>
              <a:sym typeface="Calibri"/>
            </a:endParaRPr>
          </a:p>
        </p:txBody>
      </p:sp>
      <p:sp>
        <p:nvSpPr>
          <p:cNvPr id="1369" name="Google Shape;1369;p21"/>
          <p:cNvSpPr/>
          <p:nvPr/>
        </p:nvSpPr>
        <p:spPr>
          <a:xfrm>
            <a:off x="566928" y="1481328"/>
            <a:ext cx="7726680" cy="4160520"/>
          </a:xfrm>
          <a:prstGeom prst="roundRect">
            <a:avLst>
              <a:gd fmla="val 1099" name="adj"/>
            </a:avLst>
          </a:prstGeom>
          <a:solidFill>
            <a:srgbClr val="FFFFFF"/>
          </a:solidFill>
          <a:ln cap="flat" cmpd="sng" w="12700">
            <a:solidFill>
              <a:srgbClr val="9AA3AD"/>
            </a:solidFill>
            <a:prstDash val="solid"/>
            <a:round/>
            <a:headEnd len="sm" w="sm" type="none"/>
            <a:tailEnd len="sm" w="sm" type="none"/>
          </a:ln>
          <a:effectLst>
            <a:outerShdw blurRad="1270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1"/>
          <p:cNvSpPr/>
          <p:nvPr/>
        </p:nvSpPr>
        <p:spPr>
          <a:xfrm>
            <a:off x="576072" y="1490472"/>
            <a:ext cx="7708392" cy="384048"/>
          </a:xfrm>
          <a:prstGeom prst="rect">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1"/>
          <p:cNvSpPr/>
          <p:nvPr/>
        </p:nvSpPr>
        <p:spPr>
          <a:xfrm>
            <a:off x="694944" y="1623060"/>
            <a:ext cx="100584" cy="100584"/>
          </a:xfrm>
          <a:prstGeom prst="ellipse">
            <a:avLst/>
          </a:prstGeom>
          <a:solidFill>
            <a:srgbClr val="E06C5A"/>
          </a:solidFill>
          <a:ln cap="flat" cmpd="sng" w="12700">
            <a:solidFill>
              <a:srgbClr val="E06C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1"/>
          <p:cNvSpPr/>
          <p:nvPr/>
        </p:nvSpPr>
        <p:spPr>
          <a:xfrm>
            <a:off x="850392" y="1623060"/>
            <a:ext cx="100584" cy="100584"/>
          </a:xfrm>
          <a:prstGeom prst="ellipse">
            <a:avLst/>
          </a:prstGeom>
          <a:solidFill>
            <a:srgbClr val="E0B84A"/>
          </a:solidFill>
          <a:ln cap="flat" cmpd="sng" w="12700">
            <a:solidFill>
              <a:srgbClr val="E0B8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1"/>
          <p:cNvSpPr/>
          <p:nvPr/>
        </p:nvSpPr>
        <p:spPr>
          <a:xfrm>
            <a:off x="1005840" y="1623060"/>
            <a:ext cx="100584" cy="100584"/>
          </a:xfrm>
          <a:prstGeom prst="ellipse">
            <a:avLst/>
          </a:prstGeom>
          <a:solidFill>
            <a:srgbClr val="5AB77A"/>
          </a:solidFill>
          <a:ln cap="flat" cmpd="sng" w="12700">
            <a:solidFill>
              <a:srgbClr val="5AB7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1"/>
          <p:cNvSpPr/>
          <p:nvPr/>
        </p:nvSpPr>
        <p:spPr>
          <a:xfrm>
            <a:off x="1225296" y="1508760"/>
            <a:ext cx="3108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FI Data Health Scanner  ·  Fix list</a:t>
            </a:r>
            <a:endParaRPr b="0" i="0" sz="1050" u="none" cap="none" strike="noStrike">
              <a:solidFill>
                <a:schemeClr val="dk1"/>
              </a:solidFill>
              <a:latin typeface="Calibri"/>
              <a:ea typeface="Calibri"/>
              <a:cs typeface="Calibri"/>
              <a:sym typeface="Calibri"/>
            </a:endParaRPr>
          </a:p>
        </p:txBody>
      </p:sp>
      <p:sp>
        <p:nvSpPr>
          <p:cNvPr id="1375" name="Google Shape;1375;p21"/>
          <p:cNvSpPr/>
          <p:nvPr/>
        </p:nvSpPr>
        <p:spPr>
          <a:xfrm>
            <a:off x="7803490" y="1563624"/>
            <a:ext cx="343814" cy="228600"/>
          </a:xfrm>
          <a:prstGeom prst="roundRect">
            <a:avLst>
              <a:gd fmla="val 2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1"/>
          <p:cNvSpPr/>
          <p:nvPr/>
        </p:nvSpPr>
        <p:spPr>
          <a:xfrm>
            <a:off x="7803490" y="1563624"/>
            <a:ext cx="343814"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Fix</a:t>
            </a:r>
            <a:endParaRPr b="0" i="0" sz="850" u="none" cap="none" strike="noStrike">
              <a:solidFill>
                <a:schemeClr val="dk1"/>
              </a:solidFill>
              <a:latin typeface="Calibri"/>
              <a:ea typeface="Calibri"/>
              <a:cs typeface="Calibri"/>
              <a:sym typeface="Calibri"/>
            </a:endParaRPr>
          </a:p>
        </p:txBody>
      </p:sp>
      <p:sp>
        <p:nvSpPr>
          <p:cNvPr id="1377" name="Google Shape;1377;p21"/>
          <p:cNvSpPr/>
          <p:nvPr/>
        </p:nvSpPr>
        <p:spPr>
          <a:xfrm>
            <a:off x="7123176" y="1563624"/>
            <a:ext cx="607162"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1"/>
          <p:cNvSpPr/>
          <p:nvPr/>
        </p:nvSpPr>
        <p:spPr>
          <a:xfrm>
            <a:off x="7123176" y="1563624"/>
            <a:ext cx="60716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Records</a:t>
            </a:r>
            <a:endParaRPr b="0" i="0" sz="850" u="none" cap="none" strike="noStrike">
              <a:solidFill>
                <a:schemeClr val="dk1"/>
              </a:solidFill>
              <a:latin typeface="Calibri"/>
              <a:ea typeface="Calibri"/>
              <a:cs typeface="Calibri"/>
              <a:sym typeface="Calibri"/>
            </a:endParaRPr>
          </a:p>
        </p:txBody>
      </p:sp>
      <p:sp>
        <p:nvSpPr>
          <p:cNvPr id="1379" name="Google Shape;1379;p21"/>
          <p:cNvSpPr/>
          <p:nvPr/>
        </p:nvSpPr>
        <p:spPr>
          <a:xfrm>
            <a:off x="6574536" y="1563624"/>
            <a:ext cx="47548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1"/>
          <p:cNvSpPr/>
          <p:nvPr/>
        </p:nvSpPr>
        <p:spPr>
          <a:xfrm>
            <a:off x="6574536" y="1563624"/>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Trend</a:t>
            </a:r>
            <a:endParaRPr b="0" i="0" sz="850" u="none" cap="none" strike="noStrike">
              <a:solidFill>
                <a:schemeClr val="dk1"/>
              </a:solidFill>
              <a:latin typeface="Calibri"/>
              <a:ea typeface="Calibri"/>
              <a:cs typeface="Calibri"/>
              <a:sym typeface="Calibri"/>
            </a:endParaRPr>
          </a:p>
        </p:txBody>
      </p:sp>
      <p:sp>
        <p:nvSpPr>
          <p:cNvPr id="1381" name="Google Shape;1381;p21"/>
          <p:cNvSpPr/>
          <p:nvPr/>
        </p:nvSpPr>
        <p:spPr>
          <a:xfrm>
            <a:off x="5894222" y="1563624"/>
            <a:ext cx="607162"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1"/>
          <p:cNvSpPr/>
          <p:nvPr/>
        </p:nvSpPr>
        <p:spPr>
          <a:xfrm>
            <a:off x="5894222" y="1563624"/>
            <a:ext cx="60716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Modules</a:t>
            </a:r>
            <a:endParaRPr b="0" i="0" sz="850" u="none" cap="none" strike="noStrike">
              <a:solidFill>
                <a:schemeClr val="dk1"/>
              </a:solidFill>
              <a:latin typeface="Calibri"/>
              <a:ea typeface="Calibri"/>
              <a:cs typeface="Calibri"/>
              <a:sym typeface="Calibri"/>
            </a:endParaRPr>
          </a:p>
        </p:txBody>
      </p:sp>
      <p:sp>
        <p:nvSpPr>
          <p:cNvPr id="1383" name="Google Shape;1383;p21"/>
          <p:cNvSpPr/>
          <p:nvPr/>
        </p:nvSpPr>
        <p:spPr>
          <a:xfrm>
            <a:off x="5345582" y="1563624"/>
            <a:ext cx="47548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1"/>
          <p:cNvSpPr/>
          <p:nvPr/>
        </p:nvSpPr>
        <p:spPr>
          <a:xfrm>
            <a:off x="5345582" y="1563624"/>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Users</a:t>
            </a:r>
            <a:endParaRPr b="0" i="0" sz="850" u="none" cap="none" strike="noStrike">
              <a:solidFill>
                <a:schemeClr val="dk1"/>
              </a:solidFill>
              <a:latin typeface="Calibri"/>
              <a:ea typeface="Calibri"/>
              <a:cs typeface="Calibri"/>
              <a:sym typeface="Calibri"/>
            </a:endParaRPr>
          </a:p>
        </p:txBody>
      </p:sp>
      <p:sp>
        <p:nvSpPr>
          <p:cNvPr id="1385" name="Google Shape;1385;p21"/>
          <p:cNvSpPr/>
          <p:nvPr/>
        </p:nvSpPr>
        <p:spPr>
          <a:xfrm>
            <a:off x="4599432" y="1563624"/>
            <a:ext cx="67299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1"/>
          <p:cNvSpPr/>
          <p:nvPr/>
        </p:nvSpPr>
        <p:spPr>
          <a:xfrm>
            <a:off x="4599432" y="1563624"/>
            <a:ext cx="67299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Overview</a:t>
            </a:r>
            <a:endParaRPr b="0" i="0" sz="850" u="none" cap="none" strike="noStrike">
              <a:solidFill>
                <a:schemeClr val="dk1"/>
              </a:solidFill>
              <a:latin typeface="Calibri"/>
              <a:ea typeface="Calibri"/>
              <a:cs typeface="Calibri"/>
              <a:sym typeface="Calibri"/>
            </a:endParaRPr>
          </a:p>
        </p:txBody>
      </p:sp>
      <p:sp>
        <p:nvSpPr>
          <p:cNvPr id="1387" name="Google Shape;1387;p21"/>
          <p:cNvSpPr/>
          <p:nvPr/>
        </p:nvSpPr>
        <p:spPr>
          <a:xfrm>
            <a:off x="704088" y="1984248"/>
            <a:ext cx="1338682" cy="219456"/>
          </a:xfrm>
          <a:prstGeom prst="roundRect">
            <a:avLst>
              <a:gd fmla="val 25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1"/>
          <p:cNvSpPr/>
          <p:nvPr/>
        </p:nvSpPr>
        <p:spPr>
          <a:xfrm>
            <a:off x="704088" y="1984248"/>
            <a:ext cx="133868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Wave 1  mechanical</a:t>
            </a:r>
            <a:endParaRPr b="0" i="0" sz="760" u="none" cap="none" strike="noStrike">
              <a:solidFill>
                <a:schemeClr val="dk1"/>
              </a:solidFill>
              <a:latin typeface="Calibri"/>
              <a:ea typeface="Calibri"/>
              <a:cs typeface="Calibri"/>
              <a:sym typeface="Calibri"/>
            </a:endParaRPr>
          </a:p>
        </p:txBody>
      </p:sp>
      <p:sp>
        <p:nvSpPr>
          <p:cNvPr id="1389" name="Google Shape;1389;p21"/>
          <p:cNvSpPr/>
          <p:nvPr/>
        </p:nvSpPr>
        <p:spPr>
          <a:xfrm>
            <a:off x="2115922" y="1984248"/>
            <a:ext cx="1214323" cy="219456"/>
          </a:xfrm>
          <a:prstGeom prst="roundRect">
            <a:avLst>
              <a:gd fmla="val 25000"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1"/>
          <p:cNvSpPr/>
          <p:nvPr/>
        </p:nvSpPr>
        <p:spPr>
          <a:xfrm>
            <a:off x="2115922" y="1984248"/>
            <a:ext cx="1214323"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35C"/>
              </a:buClr>
              <a:buSzPts val="760"/>
              <a:buFont typeface="Calibri"/>
              <a:buNone/>
            </a:pPr>
            <a:r>
              <a:rPr b="1" i="0" lang="en-US" sz="760" u="none" cap="none" strike="noStrike">
                <a:solidFill>
                  <a:srgbClr val="4B535C"/>
                </a:solidFill>
                <a:latin typeface="Calibri"/>
                <a:ea typeface="Calibri"/>
                <a:cs typeface="Calibri"/>
                <a:sym typeface="Calibri"/>
              </a:rPr>
              <a:t>Wave 2  assisted</a:t>
            </a:r>
            <a:endParaRPr b="0" i="0" sz="760" u="none" cap="none" strike="noStrike">
              <a:solidFill>
                <a:schemeClr val="dk1"/>
              </a:solidFill>
              <a:latin typeface="Calibri"/>
              <a:ea typeface="Calibri"/>
              <a:cs typeface="Calibri"/>
              <a:sym typeface="Calibri"/>
            </a:endParaRPr>
          </a:p>
        </p:txBody>
      </p:sp>
      <p:sp>
        <p:nvSpPr>
          <p:cNvPr id="1391" name="Google Shape;1391;p21"/>
          <p:cNvSpPr/>
          <p:nvPr/>
        </p:nvSpPr>
        <p:spPr>
          <a:xfrm>
            <a:off x="3403397" y="1984248"/>
            <a:ext cx="1152144" cy="219456"/>
          </a:xfrm>
          <a:prstGeom prst="roundRect">
            <a:avLst>
              <a:gd fmla="val 25000" name="adj"/>
            </a:avLst>
          </a:prstGeom>
          <a:solidFill>
            <a:srgbClr val="E8EBEE"/>
          </a:solidFill>
          <a:ln cap="flat" cmpd="sng" w="12700">
            <a:solidFill>
              <a:srgbClr val="E8EB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1"/>
          <p:cNvSpPr/>
          <p:nvPr/>
        </p:nvSpPr>
        <p:spPr>
          <a:xfrm>
            <a:off x="3403397" y="1984248"/>
            <a:ext cx="115214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35C"/>
              </a:buClr>
              <a:buSzPts val="760"/>
              <a:buFont typeface="Calibri"/>
              <a:buNone/>
            </a:pPr>
            <a:r>
              <a:rPr b="1" i="0" lang="en-US" sz="760" u="none" cap="none" strike="noStrike">
                <a:solidFill>
                  <a:srgbClr val="4B535C"/>
                </a:solidFill>
                <a:latin typeface="Calibri"/>
                <a:ea typeface="Calibri"/>
                <a:cs typeface="Calibri"/>
                <a:sym typeface="Calibri"/>
              </a:rPr>
              <a:t>Wave 3  process</a:t>
            </a:r>
            <a:endParaRPr b="0" i="0" sz="760" u="none" cap="none" strike="noStrike">
              <a:solidFill>
                <a:schemeClr val="dk1"/>
              </a:solidFill>
              <a:latin typeface="Calibri"/>
              <a:ea typeface="Calibri"/>
              <a:cs typeface="Calibri"/>
              <a:sym typeface="Calibri"/>
            </a:endParaRPr>
          </a:p>
        </p:txBody>
      </p:sp>
      <p:sp>
        <p:nvSpPr>
          <p:cNvPr id="1393" name="Google Shape;1393;p21"/>
          <p:cNvSpPr/>
          <p:nvPr/>
        </p:nvSpPr>
        <p:spPr>
          <a:xfrm>
            <a:off x="5815584" y="1984248"/>
            <a:ext cx="1188720" cy="219456"/>
          </a:xfrm>
          <a:prstGeom prst="roundRect">
            <a:avLst>
              <a:gd fmla="val 20833" name="adj"/>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1"/>
          <p:cNvSpPr/>
          <p:nvPr/>
        </p:nvSpPr>
        <p:spPr>
          <a:xfrm>
            <a:off x="5815584" y="1984248"/>
            <a:ext cx="11887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Preview all</a:t>
            </a:r>
            <a:endParaRPr b="0" i="0" sz="850" u="none" cap="none" strike="noStrike">
              <a:solidFill>
                <a:schemeClr val="dk1"/>
              </a:solidFill>
              <a:latin typeface="Calibri"/>
              <a:ea typeface="Calibri"/>
              <a:cs typeface="Calibri"/>
              <a:sym typeface="Calibri"/>
            </a:endParaRPr>
          </a:p>
        </p:txBody>
      </p:sp>
      <p:sp>
        <p:nvSpPr>
          <p:cNvPr id="1395" name="Google Shape;1395;p21"/>
          <p:cNvSpPr/>
          <p:nvPr/>
        </p:nvSpPr>
        <p:spPr>
          <a:xfrm>
            <a:off x="7095744" y="1984248"/>
            <a:ext cx="1060704" cy="219456"/>
          </a:xfrm>
          <a:prstGeom prst="roundRect">
            <a:avLst>
              <a:gd fmla="val 20833"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1"/>
          <p:cNvSpPr/>
          <p:nvPr/>
        </p:nvSpPr>
        <p:spPr>
          <a:xfrm>
            <a:off x="7095744" y="1984248"/>
            <a:ext cx="106070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Generate SOW</a:t>
            </a:r>
            <a:endParaRPr b="0" i="0" sz="850" u="none" cap="none" strike="noStrike">
              <a:solidFill>
                <a:schemeClr val="dk1"/>
              </a:solidFill>
              <a:latin typeface="Calibri"/>
              <a:ea typeface="Calibri"/>
              <a:cs typeface="Calibri"/>
              <a:sym typeface="Calibri"/>
            </a:endParaRPr>
          </a:p>
        </p:txBody>
      </p:sp>
      <p:sp>
        <p:nvSpPr>
          <p:cNvPr id="1397" name="Google Shape;1397;p21"/>
          <p:cNvSpPr/>
          <p:nvPr/>
        </p:nvSpPr>
        <p:spPr>
          <a:xfrm>
            <a:off x="704088" y="2313432"/>
            <a:ext cx="7452360" cy="228600"/>
          </a:xfrm>
          <a:prstGeom prst="rect">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1"/>
          <p:cNvSpPr/>
          <p:nvPr/>
        </p:nvSpPr>
        <p:spPr>
          <a:xfrm>
            <a:off x="768096" y="2313432"/>
            <a:ext cx="2194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Action</a:t>
            </a:r>
            <a:endParaRPr b="0" i="0" sz="780" u="none" cap="none" strike="noStrike">
              <a:solidFill>
                <a:schemeClr val="dk1"/>
              </a:solidFill>
              <a:latin typeface="Calibri"/>
              <a:ea typeface="Calibri"/>
              <a:cs typeface="Calibri"/>
              <a:sym typeface="Calibri"/>
            </a:endParaRPr>
          </a:p>
        </p:txBody>
      </p:sp>
      <p:sp>
        <p:nvSpPr>
          <p:cNvPr id="1399" name="Google Shape;1399;p21"/>
          <p:cNvSpPr/>
          <p:nvPr/>
        </p:nvSpPr>
        <p:spPr>
          <a:xfrm>
            <a:off x="3054096" y="2313432"/>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Scope</a:t>
            </a:r>
            <a:endParaRPr b="0" i="0" sz="780" u="none" cap="none" strike="noStrike">
              <a:solidFill>
                <a:schemeClr val="dk1"/>
              </a:solidFill>
              <a:latin typeface="Calibri"/>
              <a:ea typeface="Calibri"/>
              <a:cs typeface="Calibri"/>
              <a:sym typeface="Calibri"/>
            </a:endParaRPr>
          </a:p>
        </p:txBody>
      </p:sp>
      <p:sp>
        <p:nvSpPr>
          <p:cNvPr id="1400" name="Google Shape;1400;p21"/>
          <p:cNvSpPr/>
          <p:nvPr/>
        </p:nvSpPr>
        <p:spPr>
          <a:xfrm>
            <a:off x="4105656" y="23134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Records</a:t>
            </a:r>
            <a:endParaRPr b="0" i="0" sz="780" u="none" cap="none" strike="noStrike">
              <a:solidFill>
                <a:schemeClr val="dk1"/>
              </a:solidFill>
              <a:latin typeface="Calibri"/>
              <a:ea typeface="Calibri"/>
              <a:cs typeface="Calibri"/>
              <a:sym typeface="Calibri"/>
            </a:endParaRPr>
          </a:p>
        </p:txBody>
      </p:sp>
      <p:sp>
        <p:nvSpPr>
          <p:cNvPr id="1401" name="Google Shape;1401;p21"/>
          <p:cNvSpPr/>
          <p:nvPr/>
        </p:nvSpPr>
        <p:spPr>
          <a:xfrm>
            <a:off x="4974336" y="2313432"/>
            <a:ext cx="6858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Effort</a:t>
            </a:r>
            <a:endParaRPr b="0" i="0" sz="780" u="none" cap="none" strike="noStrike">
              <a:solidFill>
                <a:schemeClr val="dk1"/>
              </a:solidFill>
              <a:latin typeface="Calibri"/>
              <a:ea typeface="Calibri"/>
              <a:cs typeface="Calibri"/>
              <a:sym typeface="Calibri"/>
            </a:endParaRPr>
          </a:p>
        </p:txBody>
      </p:sp>
      <p:sp>
        <p:nvSpPr>
          <p:cNvPr id="1402" name="Google Shape;1402;p21"/>
          <p:cNvSpPr/>
          <p:nvPr/>
        </p:nvSpPr>
        <p:spPr>
          <a:xfrm>
            <a:off x="5751576" y="23134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Gain</a:t>
            </a:r>
            <a:endParaRPr b="0" i="0" sz="780" u="none" cap="none" strike="noStrike">
              <a:solidFill>
                <a:schemeClr val="dk1"/>
              </a:solidFill>
              <a:latin typeface="Calibri"/>
              <a:ea typeface="Calibri"/>
              <a:cs typeface="Calibri"/>
              <a:sym typeface="Calibri"/>
            </a:endParaRPr>
          </a:p>
        </p:txBody>
      </p:sp>
      <p:sp>
        <p:nvSpPr>
          <p:cNvPr id="1403" name="Google Shape;1403;p21"/>
          <p:cNvSpPr/>
          <p:nvPr/>
        </p:nvSpPr>
        <p:spPr>
          <a:xfrm>
            <a:off x="6620256" y="2313432"/>
            <a:ext cx="15087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780"/>
              <a:buFont typeface="Calibri"/>
              <a:buNone/>
            </a:pPr>
            <a:r>
              <a:rPr b="1" i="0" lang="en-US" sz="780" u="none" cap="none" strike="noStrike">
                <a:solidFill>
                  <a:srgbClr val="FFFFFF"/>
                </a:solidFill>
                <a:latin typeface="Calibri"/>
                <a:ea typeface="Calibri"/>
                <a:cs typeface="Calibri"/>
                <a:sym typeface="Calibri"/>
              </a:rPr>
              <a:t>Run</a:t>
            </a:r>
            <a:endParaRPr b="0" i="0" sz="780" u="none" cap="none" strike="noStrike">
              <a:solidFill>
                <a:schemeClr val="dk1"/>
              </a:solidFill>
              <a:latin typeface="Calibri"/>
              <a:ea typeface="Calibri"/>
              <a:cs typeface="Calibri"/>
              <a:sym typeface="Calibri"/>
            </a:endParaRPr>
          </a:p>
        </p:txBody>
      </p:sp>
      <p:sp>
        <p:nvSpPr>
          <p:cNvPr id="1404" name="Google Shape;1404;p21"/>
          <p:cNvSpPr/>
          <p:nvPr/>
        </p:nvSpPr>
        <p:spPr>
          <a:xfrm>
            <a:off x="704088" y="2542032"/>
            <a:ext cx="7452360" cy="228600"/>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1"/>
          <p:cNvSpPr/>
          <p:nvPr/>
        </p:nvSpPr>
        <p:spPr>
          <a:xfrm>
            <a:off x="768096" y="2542032"/>
            <a:ext cx="2194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Normalise phone to E.164</a:t>
            </a:r>
            <a:endParaRPr b="0" i="0" sz="780" u="none" cap="none" strike="noStrike">
              <a:solidFill>
                <a:schemeClr val="dk1"/>
              </a:solidFill>
              <a:latin typeface="Calibri"/>
              <a:ea typeface="Calibri"/>
              <a:cs typeface="Calibri"/>
              <a:sym typeface="Calibri"/>
            </a:endParaRPr>
          </a:p>
        </p:txBody>
      </p:sp>
      <p:sp>
        <p:nvSpPr>
          <p:cNvPr id="1406" name="Google Shape;1406;p21"/>
          <p:cNvSpPr/>
          <p:nvPr/>
        </p:nvSpPr>
        <p:spPr>
          <a:xfrm>
            <a:off x="3054096" y="2542032"/>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Leads, Contacts</a:t>
            </a:r>
            <a:endParaRPr b="0" i="0" sz="780" u="none" cap="none" strike="noStrike">
              <a:solidFill>
                <a:schemeClr val="dk1"/>
              </a:solidFill>
              <a:latin typeface="Calibri"/>
              <a:ea typeface="Calibri"/>
              <a:cs typeface="Calibri"/>
              <a:sym typeface="Calibri"/>
            </a:endParaRPr>
          </a:p>
        </p:txBody>
      </p:sp>
      <p:sp>
        <p:nvSpPr>
          <p:cNvPr id="1407" name="Google Shape;1407;p21"/>
          <p:cNvSpPr/>
          <p:nvPr/>
        </p:nvSpPr>
        <p:spPr>
          <a:xfrm>
            <a:off x="4105656" y="25420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9,806</a:t>
            </a:r>
            <a:endParaRPr b="0" i="0" sz="780" u="none" cap="none" strike="noStrike">
              <a:solidFill>
                <a:schemeClr val="dk1"/>
              </a:solidFill>
              <a:latin typeface="Calibri"/>
              <a:ea typeface="Calibri"/>
              <a:cs typeface="Calibri"/>
              <a:sym typeface="Calibri"/>
            </a:endParaRPr>
          </a:p>
        </p:txBody>
      </p:sp>
      <p:sp>
        <p:nvSpPr>
          <p:cNvPr id="1408" name="Google Shape;1408;p21"/>
          <p:cNvSpPr/>
          <p:nvPr/>
        </p:nvSpPr>
        <p:spPr>
          <a:xfrm>
            <a:off x="4974336" y="2542032"/>
            <a:ext cx="6858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0.5 day</a:t>
            </a:r>
            <a:endParaRPr b="0" i="0" sz="780" u="none" cap="none" strike="noStrike">
              <a:solidFill>
                <a:schemeClr val="dk1"/>
              </a:solidFill>
              <a:latin typeface="Calibri"/>
              <a:ea typeface="Calibri"/>
              <a:cs typeface="Calibri"/>
              <a:sym typeface="Calibri"/>
            </a:endParaRPr>
          </a:p>
        </p:txBody>
      </p:sp>
      <p:sp>
        <p:nvSpPr>
          <p:cNvPr id="1409" name="Google Shape;1409;p21"/>
          <p:cNvSpPr/>
          <p:nvPr/>
        </p:nvSpPr>
        <p:spPr>
          <a:xfrm>
            <a:off x="5751576" y="25420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+6</a:t>
            </a:r>
            <a:endParaRPr b="0" i="0" sz="780" u="none" cap="none" strike="noStrike">
              <a:solidFill>
                <a:schemeClr val="dk1"/>
              </a:solidFill>
              <a:latin typeface="Calibri"/>
              <a:ea typeface="Calibri"/>
              <a:cs typeface="Calibri"/>
              <a:sym typeface="Calibri"/>
            </a:endParaRPr>
          </a:p>
        </p:txBody>
      </p:sp>
      <p:sp>
        <p:nvSpPr>
          <p:cNvPr id="1410" name="Google Shape;1410;p21"/>
          <p:cNvSpPr/>
          <p:nvPr/>
        </p:nvSpPr>
        <p:spPr>
          <a:xfrm>
            <a:off x="6620256" y="2583180"/>
            <a:ext cx="1325880" cy="146304"/>
          </a:xfrm>
          <a:prstGeom prst="roundRect">
            <a:avLst>
              <a:gd fmla="val 375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1"/>
          <p:cNvSpPr/>
          <p:nvPr/>
        </p:nvSpPr>
        <p:spPr>
          <a:xfrm>
            <a:off x="6620256" y="2583180"/>
            <a:ext cx="13258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Run with preview</a:t>
            </a:r>
            <a:endParaRPr b="0" i="0" sz="760" u="none" cap="none" strike="noStrike">
              <a:solidFill>
                <a:schemeClr val="dk1"/>
              </a:solidFill>
              <a:latin typeface="Calibri"/>
              <a:ea typeface="Calibri"/>
              <a:cs typeface="Calibri"/>
              <a:sym typeface="Calibri"/>
            </a:endParaRPr>
          </a:p>
        </p:txBody>
      </p:sp>
      <p:sp>
        <p:nvSpPr>
          <p:cNvPr id="1412" name="Google Shape;1412;p21"/>
          <p:cNvSpPr/>
          <p:nvPr/>
        </p:nvSpPr>
        <p:spPr>
          <a:xfrm>
            <a:off x="704088" y="2770632"/>
            <a:ext cx="7452360" cy="228600"/>
          </a:xfrm>
          <a:prstGeom prst="rect">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1"/>
          <p:cNvSpPr/>
          <p:nvPr/>
        </p:nvSpPr>
        <p:spPr>
          <a:xfrm>
            <a:off x="768096" y="2770632"/>
            <a:ext cx="2194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Fix email format defects</a:t>
            </a:r>
            <a:endParaRPr b="0" i="0" sz="780" u="none" cap="none" strike="noStrike">
              <a:solidFill>
                <a:schemeClr val="dk1"/>
              </a:solidFill>
              <a:latin typeface="Calibri"/>
              <a:ea typeface="Calibri"/>
              <a:cs typeface="Calibri"/>
              <a:sym typeface="Calibri"/>
            </a:endParaRPr>
          </a:p>
        </p:txBody>
      </p:sp>
      <p:sp>
        <p:nvSpPr>
          <p:cNvPr id="1414" name="Google Shape;1414;p21"/>
          <p:cNvSpPr/>
          <p:nvPr/>
        </p:nvSpPr>
        <p:spPr>
          <a:xfrm>
            <a:off x="3054096" y="2770632"/>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All modules</a:t>
            </a:r>
            <a:endParaRPr b="0" i="0" sz="780" u="none" cap="none" strike="noStrike">
              <a:solidFill>
                <a:schemeClr val="dk1"/>
              </a:solidFill>
              <a:latin typeface="Calibri"/>
              <a:ea typeface="Calibri"/>
              <a:cs typeface="Calibri"/>
              <a:sym typeface="Calibri"/>
            </a:endParaRPr>
          </a:p>
        </p:txBody>
      </p:sp>
      <p:sp>
        <p:nvSpPr>
          <p:cNvPr id="1415" name="Google Shape;1415;p21"/>
          <p:cNvSpPr/>
          <p:nvPr/>
        </p:nvSpPr>
        <p:spPr>
          <a:xfrm>
            <a:off x="4105656" y="27706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1,204</a:t>
            </a:r>
            <a:endParaRPr b="0" i="0" sz="780" u="none" cap="none" strike="noStrike">
              <a:solidFill>
                <a:schemeClr val="dk1"/>
              </a:solidFill>
              <a:latin typeface="Calibri"/>
              <a:ea typeface="Calibri"/>
              <a:cs typeface="Calibri"/>
              <a:sym typeface="Calibri"/>
            </a:endParaRPr>
          </a:p>
        </p:txBody>
      </p:sp>
      <p:sp>
        <p:nvSpPr>
          <p:cNvPr id="1416" name="Google Shape;1416;p21"/>
          <p:cNvSpPr/>
          <p:nvPr/>
        </p:nvSpPr>
        <p:spPr>
          <a:xfrm>
            <a:off x="4974336" y="2770632"/>
            <a:ext cx="6858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0.5 day</a:t>
            </a:r>
            <a:endParaRPr b="0" i="0" sz="780" u="none" cap="none" strike="noStrike">
              <a:solidFill>
                <a:schemeClr val="dk1"/>
              </a:solidFill>
              <a:latin typeface="Calibri"/>
              <a:ea typeface="Calibri"/>
              <a:cs typeface="Calibri"/>
              <a:sym typeface="Calibri"/>
            </a:endParaRPr>
          </a:p>
        </p:txBody>
      </p:sp>
      <p:sp>
        <p:nvSpPr>
          <p:cNvPr id="1417" name="Google Shape;1417;p21"/>
          <p:cNvSpPr/>
          <p:nvPr/>
        </p:nvSpPr>
        <p:spPr>
          <a:xfrm>
            <a:off x="5751576" y="27706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+3</a:t>
            </a:r>
            <a:endParaRPr b="0" i="0" sz="780" u="none" cap="none" strike="noStrike">
              <a:solidFill>
                <a:schemeClr val="dk1"/>
              </a:solidFill>
              <a:latin typeface="Calibri"/>
              <a:ea typeface="Calibri"/>
              <a:cs typeface="Calibri"/>
              <a:sym typeface="Calibri"/>
            </a:endParaRPr>
          </a:p>
        </p:txBody>
      </p:sp>
      <p:sp>
        <p:nvSpPr>
          <p:cNvPr id="1418" name="Google Shape;1418;p21"/>
          <p:cNvSpPr/>
          <p:nvPr/>
        </p:nvSpPr>
        <p:spPr>
          <a:xfrm>
            <a:off x="6620256" y="2811780"/>
            <a:ext cx="1325880" cy="146304"/>
          </a:xfrm>
          <a:prstGeom prst="roundRect">
            <a:avLst>
              <a:gd fmla="val 375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1"/>
          <p:cNvSpPr/>
          <p:nvPr/>
        </p:nvSpPr>
        <p:spPr>
          <a:xfrm>
            <a:off x="6620256" y="2811780"/>
            <a:ext cx="13258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Run with preview</a:t>
            </a:r>
            <a:endParaRPr b="0" i="0" sz="760" u="none" cap="none" strike="noStrike">
              <a:solidFill>
                <a:schemeClr val="dk1"/>
              </a:solidFill>
              <a:latin typeface="Calibri"/>
              <a:ea typeface="Calibri"/>
              <a:cs typeface="Calibri"/>
              <a:sym typeface="Calibri"/>
            </a:endParaRPr>
          </a:p>
        </p:txBody>
      </p:sp>
      <p:sp>
        <p:nvSpPr>
          <p:cNvPr id="1420" name="Google Shape;1420;p21"/>
          <p:cNvSpPr/>
          <p:nvPr/>
        </p:nvSpPr>
        <p:spPr>
          <a:xfrm>
            <a:off x="704088" y="2999232"/>
            <a:ext cx="7452360" cy="228600"/>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1"/>
          <p:cNvSpPr/>
          <p:nvPr/>
        </p:nvSpPr>
        <p:spPr>
          <a:xfrm>
            <a:off x="768096" y="2999232"/>
            <a:ext cx="2194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Merge confirmed duplicates</a:t>
            </a:r>
            <a:endParaRPr b="0" i="0" sz="780" u="none" cap="none" strike="noStrike">
              <a:solidFill>
                <a:schemeClr val="dk1"/>
              </a:solidFill>
              <a:latin typeface="Calibri"/>
              <a:ea typeface="Calibri"/>
              <a:cs typeface="Calibri"/>
              <a:sym typeface="Calibri"/>
            </a:endParaRPr>
          </a:p>
        </p:txBody>
      </p:sp>
      <p:sp>
        <p:nvSpPr>
          <p:cNvPr id="1422" name="Google Shape;1422;p21"/>
          <p:cNvSpPr/>
          <p:nvPr/>
        </p:nvSpPr>
        <p:spPr>
          <a:xfrm>
            <a:off x="3054096" y="2999232"/>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Vendors</a:t>
            </a:r>
            <a:endParaRPr b="0" i="0" sz="780" u="none" cap="none" strike="noStrike">
              <a:solidFill>
                <a:schemeClr val="dk1"/>
              </a:solidFill>
              <a:latin typeface="Calibri"/>
              <a:ea typeface="Calibri"/>
              <a:cs typeface="Calibri"/>
              <a:sym typeface="Calibri"/>
            </a:endParaRPr>
          </a:p>
        </p:txBody>
      </p:sp>
      <p:sp>
        <p:nvSpPr>
          <p:cNvPr id="1423" name="Google Shape;1423;p21"/>
          <p:cNvSpPr/>
          <p:nvPr/>
        </p:nvSpPr>
        <p:spPr>
          <a:xfrm>
            <a:off x="4105656" y="29992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46</a:t>
            </a:r>
            <a:endParaRPr b="0" i="0" sz="780" u="none" cap="none" strike="noStrike">
              <a:solidFill>
                <a:schemeClr val="dk1"/>
              </a:solidFill>
              <a:latin typeface="Calibri"/>
              <a:ea typeface="Calibri"/>
              <a:cs typeface="Calibri"/>
              <a:sym typeface="Calibri"/>
            </a:endParaRPr>
          </a:p>
        </p:txBody>
      </p:sp>
      <p:sp>
        <p:nvSpPr>
          <p:cNvPr id="1424" name="Google Shape;1424;p21"/>
          <p:cNvSpPr/>
          <p:nvPr/>
        </p:nvSpPr>
        <p:spPr>
          <a:xfrm>
            <a:off x="4974336" y="2999232"/>
            <a:ext cx="6858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1 day</a:t>
            </a:r>
            <a:endParaRPr b="0" i="0" sz="780" u="none" cap="none" strike="noStrike">
              <a:solidFill>
                <a:schemeClr val="dk1"/>
              </a:solidFill>
              <a:latin typeface="Calibri"/>
              <a:ea typeface="Calibri"/>
              <a:cs typeface="Calibri"/>
              <a:sym typeface="Calibri"/>
            </a:endParaRPr>
          </a:p>
        </p:txBody>
      </p:sp>
      <p:sp>
        <p:nvSpPr>
          <p:cNvPr id="1425" name="Google Shape;1425;p21"/>
          <p:cNvSpPr/>
          <p:nvPr/>
        </p:nvSpPr>
        <p:spPr>
          <a:xfrm>
            <a:off x="5751576" y="29992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+5</a:t>
            </a:r>
            <a:endParaRPr b="0" i="0" sz="780" u="none" cap="none" strike="noStrike">
              <a:solidFill>
                <a:schemeClr val="dk1"/>
              </a:solidFill>
              <a:latin typeface="Calibri"/>
              <a:ea typeface="Calibri"/>
              <a:cs typeface="Calibri"/>
              <a:sym typeface="Calibri"/>
            </a:endParaRPr>
          </a:p>
        </p:txBody>
      </p:sp>
      <p:sp>
        <p:nvSpPr>
          <p:cNvPr id="1426" name="Google Shape;1426;p21"/>
          <p:cNvSpPr/>
          <p:nvPr/>
        </p:nvSpPr>
        <p:spPr>
          <a:xfrm>
            <a:off x="6620256" y="3040380"/>
            <a:ext cx="1463040" cy="146304"/>
          </a:xfrm>
          <a:prstGeom prst="roundRect">
            <a:avLst>
              <a:gd fmla="val 37500" name="adj"/>
            </a:avLst>
          </a:prstGeom>
          <a:solidFill>
            <a:srgbClr val="C77700"/>
          </a:solidFill>
          <a:ln cap="flat" cmpd="sng" w="12700">
            <a:solidFill>
              <a:srgbClr val="C77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1"/>
          <p:cNvSpPr/>
          <p:nvPr/>
        </p:nvSpPr>
        <p:spPr>
          <a:xfrm>
            <a:off x="6620256" y="3040380"/>
            <a:ext cx="146304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Needs policy sign off</a:t>
            </a:r>
            <a:endParaRPr b="0" i="0" sz="760" u="none" cap="none" strike="noStrike">
              <a:solidFill>
                <a:schemeClr val="dk1"/>
              </a:solidFill>
              <a:latin typeface="Calibri"/>
              <a:ea typeface="Calibri"/>
              <a:cs typeface="Calibri"/>
              <a:sym typeface="Calibri"/>
            </a:endParaRPr>
          </a:p>
        </p:txBody>
      </p:sp>
      <p:sp>
        <p:nvSpPr>
          <p:cNvPr id="1428" name="Google Shape;1428;p21"/>
          <p:cNvSpPr/>
          <p:nvPr/>
        </p:nvSpPr>
        <p:spPr>
          <a:xfrm>
            <a:off x="704088" y="3227832"/>
            <a:ext cx="7452360" cy="228600"/>
          </a:xfrm>
          <a:prstGeom prst="rect">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1"/>
          <p:cNvSpPr/>
          <p:nvPr/>
        </p:nvSpPr>
        <p:spPr>
          <a:xfrm>
            <a:off x="768096" y="3227832"/>
            <a:ext cx="2194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Close overdue open deals</a:t>
            </a:r>
            <a:endParaRPr b="0" i="0" sz="780" u="none" cap="none" strike="noStrike">
              <a:solidFill>
                <a:schemeClr val="dk1"/>
              </a:solidFill>
              <a:latin typeface="Calibri"/>
              <a:ea typeface="Calibri"/>
              <a:cs typeface="Calibri"/>
              <a:sym typeface="Calibri"/>
            </a:endParaRPr>
          </a:p>
        </p:txBody>
      </p:sp>
      <p:sp>
        <p:nvSpPr>
          <p:cNvPr id="1430" name="Google Shape;1430;p21"/>
          <p:cNvSpPr/>
          <p:nvPr/>
        </p:nvSpPr>
        <p:spPr>
          <a:xfrm>
            <a:off x="3054096" y="3227832"/>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Deals</a:t>
            </a:r>
            <a:endParaRPr b="0" i="0" sz="780" u="none" cap="none" strike="noStrike">
              <a:solidFill>
                <a:schemeClr val="dk1"/>
              </a:solidFill>
              <a:latin typeface="Calibri"/>
              <a:ea typeface="Calibri"/>
              <a:cs typeface="Calibri"/>
              <a:sym typeface="Calibri"/>
            </a:endParaRPr>
          </a:p>
        </p:txBody>
      </p:sp>
      <p:sp>
        <p:nvSpPr>
          <p:cNvPr id="1431" name="Google Shape;1431;p21"/>
          <p:cNvSpPr/>
          <p:nvPr/>
        </p:nvSpPr>
        <p:spPr>
          <a:xfrm>
            <a:off x="4105656" y="32278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2,904</a:t>
            </a:r>
            <a:endParaRPr b="0" i="0" sz="780" u="none" cap="none" strike="noStrike">
              <a:solidFill>
                <a:schemeClr val="dk1"/>
              </a:solidFill>
              <a:latin typeface="Calibri"/>
              <a:ea typeface="Calibri"/>
              <a:cs typeface="Calibri"/>
              <a:sym typeface="Calibri"/>
            </a:endParaRPr>
          </a:p>
        </p:txBody>
      </p:sp>
      <p:sp>
        <p:nvSpPr>
          <p:cNvPr id="1432" name="Google Shape;1432;p21"/>
          <p:cNvSpPr/>
          <p:nvPr/>
        </p:nvSpPr>
        <p:spPr>
          <a:xfrm>
            <a:off x="4974336" y="3227832"/>
            <a:ext cx="6858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2 days</a:t>
            </a:r>
            <a:endParaRPr b="0" i="0" sz="780" u="none" cap="none" strike="noStrike">
              <a:solidFill>
                <a:schemeClr val="dk1"/>
              </a:solidFill>
              <a:latin typeface="Calibri"/>
              <a:ea typeface="Calibri"/>
              <a:cs typeface="Calibri"/>
              <a:sym typeface="Calibri"/>
            </a:endParaRPr>
          </a:p>
        </p:txBody>
      </p:sp>
      <p:sp>
        <p:nvSpPr>
          <p:cNvPr id="1433" name="Google Shape;1433;p21"/>
          <p:cNvSpPr/>
          <p:nvPr/>
        </p:nvSpPr>
        <p:spPr>
          <a:xfrm>
            <a:off x="5751576" y="32278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+7</a:t>
            </a:r>
            <a:endParaRPr b="0" i="0" sz="780" u="none" cap="none" strike="noStrike">
              <a:solidFill>
                <a:schemeClr val="dk1"/>
              </a:solidFill>
              <a:latin typeface="Calibri"/>
              <a:ea typeface="Calibri"/>
              <a:cs typeface="Calibri"/>
              <a:sym typeface="Calibri"/>
            </a:endParaRPr>
          </a:p>
        </p:txBody>
      </p:sp>
      <p:sp>
        <p:nvSpPr>
          <p:cNvPr id="1434" name="Google Shape;1434;p21"/>
          <p:cNvSpPr/>
          <p:nvPr/>
        </p:nvSpPr>
        <p:spPr>
          <a:xfrm>
            <a:off x="6620256" y="3268980"/>
            <a:ext cx="1417320" cy="146304"/>
          </a:xfrm>
          <a:prstGeom prst="roundRect">
            <a:avLst>
              <a:gd fmla="val 37500" name="adj"/>
            </a:avLst>
          </a:prstGeom>
          <a:solidFill>
            <a:srgbClr val="C77700"/>
          </a:solidFill>
          <a:ln cap="flat" cmpd="sng" w="12700">
            <a:solidFill>
              <a:srgbClr val="C77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1"/>
          <p:cNvSpPr/>
          <p:nvPr/>
        </p:nvSpPr>
        <p:spPr>
          <a:xfrm>
            <a:off x="6620256" y="3268980"/>
            <a:ext cx="141732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Needs owner review</a:t>
            </a:r>
            <a:endParaRPr b="0" i="0" sz="760" u="none" cap="none" strike="noStrike">
              <a:solidFill>
                <a:schemeClr val="dk1"/>
              </a:solidFill>
              <a:latin typeface="Calibri"/>
              <a:ea typeface="Calibri"/>
              <a:cs typeface="Calibri"/>
              <a:sym typeface="Calibri"/>
            </a:endParaRPr>
          </a:p>
        </p:txBody>
      </p:sp>
      <p:sp>
        <p:nvSpPr>
          <p:cNvPr id="1436" name="Google Shape;1436;p21"/>
          <p:cNvSpPr/>
          <p:nvPr/>
        </p:nvSpPr>
        <p:spPr>
          <a:xfrm>
            <a:off x="704088" y="3456432"/>
            <a:ext cx="7452360" cy="228600"/>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1"/>
          <p:cNvSpPr/>
          <p:nvPr/>
        </p:nvSpPr>
        <p:spPr>
          <a:xfrm>
            <a:off x="768096" y="3456432"/>
            <a:ext cx="2194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Backfill Industry from domain</a:t>
            </a:r>
            <a:endParaRPr b="0" i="0" sz="780" u="none" cap="none" strike="noStrike">
              <a:solidFill>
                <a:schemeClr val="dk1"/>
              </a:solidFill>
              <a:latin typeface="Calibri"/>
              <a:ea typeface="Calibri"/>
              <a:cs typeface="Calibri"/>
              <a:sym typeface="Calibri"/>
            </a:endParaRPr>
          </a:p>
        </p:txBody>
      </p:sp>
      <p:sp>
        <p:nvSpPr>
          <p:cNvPr id="1438" name="Google Shape;1438;p21"/>
          <p:cNvSpPr/>
          <p:nvPr/>
        </p:nvSpPr>
        <p:spPr>
          <a:xfrm>
            <a:off x="3054096" y="3456432"/>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Accounts</a:t>
            </a:r>
            <a:endParaRPr b="0" i="0" sz="780" u="none" cap="none" strike="noStrike">
              <a:solidFill>
                <a:schemeClr val="dk1"/>
              </a:solidFill>
              <a:latin typeface="Calibri"/>
              <a:ea typeface="Calibri"/>
              <a:cs typeface="Calibri"/>
              <a:sym typeface="Calibri"/>
            </a:endParaRPr>
          </a:p>
        </p:txBody>
      </p:sp>
      <p:sp>
        <p:nvSpPr>
          <p:cNvPr id="1439" name="Google Shape;1439;p21"/>
          <p:cNvSpPr/>
          <p:nvPr/>
        </p:nvSpPr>
        <p:spPr>
          <a:xfrm>
            <a:off x="4105656" y="34564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7,349</a:t>
            </a:r>
            <a:endParaRPr b="0" i="0" sz="780" u="none" cap="none" strike="noStrike">
              <a:solidFill>
                <a:schemeClr val="dk1"/>
              </a:solidFill>
              <a:latin typeface="Calibri"/>
              <a:ea typeface="Calibri"/>
              <a:cs typeface="Calibri"/>
              <a:sym typeface="Calibri"/>
            </a:endParaRPr>
          </a:p>
        </p:txBody>
      </p:sp>
      <p:sp>
        <p:nvSpPr>
          <p:cNvPr id="1440" name="Google Shape;1440;p21"/>
          <p:cNvSpPr/>
          <p:nvPr/>
        </p:nvSpPr>
        <p:spPr>
          <a:xfrm>
            <a:off x="4974336" y="3456432"/>
            <a:ext cx="6858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3 days</a:t>
            </a:r>
            <a:endParaRPr b="0" i="0" sz="780" u="none" cap="none" strike="noStrike">
              <a:solidFill>
                <a:schemeClr val="dk1"/>
              </a:solidFill>
              <a:latin typeface="Calibri"/>
              <a:ea typeface="Calibri"/>
              <a:cs typeface="Calibri"/>
              <a:sym typeface="Calibri"/>
            </a:endParaRPr>
          </a:p>
        </p:txBody>
      </p:sp>
      <p:sp>
        <p:nvSpPr>
          <p:cNvPr id="1441" name="Google Shape;1441;p21"/>
          <p:cNvSpPr/>
          <p:nvPr/>
        </p:nvSpPr>
        <p:spPr>
          <a:xfrm>
            <a:off x="5751576" y="34564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+9</a:t>
            </a:r>
            <a:endParaRPr b="0" i="0" sz="780" u="none" cap="none" strike="noStrike">
              <a:solidFill>
                <a:schemeClr val="dk1"/>
              </a:solidFill>
              <a:latin typeface="Calibri"/>
              <a:ea typeface="Calibri"/>
              <a:cs typeface="Calibri"/>
              <a:sym typeface="Calibri"/>
            </a:endParaRPr>
          </a:p>
        </p:txBody>
      </p:sp>
      <p:sp>
        <p:nvSpPr>
          <p:cNvPr id="1442" name="Google Shape;1442;p21"/>
          <p:cNvSpPr/>
          <p:nvPr/>
        </p:nvSpPr>
        <p:spPr>
          <a:xfrm>
            <a:off x="6620256" y="3497580"/>
            <a:ext cx="1325880" cy="146304"/>
          </a:xfrm>
          <a:prstGeom prst="roundRect">
            <a:avLst>
              <a:gd fmla="val 375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1"/>
          <p:cNvSpPr/>
          <p:nvPr/>
        </p:nvSpPr>
        <p:spPr>
          <a:xfrm>
            <a:off x="6620256" y="3497580"/>
            <a:ext cx="13258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Run with preview</a:t>
            </a:r>
            <a:endParaRPr b="0" i="0" sz="760" u="none" cap="none" strike="noStrike">
              <a:solidFill>
                <a:schemeClr val="dk1"/>
              </a:solidFill>
              <a:latin typeface="Calibri"/>
              <a:ea typeface="Calibri"/>
              <a:cs typeface="Calibri"/>
              <a:sym typeface="Calibri"/>
            </a:endParaRPr>
          </a:p>
        </p:txBody>
      </p:sp>
      <p:sp>
        <p:nvSpPr>
          <p:cNvPr id="1444" name="Google Shape;1444;p21"/>
          <p:cNvSpPr/>
          <p:nvPr/>
        </p:nvSpPr>
        <p:spPr>
          <a:xfrm>
            <a:off x="704088" y="3685032"/>
            <a:ext cx="7452360" cy="228600"/>
          </a:xfrm>
          <a:prstGeom prst="rect">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1"/>
          <p:cNvSpPr/>
          <p:nvPr/>
        </p:nvSpPr>
        <p:spPr>
          <a:xfrm>
            <a:off x="768096" y="3685032"/>
            <a:ext cx="2194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Audit suspicious lead bursts</a:t>
            </a:r>
            <a:endParaRPr b="0" i="0" sz="780" u="none" cap="none" strike="noStrike">
              <a:solidFill>
                <a:schemeClr val="dk1"/>
              </a:solidFill>
              <a:latin typeface="Calibri"/>
              <a:ea typeface="Calibri"/>
              <a:cs typeface="Calibri"/>
              <a:sym typeface="Calibri"/>
            </a:endParaRPr>
          </a:p>
        </p:txBody>
      </p:sp>
      <p:sp>
        <p:nvSpPr>
          <p:cNvPr id="1446" name="Google Shape;1446;p21"/>
          <p:cNvSpPr/>
          <p:nvPr/>
        </p:nvSpPr>
        <p:spPr>
          <a:xfrm>
            <a:off x="3054096" y="3685032"/>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Leads</a:t>
            </a:r>
            <a:endParaRPr b="0" i="0" sz="780" u="none" cap="none" strike="noStrike">
              <a:solidFill>
                <a:schemeClr val="dk1"/>
              </a:solidFill>
              <a:latin typeface="Calibri"/>
              <a:ea typeface="Calibri"/>
              <a:cs typeface="Calibri"/>
              <a:sym typeface="Calibri"/>
            </a:endParaRPr>
          </a:p>
        </p:txBody>
      </p:sp>
      <p:sp>
        <p:nvSpPr>
          <p:cNvPr id="1447" name="Google Shape;1447;p21"/>
          <p:cNvSpPr/>
          <p:nvPr/>
        </p:nvSpPr>
        <p:spPr>
          <a:xfrm>
            <a:off x="4105656" y="36850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1,322</a:t>
            </a:r>
            <a:endParaRPr b="0" i="0" sz="780" u="none" cap="none" strike="noStrike">
              <a:solidFill>
                <a:schemeClr val="dk1"/>
              </a:solidFill>
              <a:latin typeface="Calibri"/>
              <a:ea typeface="Calibri"/>
              <a:cs typeface="Calibri"/>
              <a:sym typeface="Calibri"/>
            </a:endParaRPr>
          </a:p>
        </p:txBody>
      </p:sp>
      <p:sp>
        <p:nvSpPr>
          <p:cNvPr id="1448" name="Google Shape;1448;p21"/>
          <p:cNvSpPr/>
          <p:nvPr/>
        </p:nvSpPr>
        <p:spPr>
          <a:xfrm>
            <a:off x="4974336" y="3685032"/>
            <a:ext cx="6858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2 days</a:t>
            </a:r>
            <a:endParaRPr b="0" i="0" sz="780" u="none" cap="none" strike="noStrike">
              <a:solidFill>
                <a:schemeClr val="dk1"/>
              </a:solidFill>
              <a:latin typeface="Calibri"/>
              <a:ea typeface="Calibri"/>
              <a:cs typeface="Calibri"/>
              <a:sym typeface="Calibri"/>
            </a:endParaRPr>
          </a:p>
        </p:txBody>
      </p:sp>
      <p:sp>
        <p:nvSpPr>
          <p:cNvPr id="1449" name="Google Shape;1449;p21"/>
          <p:cNvSpPr/>
          <p:nvPr/>
        </p:nvSpPr>
        <p:spPr>
          <a:xfrm>
            <a:off x="5751576" y="36850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+4</a:t>
            </a:r>
            <a:endParaRPr b="0" i="0" sz="780" u="none" cap="none" strike="noStrike">
              <a:solidFill>
                <a:schemeClr val="dk1"/>
              </a:solidFill>
              <a:latin typeface="Calibri"/>
              <a:ea typeface="Calibri"/>
              <a:cs typeface="Calibri"/>
              <a:sym typeface="Calibri"/>
            </a:endParaRPr>
          </a:p>
        </p:txBody>
      </p:sp>
      <p:sp>
        <p:nvSpPr>
          <p:cNvPr id="1450" name="Google Shape;1450;p21"/>
          <p:cNvSpPr/>
          <p:nvPr/>
        </p:nvSpPr>
        <p:spPr>
          <a:xfrm>
            <a:off x="6620256" y="3726180"/>
            <a:ext cx="1325880" cy="146304"/>
          </a:xfrm>
          <a:prstGeom prst="roundRect">
            <a:avLst>
              <a:gd fmla="val 37500" name="adj"/>
            </a:avLst>
          </a:prstGeom>
          <a:solidFill>
            <a:srgbClr val="B8443A"/>
          </a:solidFill>
          <a:ln cap="flat" cmpd="sng" w="12700">
            <a:solidFill>
              <a:srgbClr val="B844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1"/>
          <p:cNvSpPr/>
          <p:nvPr/>
        </p:nvSpPr>
        <p:spPr>
          <a:xfrm>
            <a:off x="6620256" y="3726180"/>
            <a:ext cx="13258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Manual, with lead</a:t>
            </a:r>
            <a:endParaRPr b="0" i="0" sz="760" u="none" cap="none" strike="noStrike">
              <a:solidFill>
                <a:schemeClr val="dk1"/>
              </a:solidFill>
              <a:latin typeface="Calibri"/>
              <a:ea typeface="Calibri"/>
              <a:cs typeface="Calibri"/>
              <a:sym typeface="Calibri"/>
            </a:endParaRPr>
          </a:p>
        </p:txBody>
      </p:sp>
      <p:sp>
        <p:nvSpPr>
          <p:cNvPr id="1452" name="Google Shape;1452;p21"/>
          <p:cNvSpPr/>
          <p:nvPr/>
        </p:nvSpPr>
        <p:spPr>
          <a:xfrm>
            <a:off x="704088" y="3913632"/>
            <a:ext cx="7452360" cy="228600"/>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1"/>
          <p:cNvSpPr/>
          <p:nvPr/>
        </p:nvSpPr>
        <p:spPr>
          <a:xfrm>
            <a:off x="768096" y="3913632"/>
            <a:ext cx="2194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Retire unused custom fields</a:t>
            </a:r>
            <a:endParaRPr b="0" i="0" sz="780" u="none" cap="none" strike="noStrike">
              <a:solidFill>
                <a:schemeClr val="dk1"/>
              </a:solidFill>
              <a:latin typeface="Calibri"/>
              <a:ea typeface="Calibri"/>
              <a:cs typeface="Calibri"/>
              <a:sym typeface="Calibri"/>
            </a:endParaRPr>
          </a:p>
        </p:txBody>
      </p:sp>
      <p:sp>
        <p:nvSpPr>
          <p:cNvPr id="1454" name="Google Shape;1454;p21"/>
          <p:cNvSpPr/>
          <p:nvPr/>
        </p:nvSpPr>
        <p:spPr>
          <a:xfrm>
            <a:off x="3054096" y="3913632"/>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6 modules</a:t>
            </a:r>
            <a:endParaRPr b="0" i="0" sz="780" u="none" cap="none" strike="noStrike">
              <a:solidFill>
                <a:schemeClr val="dk1"/>
              </a:solidFill>
              <a:latin typeface="Calibri"/>
              <a:ea typeface="Calibri"/>
              <a:cs typeface="Calibri"/>
              <a:sym typeface="Calibri"/>
            </a:endParaRPr>
          </a:p>
        </p:txBody>
      </p:sp>
      <p:sp>
        <p:nvSpPr>
          <p:cNvPr id="1455" name="Google Shape;1455;p21"/>
          <p:cNvSpPr/>
          <p:nvPr/>
        </p:nvSpPr>
        <p:spPr>
          <a:xfrm>
            <a:off x="4105656" y="39136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118</a:t>
            </a:r>
            <a:endParaRPr b="0" i="0" sz="780" u="none" cap="none" strike="noStrike">
              <a:solidFill>
                <a:schemeClr val="dk1"/>
              </a:solidFill>
              <a:latin typeface="Calibri"/>
              <a:ea typeface="Calibri"/>
              <a:cs typeface="Calibri"/>
              <a:sym typeface="Calibri"/>
            </a:endParaRPr>
          </a:p>
        </p:txBody>
      </p:sp>
      <p:sp>
        <p:nvSpPr>
          <p:cNvPr id="1456" name="Google Shape;1456;p21"/>
          <p:cNvSpPr/>
          <p:nvPr/>
        </p:nvSpPr>
        <p:spPr>
          <a:xfrm>
            <a:off x="4974336" y="3913632"/>
            <a:ext cx="6858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1 day</a:t>
            </a:r>
            <a:endParaRPr b="0" i="0" sz="780" u="none" cap="none" strike="noStrike">
              <a:solidFill>
                <a:schemeClr val="dk1"/>
              </a:solidFill>
              <a:latin typeface="Calibri"/>
              <a:ea typeface="Calibri"/>
              <a:cs typeface="Calibri"/>
              <a:sym typeface="Calibri"/>
            </a:endParaRPr>
          </a:p>
        </p:txBody>
      </p:sp>
      <p:sp>
        <p:nvSpPr>
          <p:cNvPr id="1457" name="Google Shape;1457;p21"/>
          <p:cNvSpPr/>
          <p:nvPr/>
        </p:nvSpPr>
        <p:spPr>
          <a:xfrm>
            <a:off x="5751576" y="39136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+3</a:t>
            </a:r>
            <a:endParaRPr b="0" i="0" sz="780" u="none" cap="none" strike="noStrike">
              <a:solidFill>
                <a:schemeClr val="dk1"/>
              </a:solidFill>
              <a:latin typeface="Calibri"/>
              <a:ea typeface="Calibri"/>
              <a:cs typeface="Calibri"/>
              <a:sym typeface="Calibri"/>
            </a:endParaRPr>
          </a:p>
        </p:txBody>
      </p:sp>
      <p:sp>
        <p:nvSpPr>
          <p:cNvPr id="1458" name="Google Shape;1458;p21"/>
          <p:cNvSpPr/>
          <p:nvPr/>
        </p:nvSpPr>
        <p:spPr>
          <a:xfrm>
            <a:off x="6620256" y="3954780"/>
            <a:ext cx="1371600" cy="146304"/>
          </a:xfrm>
          <a:prstGeom prst="roundRect">
            <a:avLst>
              <a:gd fmla="val 37500" name="adj"/>
            </a:avLst>
          </a:prstGeom>
          <a:solidFill>
            <a:srgbClr val="C77700"/>
          </a:solidFill>
          <a:ln cap="flat" cmpd="sng" w="12700">
            <a:solidFill>
              <a:srgbClr val="C77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1"/>
          <p:cNvSpPr/>
          <p:nvPr/>
        </p:nvSpPr>
        <p:spPr>
          <a:xfrm>
            <a:off x="6620256" y="3954780"/>
            <a:ext cx="137160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Needs admin window</a:t>
            </a:r>
            <a:endParaRPr b="0" i="0" sz="760" u="none" cap="none" strike="noStrike">
              <a:solidFill>
                <a:schemeClr val="dk1"/>
              </a:solidFill>
              <a:latin typeface="Calibri"/>
              <a:ea typeface="Calibri"/>
              <a:cs typeface="Calibri"/>
              <a:sym typeface="Calibri"/>
            </a:endParaRPr>
          </a:p>
        </p:txBody>
      </p:sp>
      <p:sp>
        <p:nvSpPr>
          <p:cNvPr id="1460" name="Google Shape;1460;p21"/>
          <p:cNvSpPr/>
          <p:nvPr/>
        </p:nvSpPr>
        <p:spPr>
          <a:xfrm>
            <a:off x="704088" y="4142232"/>
            <a:ext cx="7452360" cy="228600"/>
          </a:xfrm>
          <a:prstGeom prst="rect">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1"/>
          <p:cNvSpPr/>
          <p:nvPr/>
        </p:nvSpPr>
        <p:spPr>
          <a:xfrm>
            <a:off x="768096" y="4142232"/>
            <a:ext cx="219456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1" i="0" lang="en-US" sz="780" u="none" cap="none" strike="noStrike">
                <a:solidFill>
                  <a:srgbClr val="1B1F24"/>
                </a:solidFill>
                <a:latin typeface="Calibri"/>
                <a:ea typeface="Calibri"/>
                <a:cs typeface="Calibri"/>
                <a:sym typeface="Calibri"/>
              </a:rPr>
              <a:t>Reassign inactive user records</a:t>
            </a:r>
            <a:endParaRPr b="0" i="0" sz="780" u="none" cap="none" strike="noStrike">
              <a:solidFill>
                <a:schemeClr val="dk1"/>
              </a:solidFill>
              <a:latin typeface="Calibri"/>
              <a:ea typeface="Calibri"/>
              <a:cs typeface="Calibri"/>
              <a:sym typeface="Calibri"/>
            </a:endParaRPr>
          </a:p>
        </p:txBody>
      </p:sp>
      <p:sp>
        <p:nvSpPr>
          <p:cNvPr id="1462" name="Google Shape;1462;p21"/>
          <p:cNvSpPr/>
          <p:nvPr/>
        </p:nvSpPr>
        <p:spPr>
          <a:xfrm>
            <a:off x="3054096" y="4142232"/>
            <a:ext cx="9601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All modules</a:t>
            </a:r>
            <a:endParaRPr b="0" i="0" sz="780" u="none" cap="none" strike="noStrike">
              <a:solidFill>
                <a:schemeClr val="dk1"/>
              </a:solidFill>
              <a:latin typeface="Calibri"/>
              <a:ea typeface="Calibri"/>
              <a:cs typeface="Calibri"/>
              <a:sym typeface="Calibri"/>
            </a:endParaRPr>
          </a:p>
        </p:txBody>
      </p:sp>
      <p:sp>
        <p:nvSpPr>
          <p:cNvPr id="1463" name="Google Shape;1463;p21"/>
          <p:cNvSpPr/>
          <p:nvPr/>
        </p:nvSpPr>
        <p:spPr>
          <a:xfrm>
            <a:off x="4105656" y="41422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441</a:t>
            </a:r>
            <a:endParaRPr b="0" i="0" sz="780" u="none" cap="none" strike="noStrike">
              <a:solidFill>
                <a:schemeClr val="dk1"/>
              </a:solidFill>
              <a:latin typeface="Calibri"/>
              <a:ea typeface="Calibri"/>
              <a:cs typeface="Calibri"/>
              <a:sym typeface="Calibri"/>
            </a:endParaRPr>
          </a:p>
        </p:txBody>
      </p:sp>
      <p:sp>
        <p:nvSpPr>
          <p:cNvPr id="1464" name="Google Shape;1464;p21"/>
          <p:cNvSpPr/>
          <p:nvPr/>
        </p:nvSpPr>
        <p:spPr>
          <a:xfrm>
            <a:off x="4974336" y="4142232"/>
            <a:ext cx="6858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0.5 day</a:t>
            </a:r>
            <a:endParaRPr b="0" i="0" sz="780" u="none" cap="none" strike="noStrike">
              <a:solidFill>
                <a:schemeClr val="dk1"/>
              </a:solidFill>
              <a:latin typeface="Calibri"/>
              <a:ea typeface="Calibri"/>
              <a:cs typeface="Calibri"/>
              <a:sym typeface="Calibri"/>
            </a:endParaRPr>
          </a:p>
        </p:txBody>
      </p:sp>
      <p:sp>
        <p:nvSpPr>
          <p:cNvPr id="1465" name="Google Shape;1465;p21"/>
          <p:cNvSpPr/>
          <p:nvPr/>
        </p:nvSpPr>
        <p:spPr>
          <a:xfrm>
            <a:off x="5751576" y="4142232"/>
            <a:ext cx="77724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780"/>
              <a:buFont typeface="Calibri"/>
              <a:buNone/>
            </a:pPr>
            <a:r>
              <a:rPr b="0" i="0" lang="en-US" sz="780" u="none" cap="none" strike="noStrike">
                <a:solidFill>
                  <a:srgbClr val="4B535C"/>
                </a:solidFill>
                <a:latin typeface="Calibri"/>
                <a:ea typeface="Calibri"/>
                <a:cs typeface="Calibri"/>
                <a:sym typeface="Calibri"/>
              </a:rPr>
              <a:t>+2</a:t>
            </a:r>
            <a:endParaRPr b="0" i="0" sz="780" u="none" cap="none" strike="noStrike">
              <a:solidFill>
                <a:schemeClr val="dk1"/>
              </a:solidFill>
              <a:latin typeface="Calibri"/>
              <a:ea typeface="Calibri"/>
              <a:cs typeface="Calibri"/>
              <a:sym typeface="Calibri"/>
            </a:endParaRPr>
          </a:p>
        </p:txBody>
      </p:sp>
      <p:sp>
        <p:nvSpPr>
          <p:cNvPr id="1466" name="Google Shape;1466;p21"/>
          <p:cNvSpPr/>
          <p:nvPr/>
        </p:nvSpPr>
        <p:spPr>
          <a:xfrm>
            <a:off x="6620256" y="4183380"/>
            <a:ext cx="1325880" cy="146304"/>
          </a:xfrm>
          <a:prstGeom prst="roundRect">
            <a:avLst>
              <a:gd fmla="val 375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1"/>
          <p:cNvSpPr/>
          <p:nvPr/>
        </p:nvSpPr>
        <p:spPr>
          <a:xfrm>
            <a:off x="6620256" y="4183380"/>
            <a:ext cx="1325880" cy="1463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Run with preview</a:t>
            </a:r>
            <a:endParaRPr b="0" i="0" sz="760" u="none" cap="none" strike="noStrike">
              <a:solidFill>
                <a:schemeClr val="dk1"/>
              </a:solidFill>
              <a:latin typeface="Calibri"/>
              <a:ea typeface="Calibri"/>
              <a:cs typeface="Calibri"/>
              <a:sym typeface="Calibri"/>
            </a:endParaRPr>
          </a:p>
        </p:txBody>
      </p:sp>
      <p:sp>
        <p:nvSpPr>
          <p:cNvPr id="1468" name="Google Shape;1468;p21"/>
          <p:cNvSpPr/>
          <p:nvPr/>
        </p:nvSpPr>
        <p:spPr>
          <a:xfrm>
            <a:off x="704088" y="4453128"/>
            <a:ext cx="7452360" cy="786384"/>
          </a:xfrm>
          <a:prstGeom prst="rect">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1"/>
          <p:cNvSpPr/>
          <p:nvPr/>
        </p:nvSpPr>
        <p:spPr>
          <a:xfrm>
            <a:off x="832104" y="4526280"/>
            <a:ext cx="365760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60"/>
              <a:buFont typeface="Calibri"/>
              <a:buNone/>
            </a:pPr>
            <a:r>
              <a:rPr b="1" i="0" lang="en-US" sz="760" u="none" cap="none" strike="noStrike">
                <a:solidFill>
                  <a:srgbClr val="6B7280"/>
                </a:solidFill>
                <a:latin typeface="Calibri"/>
                <a:ea typeface="Calibri"/>
                <a:cs typeface="Calibri"/>
                <a:sym typeface="Calibri"/>
              </a:rPr>
              <a:t>PROJECTED SCORE AFTER SELECTED ACTIONS</a:t>
            </a:r>
            <a:endParaRPr b="0" i="0" sz="760" u="none" cap="none" strike="noStrike">
              <a:solidFill>
                <a:schemeClr val="dk1"/>
              </a:solidFill>
              <a:latin typeface="Calibri"/>
              <a:ea typeface="Calibri"/>
              <a:cs typeface="Calibri"/>
              <a:sym typeface="Calibri"/>
            </a:endParaRPr>
          </a:p>
        </p:txBody>
      </p:sp>
      <p:sp>
        <p:nvSpPr>
          <p:cNvPr id="1470" name="Google Shape;1470;p21"/>
          <p:cNvSpPr/>
          <p:nvPr/>
        </p:nvSpPr>
        <p:spPr>
          <a:xfrm>
            <a:off x="832104" y="4709160"/>
            <a:ext cx="10972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2000"/>
              <a:buFont typeface="Cambria"/>
              <a:buNone/>
            </a:pPr>
            <a:r>
              <a:rPr b="1" i="0" lang="en-US" sz="2000" u="none" cap="none" strike="noStrike">
                <a:solidFill>
                  <a:srgbClr val="6B7280"/>
                </a:solidFill>
                <a:latin typeface="Cambria"/>
                <a:ea typeface="Cambria"/>
                <a:cs typeface="Cambria"/>
                <a:sym typeface="Cambria"/>
              </a:rPr>
              <a:t>53</a:t>
            </a:r>
            <a:endParaRPr b="0" i="0" sz="2000" u="none" cap="none" strike="noStrike">
              <a:solidFill>
                <a:schemeClr val="dk1"/>
              </a:solidFill>
              <a:latin typeface="Calibri"/>
              <a:ea typeface="Calibri"/>
              <a:cs typeface="Calibri"/>
              <a:sym typeface="Calibri"/>
            </a:endParaRPr>
          </a:p>
        </p:txBody>
      </p:sp>
      <p:sp>
        <p:nvSpPr>
          <p:cNvPr id="1471" name="Google Shape;1471;p21"/>
          <p:cNvSpPr/>
          <p:nvPr/>
        </p:nvSpPr>
        <p:spPr>
          <a:xfrm rot="5400000">
            <a:off x="1417320" y="4818888"/>
            <a:ext cx="164592" cy="182880"/>
          </a:xfrm>
          <a:prstGeom prst="triangle">
            <a:avLst>
              <a:gd fmla="val 5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1"/>
          <p:cNvSpPr/>
          <p:nvPr/>
        </p:nvSpPr>
        <p:spPr>
          <a:xfrm>
            <a:off x="1673352" y="4709160"/>
            <a:ext cx="10972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8B57"/>
              </a:buClr>
              <a:buSzPts val="2000"/>
              <a:buFont typeface="Cambria"/>
              <a:buNone/>
            </a:pPr>
            <a:r>
              <a:rPr b="1" i="0" lang="en-US" sz="2000" u="none" cap="none" strike="noStrike">
                <a:solidFill>
                  <a:srgbClr val="2E8B57"/>
                </a:solidFill>
                <a:latin typeface="Cambria"/>
                <a:ea typeface="Cambria"/>
                <a:cs typeface="Cambria"/>
                <a:sym typeface="Cambria"/>
              </a:rPr>
              <a:t>82</a:t>
            </a:r>
            <a:endParaRPr b="0" i="0" sz="2000" u="none" cap="none" strike="noStrike">
              <a:solidFill>
                <a:schemeClr val="dk1"/>
              </a:solidFill>
              <a:latin typeface="Calibri"/>
              <a:ea typeface="Calibri"/>
              <a:cs typeface="Calibri"/>
              <a:sym typeface="Calibri"/>
            </a:endParaRPr>
          </a:p>
        </p:txBody>
      </p:sp>
      <p:sp>
        <p:nvSpPr>
          <p:cNvPr id="1473" name="Google Shape;1473;p21"/>
          <p:cNvSpPr/>
          <p:nvPr/>
        </p:nvSpPr>
        <p:spPr>
          <a:xfrm>
            <a:off x="2496312" y="4727448"/>
            <a:ext cx="54864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820"/>
              <a:buFont typeface="Calibri"/>
              <a:buNone/>
            </a:pPr>
            <a:r>
              <a:rPr b="0" i="0" lang="en-US" sz="820" u="none" cap="none" strike="noStrike">
                <a:solidFill>
                  <a:srgbClr val="4B535C"/>
                </a:solidFill>
                <a:latin typeface="Calibri"/>
                <a:ea typeface="Calibri"/>
                <a:cs typeface="Calibri"/>
                <a:sym typeface="Calibri"/>
              </a:rPr>
              <a:t>8 actions selected  ·  10.5 developer days  ·  every mechanical action previews the exact records before it writes,</a:t>
            </a:r>
            <a:endParaRPr b="0" i="0" sz="820" u="none" cap="none" strike="noStrike">
              <a:solidFill>
                <a:schemeClr val="dk1"/>
              </a:solidFill>
              <a:latin typeface="Calibri"/>
              <a:ea typeface="Calibri"/>
              <a:cs typeface="Calibri"/>
              <a:sym typeface="Calibri"/>
            </a:endParaRPr>
          </a:p>
        </p:txBody>
      </p:sp>
      <p:sp>
        <p:nvSpPr>
          <p:cNvPr id="1474" name="Google Shape;1474;p21"/>
          <p:cNvSpPr/>
          <p:nvPr/>
        </p:nvSpPr>
        <p:spPr>
          <a:xfrm>
            <a:off x="2496312" y="4910328"/>
            <a:ext cx="54864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820"/>
              <a:buFont typeface="Calibri"/>
              <a:buNone/>
            </a:pPr>
            <a:r>
              <a:rPr b="0" i="0" lang="en-US" sz="820" u="none" cap="none" strike="noStrike">
                <a:solidFill>
                  <a:srgbClr val="4B535C"/>
                </a:solidFill>
                <a:latin typeface="Calibri"/>
                <a:ea typeface="Calibri"/>
                <a:cs typeface="Calibri"/>
                <a:sym typeface="Calibri"/>
              </a:rPr>
              <a:t>and every write is snapshotted so it can be reversed in one click for 90 days.</a:t>
            </a:r>
            <a:endParaRPr b="0" i="0" sz="820" u="none" cap="none" strike="noStrike">
              <a:solidFill>
                <a:schemeClr val="dk1"/>
              </a:solidFill>
              <a:latin typeface="Calibri"/>
              <a:ea typeface="Calibri"/>
              <a:cs typeface="Calibri"/>
              <a:sym typeface="Calibri"/>
            </a:endParaRPr>
          </a:p>
        </p:txBody>
      </p:sp>
      <p:sp>
        <p:nvSpPr>
          <p:cNvPr id="1475" name="Google Shape;1475;p21"/>
          <p:cNvSpPr/>
          <p:nvPr/>
        </p:nvSpPr>
        <p:spPr>
          <a:xfrm>
            <a:off x="8567928" y="1655064"/>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1"/>
          <p:cNvSpPr/>
          <p:nvPr/>
        </p:nvSpPr>
        <p:spPr>
          <a:xfrm>
            <a:off x="8567928" y="1655064"/>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1</a:t>
            </a:r>
            <a:endParaRPr b="0" i="0" sz="800" u="none" cap="none" strike="noStrike">
              <a:solidFill>
                <a:schemeClr val="dk1"/>
              </a:solidFill>
              <a:latin typeface="Calibri"/>
              <a:ea typeface="Calibri"/>
              <a:cs typeface="Calibri"/>
              <a:sym typeface="Calibri"/>
            </a:endParaRPr>
          </a:p>
        </p:txBody>
      </p:sp>
      <p:sp>
        <p:nvSpPr>
          <p:cNvPr id="1477" name="Google Shape;1477;p21"/>
          <p:cNvSpPr/>
          <p:nvPr/>
        </p:nvSpPr>
        <p:spPr>
          <a:xfrm>
            <a:off x="8842248" y="1627632"/>
            <a:ext cx="27825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Three waves, deliberately</a:t>
            </a:r>
            <a:endParaRPr b="0" i="0" sz="1150" u="none" cap="none" strike="noStrike">
              <a:solidFill>
                <a:schemeClr val="dk1"/>
              </a:solidFill>
              <a:latin typeface="Calibri"/>
              <a:ea typeface="Calibri"/>
              <a:cs typeface="Calibri"/>
              <a:sym typeface="Calibri"/>
            </a:endParaRPr>
          </a:p>
        </p:txBody>
      </p:sp>
      <p:sp>
        <p:nvSpPr>
          <p:cNvPr id="1478" name="Google Shape;1478;p21"/>
          <p:cNvSpPr/>
          <p:nvPr/>
        </p:nvSpPr>
        <p:spPr>
          <a:xfrm>
            <a:off x="8842248" y="1865376"/>
            <a:ext cx="2782519"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Mechanical runs with a preview. Assisted needs a human decision. Process needs the client to change behaviour. Mixing them is how remediation projects stall.</a:t>
            </a:r>
            <a:endParaRPr b="0" i="0" sz="1000" u="none" cap="none" strike="noStrike">
              <a:solidFill>
                <a:schemeClr val="dk1"/>
              </a:solidFill>
              <a:latin typeface="Calibri"/>
              <a:ea typeface="Calibri"/>
              <a:cs typeface="Calibri"/>
              <a:sym typeface="Calibri"/>
            </a:endParaRPr>
          </a:p>
        </p:txBody>
      </p:sp>
      <p:sp>
        <p:nvSpPr>
          <p:cNvPr id="1479" name="Google Shape;1479;p21"/>
          <p:cNvSpPr/>
          <p:nvPr/>
        </p:nvSpPr>
        <p:spPr>
          <a:xfrm>
            <a:off x="8567928" y="2825496"/>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1"/>
          <p:cNvSpPr/>
          <p:nvPr/>
        </p:nvSpPr>
        <p:spPr>
          <a:xfrm>
            <a:off x="8567928" y="2825496"/>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
        <p:nvSpPr>
          <p:cNvPr id="1481" name="Google Shape;1481;p21"/>
          <p:cNvSpPr/>
          <p:nvPr/>
        </p:nvSpPr>
        <p:spPr>
          <a:xfrm>
            <a:off x="8842248" y="2798064"/>
            <a:ext cx="27825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Gain shown before the run</a:t>
            </a:r>
            <a:endParaRPr b="0" i="0" sz="1150" u="none" cap="none" strike="noStrike">
              <a:solidFill>
                <a:schemeClr val="dk1"/>
              </a:solidFill>
              <a:latin typeface="Calibri"/>
              <a:ea typeface="Calibri"/>
              <a:cs typeface="Calibri"/>
              <a:sym typeface="Calibri"/>
            </a:endParaRPr>
          </a:p>
        </p:txBody>
      </p:sp>
      <p:sp>
        <p:nvSpPr>
          <p:cNvPr id="1482" name="Google Shape;1482;p21"/>
          <p:cNvSpPr/>
          <p:nvPr/>
        </p:nvSpPr>
        <p:spPr>
          <a:xfrm>
            <a:off x="8842248" y="3035808"/>
            <a:ext cx="2782519"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Every action carries its projected score gain, so the client picks the scope themselves and the haggle disappears.</a:t>
            </a:r>
            <a:endParaRPr b="0" i="0" sz="1000" u="none" cap="none" strike="noStrike">
              <a:solidFill>
                <a:schemeClr val="dk1"/>
              </a:solidFill>
              <a:latin typeface="Calibri"/>
              <a:ea typeface="Calibri"/>
              <a:cs typeface="Calibri"/>
              <a:sym typeface="Calibri"/>
            </a:endParaRPr>
          </a:p>
        </p:txBody>
      </p:sp>
      <p:sp>
        <p:nvSpPr>
          <p:cNvPr id="1483" name="Google Shape;1483;p21"/>
          <p:cNvSpPr/>
          <p:nvPr/>
        </p:nvSpPr>
        <p:spPr>
          <a:xfrm>
            <a:off x="8567928" y="3922776"/>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1"/>
          <p:cNvSpPr/>
          <p:nvPr/>
        </p:nvSpPr>
        <p:spPr>
          <a:xfrm>
            <a:off x="8567928" y="3922776"/>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
        <p:nvSpPr>
          <p:cNvPr id="1485" name="Google Shape;1485;p21"/>
          <p:cNvSpPr/>
          <p:nvPr/>
        </p:nvSpPr>
        <p:spPr>
          <a:xfrm>
            <a:off x="8842248" y="3895344"/>
            <a:ext cx="27825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Preview then write</a:t>
            </a:r>
            <a:endParaRPr b="0" i="0" sz="1150" u="none" cap="none" strike="noStrike">
              <a:solidFill>
                <a:schemeClr val="dk1"/>
              </a:solidFill>
              <a:latin typeface="Calibri"/>
              <a:ea typeface="Calibri"/>
              <a:cs typeface="Calibri"/>
              <a:sym typeface="Calibri"/>
            </a:endParaRPr>
          </a:p>
        </p:txBody>
      </p:sp>
      <p:sp>
        <p:nvSpPr>
          <p:cNvPr id="1486" name="Google Shape;1486;p21"/>
          <p:cNvSpPr/>
          <p:nvPr/>
        </p:nvSpPr>
        <p:spPr>
          <a:xfrm>
            <a:off x="8842248" y="4133088"/>
            <a:ext cx="2782519"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No mechanical action writes without showing the exact records and the exact before and after values first.</a:t>
            </a:r>
            <a:endParaRPr b="0" i="0" sz="1000" u="none" cap="none" strike="noStrike">
              <a:solidFill>
                <a:schemeClr val="dk1"/>
              </a:solidFill>
              <a:latin typeface="Calibri"/>
              <a:ea typeface="Calibri"/>
              <a:cs typeface="Calibri"/>
              <a:sym typeface="Calibri"/>
            </a:endParaRPr>
          </a:p>
        </p:txBody>
      </p:sp>
      <p:sp>
        <p:nvSpPr>
          <p:cNvPr id="1487" name="Google Shape;1487;p21"/>
          <p:cNvSpPr/>
          <p:nvPr/>
        </p:nvSpPr>
        <p:spPr>
          <a:xfrm>
            <a:off x="8567928" y="4946904"/>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1"/>
          <p:cNvSpPr/>
          <p:nvPr/>
        </p:nvSpPr>
        <p:spPr>
          <a:xfrm>
            <a:off x="8567928" y="4946904"/>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
        <p:nvSpPr>
          <p:cNvPr id="1489" name="Google Shape;1489;p21"/>
          <p:cNvSpPr/>
          <p:nvPr/>
        </p:nvSpPr>
        <p:spPr>
          <a:xfrm>
            <a:off x="8842248" y="4919472"/>
            <a:ext cx="278251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53 to 82 is the sale</a:t>
            </a:r>
            <a:endParaRPr b="0" i="0" sz="1150" u="none" cap="none" strike="noStrike">
              <a:solidFill>
                <a:schemeClr val="dk1"/>
              </a:solidFill>
              <a:latin typeface="Calibri"/>
              <a:ea typeface="Calibri"/>
              <a:cs typeface="Calibri"/>
              <a:sym typeface="Calibri"/>
            </a:endParaRPr>
          </a:p>
        </p:txBody>
      </p:sp>
      <p:sp>
        <p:nvSpPr>
          <p:cNvPr id="1490" name="Google Shape;1490;p21"/>
          <p:cNvSpPr/>
          <p:nvPr/>
        </p:nvSpPr>
        <p:spPr>
          <a:xfrm>
            <a:off x="8842248" y="5157216"/>
            <a:ext cx="2782519"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Showing the destination alongside the effort sells the remediation better than any argument we could construct.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5" name="Shape 1495"/>
        <p:cNvGrpSpPr/>
        <p:nvPr/>
      </p:nvGrpSpPr>
      <p:grpSpPr>
        <a:xfrm>
          <a:off x="0" y="0"/>
          <a:ext cx="0" cy="0"/>
          <a:chOff x="0" y="0"/>
          <a:chExt cx="0" cy="0"/>
        </a:xfrm>
      </p:grpSpPr>
      <p:sp>
        <p:nvSpPr>
          <p:cNvPr id="1496" name="Google Shape;1496;p22"/>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Interface 8: schedules, alerts and the monthly report</a:t>
            </a:r>
            <a:endParaRPr b="0" i="0" sz="3000" u="none" cap="none" strike="noStrike">
              <a:solidFill>
                <a:schemeClr val="dk1"/>
              </a:solidFill>
              <a:latin typeface="Calibri"/>
              <a:ea typeface="Calibri"/>
              <a:cs typeface="Calibri"/>
              <a:sym typeface="Calibri"/>
            </a:endParaRPr>
          </a:p>
        </p:txBody>
      </p:sp>
      <p:sp>
        <p:nvSpPr>
          <p:cNvPr id="1497" name="Google Shape;1497;p22"/>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This screen is the retainer. Everything before it is the project that gets us here.</a:t>
            </a:r>
            <a:endParaRPr b="0" i="0" sz="1350" u="none" cap="none" strike="noStrike">
              <a:solidFill>
                <a:schemeClr val="dk1"/>
              </a:solidFill>
              <a:latin typeface="Calibri"/>
              <a:ea typeface="Calibri"/>
              <a:cs typeface="Calibri"/>
              <a:sym typeface="Calibri"/>
            </a:endParaRPr>
          </a:p>
        </p:txBody>
      </p:sp>
      <p:sp>
        <p:nvSpPr>
          <p:cNvPr id="1498" name="Google Shape;1498;p22"/>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499" name="Google Shape;1499;p22"/>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22</a:t>
            </a:r>
            <a:endParaRPr b="0" i="0" sz="950" u="none" cap="none" strike="noStrike">
              <a:solidFill>
                <a:schemeClr val="dk1"/>
              </a:solidFill>
              <a:latin typeface="Calibri"/>
              <a:ea typeface="Calibri"/>
              <a:cs typeface="Calibri"/>
              <a:sym typeface="Calibri"/>
            </a:endParaRPr>
          </a:p>
        </p:txBody>
      </p:sp>
      <p:sp>
        <p:nvSpPr>
          <p:cNvPr id="1500" name="Google Shape;1500;p22"/>
          <p:cNvSpPr/>
          <p:nvPr/>
        </p:nvSpPr>
        <p:spPr>
          <a:xfrm>
            <a:off x="566928" y="1481328"/>
            <a:ext cx="6766560" cy="4114800"/>
          </a:xfrm>
          <a:prstGeom prst="roundRect">
            <a:avLst>
              <a:gd fmla="val 1111" name="adj"/>
            </a:avLst>
          </a:prstGeom>
          <a:solidFill>
            <a:srgbClr val="FFFFFF"/>
          </a:solidFill>
          <a:ln cap="flat" cmpd="sng" w="12700">
            <a:solidFill>
              <a:srgbClr val="9AA3AD"/>
            </a:solidFill>
            <a:prstDash val="solid"/>
            <a:round/>
            <a:headEnd len="sm" w="sm" type="none"/>
            <a:tailEnd len="sm" w="sm" type="none"/>
          </a:ln>
          <a:effectLst>
            <a:outerShdw blurRad="1270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2"/>
          <p:cNvSpPr/>
          <p:nvPr/>
        </p:nvSpPr>
        <p:spPr>
          <a:xfrm>
            <a:off x="576072" y="1490472"/>
            <a:ext cx="6748272" cy="384048"/>
          </a:xfrm>
          <a:prstGeom prst="rect">
            <a:avLst/>
          </a:prstGeom>
          <a:solidFill>
            <a:srgbClr val="062A30"/>
          </a:solidFill>
          <a:ln cap="flat" cmpd="sng" w="12700">
            <a:solidFill>
              <a:srgbClr val="062A3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2"/>
          <p:cNvSpPr/>
          <p:nvPr/>
        </p:nvSpPr>
        <p:spPr>
          <a:xfrm>
            <a:off x="694944" y="1623060"/>
            <a:ext cx="100584" cy="100584"/>
          </a:xfrm>
          <a:prstGeom prst="ellipse">
            <a:avLst/>
          </a:prstGeom>
          <a:solidFill>
            <a:srgbClr val="E06C5A"/>
          </a:solidFill>
          <a:ln cap="flat" cmpd="sng" w="12700">
            <a:solidFill>
              <a:srgbClr val="E06C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22"/>
          <p:cNvSpPr/>
          <p:nvPr/>
        </p:nvSpPr>
        <p:spPr>
          <a:xfrm>
            <a:off x="850392" y="1623060"/>
            <a:ext cx="100584" cy="100584"/>
          </a:xfrm>
          <a:prstGeom prst="ellipse">
            <a:avLst/>
          </a:prstGeom>
          <a:solidFill>
            <a:srgbClr val="E0B84A"/>
          </a:solidFill>
          <a:ln cap="flat" cmpd="sng" w="12700">
            <a:solidFill>
              <a:srgbClr val="E0B8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22"/>
          <p:cNvSpPr/>
          <p:nvPr/>
        </p:nvSpPr>
        <p:spPr>
          <a:xfrm>
            <a:off x="1005840" y="1623060"/>
            <a:ext cx="100584" cy="100584"/>
          </a:xfrm>
          <a:prstGeom prst="ellipse">
            <a:avLst/>
          </a:prstGeom>
          <a:solidFill>
            <a:srgbClr val="5AB77A"/>
          </a:solidFill>
          <a:ln cap="flat" cmpd="sng" w="12700">
            <a:solidFill>
              <a:srgbClr val="5AB7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22"/>
          <p:cNvSpPr/>
          <p:nvPr/>
        </p:nvSpPr>
        <p:spPr>
          <a:xfrm>
            <a:off x="1225296" y="1508760"/>
            <a:ext cx="3108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FI Data Health Scanner  ·  Schedules</a:t>
            </a:r>
            <a:endParaRPr b="0" i="0" sz="1050" u="none" cap="none" strike="noStrike">
              <a:solidFill>
                <a:schemeClr val="dk1"/>
              </a:solidFill>
              <a:latin typeface="Calibri"/>
              <a:ea typeface="Calibri"/>
              <a:cs typeface="Calibri"/>
              <a:sym typeface="Calibri"/>
            </a:endParaRPr>
          </a:p>
        </p:txBody>
      </p:sp>
      <p:sp>
        <p:nvSpPr>
          <p:cNvPr id="1506" name="Google Shape;1506;p22"/>
          <p:cNvSpPr/>
          <p:nvPr/>
        </p:nvSpPr>
        <p:spPr>
          <a:xfrm>
            <a:off x="6843370" y="1563624"/>
            <a:ext cx="343814"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22"/>
          <p:cNvSpPr/>
          <p:nvPr/>
        </p:nvSpPr>
        <p:spPr>
          <a:xfrm>
            <a:off x="6843370" y="1563624"/>
            <a:ext cx="343814"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Fix</a:t>
            </a:r>
            <a:endParaRPr b="0" i="0" sz="850" u="none" cap="none" strike="noStrike">
              <a:solidFill>
                <a:schemeClr val="dk1"/>
              </a:solidFill>
              <a:latin typeface="Calibri"/>
              <a:ea typeface="Calibri"/>
              <a:cs typeface="Calibri"/>
              <a:sym typeface="Calibri"/>
            </a:endParaRPr>
          </a:p>
        </p:txBody>
      </p:sp>
      <p:sp>
        <p:nvSpPr>
          <p:cNvPr id="1508" name="Google Shape;1508;p22"/>
          <p:cNvSpPr/>
          <p:nvPr/>
        </p:nvSpPr>
        <p:spPr>
          <a:xfrm>
            <a:off x="6163056" y="1563624"/>
            <a:ext cx="607162"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22"/>
          <p:cNvSpPr/>
          <p:nvPr/>
        </p:nvSpPr>
        <p:spPr>
          <a:xfrm>
            <a:off x="6163056" y="1563624"/>
            <a:ext cx="60716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Records</a:t>
            </a:r>
            <a:endParaRPr b="0" i="0" sz="850" u="none" cap="none" strike="noStrike">
              <a:solidFill>
                <a:schemeClr val="dk1"/>
              </a:solidFill>
              <a:latin typeface="Calibri"/>
              <a:ea typeface="Calibri"/>
              <a:cs typeface="Calibri"/>
              <a:sym typeface="Calibri"/>
            </a:endParaRPr>
          </a:p>
        </p:txBody>
      </p:sp>
      <p:sp>
        <p:nvSpPr>
          <p:cNvPr id="1510" name="Google Shape;1510;p22"/>
          <p:cNvSpPr/>
          <p:nvPr/>
        </p:nvSpPr>
        <p:spPr>
          <a:xfrm>
            <a:off x="5614416" y="1563624"/>
            <a:ext cx="47548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22"/>
          <p:cNvSpPr/>
          <p:nvPr/>
        </p:nvSpPr>
        <p:spPr>
          <a:xfrm>
            <a:off x="5614416" y="1563624"/>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Trend</a:t>
            </a:r>
            <a:endParaRPr b="0" i="0" sz="850" u="none" cap="none" strike="noStrike">
              <a:solidFill>
                <a:schemeClr val="dk1"/>
              </a:solidFill>
              <a:latin typeface="Calibri"/>
              <a:ea typeface="Calibri"/>
              <a:cs typeface="Calibri"/>
              <a:sym typeface="Calibri"/>
            </a:endParaRPr>
          </a:p>
        </p:txBody>
      </p:sp>
      <p:sp>
        <p:nvSpPr>
          <p:cNvPr id="1512" name="Google Shape;1512;p22"/>
          <p:cNvSpPr/>
          <p:nvPr/>
        </p:nvSpPr>
        <p:spPr>
          <a:xfrm>
            <a:off x="4934102" y="1563624"/>
            <a:ext cx="607162"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2"/>
          <p:cNvSpPr/>
          <p:nvPr/>
        </p:nvSpPr>
        <p:spPr>
          <a:xfrm>
            <a:off x="4934102" y="1563624"/>
            <a:ext cx="60716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Modules</a:t>
            </a:r>
            <a:endParaRPr b="0" i="0" sz="850" u="none" cap="none" strike="noStrike">
              <a:solidFill>
                <a:schemeClr val="dk1"/>
              </a:solidFill>
              <a:latin typeface="Calibri"/>
              <a:ea typeface="Calibri"/>
              <a:cs typeface="Calibri"/>
              <a:sym typeface="Calibri"/>
            </a:endParaRPr>
          </a:p>
        </p:txBody>
      </p:sp>
      <p:sp>
        <p:nvSpPr>
          <p:cNvPr id="1514" name="Google Shape;1514;p22"/>
          <p:cNvSpPr/>
          <p:nvPr/>
        </p:nvSpPr>
        <p:spPr>
          <a:xfrm>
            <a:off x="4385462" y="1563624"/>
            <a:ext cx="475488" cy="228600"/>
          </a:xfrm>
          <a:prstGeom prst="roundRect">
            <a:avLst>
              <a:gd fmla="val 20000" name="adj"/>
            </a:avLst>
          </a:prstGeom>
          <a:solidFill>
            <a:srgbClr val="0E3C44"/>
          </a:solidFill>
          <a:ln cap="flat" cmpd="sng" w="12700">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2"/>
          <p:cNvSpPr/>
          <p:nvPr/>
        </p:nvSpPr>
        <p:spPr>
          <a:xfrm>
            <a:off x="4385462" y="1563624"/>
            <a:ext cx="47548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Users</a:t>
            </a:r>
            <a:endParaRPr b="0" i="0" sz="850" u="none" cap="none" strike="noStrike">
              <a:solidFill>
                <a:schemeClr val="dk1"/>
              </a:solidFill>
              <a:latin typeface="Calibri"/>
              <a:ea typeface="Calibri"/>
              <a:cs typeface="Calibri"/>
              <a:sym typeface="Calibri"/>
            </a:endParaRPr>
          </a:p>
        </p:txBody>
      </p:sp>
      <p:sp>
        <p:nvSpPr>
          <p:cNvPr id="1516" name="Google Shape;1516;p22"/>
          <p:cNvSpPr/>
          <p:nvPr/>
        </p:nvSpPr>
        <p:spPr>
          <a:xfrm>
            <a:off x="3639312" y="1563624"/>
            <a:ext cx="672998" cy="228600"/>
          </a:xfrm>
          <a:prstGeom prst="roundRect">
            <a:avLst>
              <a:gd fmla="val 2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2"/>
          <p:cNvSpPr/>
          <p:nvPr/>
        </p:nvSpPr>
        <p:spPr>
          <a:xfrm>
            <a:off x="3639312" y="1563624"/>
            <a:ext cx="67299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Overview</a:t>
            </a:r>
            <a:endParaRPr b="0" i="0" sz="850" u="none" cap="none" strike="noStrike">
              <a:solidFill>
                <a:schemeClr val="dk1"/>
              </a:solidFill>
              <a:latin typeface="Calibri"/>
              <a:ea typeface="Calibri"/>
              <a:cs typeface="Calibri"/>
              <a:sym typeface="Calibri"/>
            </a:endParaRPr>
          </a:p>
        </p:txBody>
      </p:sp>
      <p:sp>
        <p:nvSpPr>
          <p:cNvPr id="1518" name="Google Shape;1518;p22"/>
          <p:cNvSpPr/>
          <p:nvPr/>
        </p:nvSpPr>
        <p:spPr>
          <a:xfrm>
            <a:off x="722376" y="1984248"/>
            <a:ext cx="2743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1200"/>
              <a:buFont typeface="Cambria"/>
              <a:buNone/>
            </a:pPr>
            <a:r>
              <a:rPr b="1" i="0" lang="en-US" sz="1200" u="none" cap="none" strike="noStrike">
                <a:solidFill>
                  <a:srgbClr val="1B1F24"/>
                </a:solidFill>
                <a:latin typeface="Cambria"/>
                <a:ea typeface="Cambria"/>
                <a:cs typeface="Cambria"/>
                <a:sym typeface="Cambria"/>
              </a:rPr>
              <a:t>Monitoring schedule</a:t>
            </a:r>
            <a:endParaRPr b="0" i="0" sz="1200" u="none" cap="none" strike="noStrike">
              <a:solidFill>
                <a:schemeClr val="dk1"/>
              </a:solidFill>
              <a:latin typeface="Calibri"/>
              <a:ea typeface="Calibri"/>
              <a:cs typeface="Calibri"/>
              <a:sym typeface="Calibri"/>
            </a:endParaRPr>
          </a:p>
        </p:txBody>
      </p:sp>
      <p:sp>
        <p:nvSpPr>
          <p:cNvPr id="1519" name="Google Shape;1519;p22"/>
          <p:cNvSpPr/>
          <p:nvPr/>
        </p:nvSpPr>
        <p:spPr>
          <a:xfrm>
            <a:off x="6135624" y="1984248"/>
            <a:ext cx="1042416" cy="237744"/>
          </a:xfrm>
          <a:prstGeom prst="roundRect">
            <a:avLst>
              <a:gd fmla="val 19231"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2"/>
          <p:cNvSpPr/>
          <p:nvPr/>
        </p:nvSpPr>
        <p:spPr>
          <a:xfrm>
            <a:off x="6135624" y="1984248"/>
            <a:ext cx="104241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Save</a:t>
            </a:r>
            <a:endParaRPr b="0" i="0" sz="850" u="none" cap="none" strike="noStrike">
              <a:solidFill>
                <a:schemeClr val="dk1"/>
              </a:solidFill>
              <a:latin typeface="Calibri"/>
              <a:ea typeface="Calibri"/>
              <a:cs typeface="Calibri"/>
              <a:sym typeface="Calibri"/>
            </a:endParaRPr>
          </a:p>
        </p:txBody>
      </p:sp>
      <p:sp>
        <p:nvSpPr>
          <p:cNvPr id="1521" name="Google Shape;1521;p22"/>
          <p:cNvSpPr/>
          <p:nvPr/>
        </p:nvSpPr>
        <p:spPr>
          <a:xfrm>
            <a:off x="722376" y="2313432"/>
            <a:ext cx="301752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00"/>
              <a:buFont typeface="Calibri"/>
              <a:buNone/>
            </a:pPr>
            <a:r>
              <a:rPr b="1" i="0" lang="en-US" sz="800" u="none" cap="none" strike="noStrike">
                <a:solidFill>
                  <a:srgbClr val="6B7280"/>
                </a:solidFill>
                <a:latin typeface="Calibri"/>
                <a:ea typeface="Calibri"/>
                <a:cs typeface="Calibri"/>
                <a:sym typeface="Calibri"/>
              </a:rPr>
              <a:t>FREQUENCY</a:t>
            </a:r>
            <a:endParaRPr b="0" i="0" sz="800" u="none" cap="none" strike="noStrike">
              <a:solidFill>
                <a:schemeClr val="dk1"/>
              </a:solidFill>
              <a:latin typeface="Calibri"/>
              <a:ea typeface="Calibri"/>
              <a:cs typeface="Calibri"/>
              <a:sym typeface="Calibri"/>
            </a:endParaRPr>
          </a:p>
        </p:txBody>
      </p:sp>
      <p:sp>
        <p:nvSpPr>
          <p:cNvPr id="1522" name="Google Shape;1522;p22"/>
          <p:cNvSpPr/>
          <p:nvPr/>
        </p:nvSpPr>
        <p:spPr>
          <a:xfrm>
            <a:off x="722376" y="2478024"/>
            <a:ext cx="3017520" cy="256032"/>
          </a:xfrm>
          <a:prstGeom prst="roundRect">
            <a:avLst>
              <a:gd fmla="val 14286" name="adj"/>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2"/>
          <p:cNvSpPr/>
          <p:nvPr/>
        </p:nvSpPr>
        <p:spPr>
          <a:xfrm>
            <a:off x="795528" y="2478024"/>
            <a:ext cx="287121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E68"/>
              </a:buClr>
              <a:buSzPts val="850"/>
              <a:buFont typeface="Calibri"/>
              <a:buNone/>
            </a:pPr>
            <a:r>
              <a:rPr b="0" i="0" lang="en-US" sz="850" u="none" cap="none" strike="noStrike">
                <a:solidFill>
                  <a:srgbClr val="565E68"/>
                </a:solidFill>
                <a:latin typeface="Calibri"/>
                <a:ea typeface="Calibri"/>
                <a:cs typeface="Calibri"/>
                <a:sym typeface="Calibri"/>
              </a:rPr>
              <a:t>Monthly, first working day, 02:00 IST</a:t>
            </a:r>
            <a:endParaRPr b="0" i="0" sz="850" u="none" cap="none" strike="noStrike">
              <a:solidFill>
                <a:schemeClr val="dk1"/>
              </a:solidFill>
              <a:latin typeface="Calibri"/>
              <a:ea typeface="Calibri"/>
              <a:cs typeface="Calibri"/>
              <a:sym typeface="Calibri"/>
            </a:endParaRPr>
          </a:p>
        </p:txBody>
      </p:sp>
      <p:sp>
        <p:nvSpPr>
          <p:cNvPr id="1524" name="Google Shape;1524;p22"/>
          <p:cNvSpPr/>
          <p:nvPr/>
        </p:nvSpPr>
        <p:spPr>
          <a:xfrm>
            <a:off x="722376" y="2807208"/>
            <a:ext cx="301752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00"/>
              <a:buFont typeface="Calibri"/>
              <a:buNone/>
            </a:pPr>
            <a:r>
              <a:rPr b="1" i="0" lang="en-US" sz="800" u="none" cap="none" strike="noStrike">
                <a:solidFill>
                  <a:srgbClr val="6B7280"/>
                </a:solidFill>
                <a:latin typeface="Calibri"/>
                <a:ea typeface="Calibri"/>
                <a:cs typeface="Calibri"/>
                <a:sym typeface="Calibri"/>
              </a:rPr>
              <a:t>WINDOW</a:t>
            </a:r>
            <a:endParaRPr b="0" i="0" sz="800" u="none" cap="none" strike="noStrike">
              <a:solidFill>
                <a:schemeClr val="dk1"/>
              </a:solidFill>
              <a:latin typeface="Calibri"/>
              <a:ea typeface="Calibri"/>
              <a:cs typeface="Calibri"/>
              <a:sym typeface="Calibri"/>
            </a:endParaRPr>
          </a:p>
        </p:txBody>
      </p:sp>
      <p:sp>
        <p:nvSpPr>
          <p:cNvPr id="1525" name="Google Shape;1525;p22"/>
          <p:cNvSpPr/>
          <p:nvPr/>
        </p:nvSpPr>
        <p:spPr>
          <a:xfrm>
            <a:off x="722376" y="2971800"/>
            <a:ext cx="3017520" cy="256032"/>
          </a:xfrm>
          <a:prstGeom prst="roundRect">
            <a:avLst>
              <a:gd fmla="val 14286" name="adj"/>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22"/>
          <p:cNvSpPr/>
          <p:nvPr/>
        </p:nvSpPr>
        <p:spPr>
          <a:xfrm>
            <a:off x="795528" y="2971800"/>
            <a:ext cx="287121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E68"/>
              </a:buClr>
              <a:buSzPts val="850"/>
              <a:buFont typeface="Calibri"/>
              <a:buNone/>
            </a:pPr>
            <a:r>
              <a:rPr b="0" i="0" lang="en-US" sz="850" u="none" cap="none" strike="noStrike">
                <a:solidFill>
                  <a:srgbClr val="565E68"/>
                </a:solidFill>
                <a:latin typeface="Calibri"/>
                <a:ea typeface="Calibri"/>
                <a:cs typeface="Calibri"/>
                <a:sym typeface="Calibri"/>
              </a:rPr>
              <a:t>Rolling 30 days, created clock</a:t>
            </a:r>
            <a:endParaRPr b="0" i="0" sz="850" u="none" cap="none" strike="noStrike">
              <a:solidFill>
                <a:schemeClr val="dk1"/>
              </a:solidFill>
              <a:latin typeface="Calibri"/>
              <a:ea typeface="Calibri"/>
              <a:cs typeface="Calibri"/>
              <a:sym typeface="Calibri"/>
            </a:endParaRPr>
          </a:p>
        </p:txBody>
      </p:sp>
      <p:sp>
        <p:nvSpPr>
          <p:cNvPr id="1527" name="Google Shape;1527;p22"/>
          <p:cNvSpPr/>
          <p:nvPr/>
        </p:nvSpPr>
        <p:spPr>
          <a:xfrm>
            <a:off x="722376" y="3300984"/>
            <a:ext cx="301752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00"/>
              <a:buFont typeface="Calibri"/>
              <a:buNone/>
            </a:pPr>
            <a:r>
              <a:rPr b="1" i="0" lang="en-US" sz="800" u="none" cap="none" strike="noStrike">
                <a:solidFill>
                  <a:srgbClr val="6B7280"/>
                </a:solidFill>
                <a:latin typeface="Calibri"/>
                <a:ea typeface="Calibri"/>
                <a:cs typeface="Calibri"/>
                <a:sym typeface="Calibri"/>
              </a:rPr>
              <a:t>COMPARE AGAINST</a:t>
            </a:r>
            <a:endParaRPr b="0" i="0" sz="800" u="none" cap="none" strike="noStrike">
              <a:solidFill>
                <a:schemeClr val="dk1"/>
              </a:solidFill>
              <a:latin typeface="Calibri"/>
              <a:ea typeface="Calibri"/>
              <a:cs typeface="Calibri"/>
              <a:sym typeface="Calibri"/>
            </a:endParaRPr>
          </a:p>
        </p:txBody>
      </p:sp>
      <p:sp>
        <p:nvSpPr>
          <p:cNvPr id="1528" name="Google Shape;1528;p22"/>
          <p:cNvSpPr/>
          <p:nvPr/>
        </p:nvSpPr>
        <p:spPr>
          <a:xfrm>
            <a:off x="722376" y="3465576"/>
            <a:ext cx="3017520" cy="256032"/>
          </a:xfrm>
          <a:prstGeom prst="roundRect">
            <a:avLst>
              <a:gd fmla="val 14286" name="adj"/>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22"/>
          <p:cNvSpPr/>
          <p:nvPr/>
        </p:nvSpPr>
        <p:spPr>
          <a:xfrm>
            <a:off x="795528" y="3465576"/>
            <a:ext cx="287121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E68"/>
              </a:buClr>
              <a:buSzPts val="850"/>
              <a:buFont typeface="Calibri"/>
              <a:buNone/>
            </a:pPr>
            <a:r>
              <a:rPr b="0" i="0" lang="en-US" sz="850" u="none" cap="none" strike="noStrike">
                <a:solidFill>
                  <a:srgbClr val="565E68"/>
                </a:solidFill>
                <a:latin typeface="Calibri"/>
                <a:ea typeface="Calibri"/>
                <a:cs typeface="Calibri"/>
                <a:sym typeface="Calibri"/>
              </a:rPr>
              <a:t>Prior 30 days and same month last year</a:t>
            </a:r>
            <a:endParaRPr b="0" i="0" sz="850" u="none" cap="none" strike="noStrike">
              <a:solidFill>
                <a:schemeClr val="dk1"/>
              </a:solidFill>
              <a:latin typeface="Calibri"/>
              <a:ea typeface="Calibri"/>
              <a:cs typeface="Calibri"/>
              <a:sym typeface="Calibri"/>
            </a:endParaRPr>
          </a:p>
        </p:txBody>
      </p:sp>
      <p:sp>
        <p:nvSpPr>
          <p:cNvPr id="1530" name="Google Shape;1530;p22"/>
          <p:cNvSpPr/>
          <p:nvPr/>
        </p:nvSpPr>
        <p:spPr>
          <a:xfrm>
            <a:off x="722376" y="3794760"/>
            <a:ext cx="301752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00"/>
              <a:buFont typeface="Calibri"/>
              <a:buNone/>
            </a:pPr>
            <a:r>
              <a:rPr b="1" i="0" lang="en-US" sz="800" u="none" cap="none" strike="noStrike">
                <a:solidFill>
                  <a:srgbClr val="6B7280"/>
                </a:solidFill>
                <a:latin typeface="Calibri"/>
                <a:ea typeface="Calibri"/>
                <a:cs typeface="Calibri"/>
                <a:sym typeface="Calibri"/>
              </a:rPr>
              <a:t>RECIPIENTS</a:t>
            </a:r>
            <a:endParaRPr b="0" i="0" sz="800" u="none" cap="none" strike="noStrike">
              <a:solidFill>
                <a:schemeClr val="dk1"/>
              </a:solidFill>
              <a:latin typeface="Calibri"/>
              <a:ea typeface="Calibri"/>
              <a:cs typeface="Calibri"/>
              <a:sym typeface="Calibri"/>
            </a:endParaRPr>
          </a:p>
        </p:txBody>
      </p:sp>
      <p:sp>
        <p:nvSpPr>
          <p:cNvPr id="1531" name="Google Shape;1531;p22"/>
          <p:cNvSpPr/>
          <p:nvPr/>
        </p:nvSpPr>
        <p:spPr>
          <a:xfrm>
            <a:off x="722376" y="3959352"/>
            <a:ext cx="3017520" cy="256032"/>
          </a:xfrm>
          <a:prstGeom prst="roundRect">
            <a:avLst>
              <a:gd fmla="val 14286" name="adj"/>
            </a:avLst>
          </a:prstGeom>
          <a:solidFill>
            <a:srgbClr val="FFFFFF"/>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22"/>
          <p:cNvSpPr/>
          <p:nvPr/>
        </p:nvSpPr>
        <p:spPr>
          <a:xfrm>
            <a:off x="795528" y="3959352"/>
            <a:ext cx="287121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E68"/>
              </a:buClr>
              <a:buSzPts val="850"/>
              <a:buFont typeface="Calibri"/>
              <a:buNone/>
            </a:pPr>
            <a:r>
              <a:rPr b="0" i="0" lang="en-US" sz="850" u="none" cap="none" strike="noStrike">
                <a:solidFill>
                  <a:srgbClr val="565E68"/>
                </a:solidFill>
                <a:latin typeface="Calibri"/>
                <a:ea typeface="Calibri"/>
                <a:cs typeface="Calibri"/>
                <a:sym typeface="Calibri"/>
              </a:rPr>
              <a:t>CRM lead, Sales ops, FI account manager</a:t>
            </a:r>
            <a:endParaRPr b="0" i="0" sz="850" u="none" cap="none" strike="noStrike">
              <a:solidFill>
                <a:schemeClr val="dk1"/>
              </a:solidFill>
              <a:latin typeface="Calibri"/>
              <a:ea typeface="Calibri"/>
              <a:cs typeface="Calibri"/>
              <a:sym typeface="Calibri"/>
            </a:endParaRPr>
          </a:p>
        </p:txBody>
      </p:sp>
      <p:sp>
        <p:nvSpPr>
          <p:cNvPr id="1533" name="Google Shape;1533;p22"/>
          <p:cNvSpPr/>
          <p:nvPr/>
        </p:nvSpPr>
        <p:spPr>
          <a:xfrm>
            <a:off x="4014216" y="2313432"/>
            <a:ext cx="310896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00"/>
              <a:buFont typeface="Calibri"/>
              <a:buNone/>
            </a:pPr>
            <a:r>
              <a:rPr b="1" i="0" lang="en-US" sz="800" u="none" cap="none" strike="noStrike">
                <a:solidFill>
                  <a:srgbClr val="6B7280"/>
                </a:solidFill>
                <a:latin typeface="Calibri"/>
                <a:ea typeface="Calibri"/>
                <a:cs typeface="Calibri"/>
                <a:sym typeface="Calibri"/>
              </a:rPr>
              <a:t>ALERT FLOORS</a:t>
            </a:r>
            <a:endParaRPr b="0" i="0" sz="800" u="none" cap="none" strike="noStrike">
              <a:solidFill>
                <a:schemeClr val="dk1"/>
              </a:solidFill>
              <a:latin typeface="Calibri"/>
              <a:ea typeface="Calibri"/>
              <a:cs typeface="Calibri"/>
              <a:sym typeface="Calibri"/>
            </a:endParaRPr>
          </a:p>
        </p:txBody>
      </p:sp>
      <p:sp>
        <p:nvSpPr>
          <p:cNvPr id="1534" name="Google Shape;1534;p22"/>
          <p:cNvSpPr/>
          <p:nvPr/>
        </p:nvSpPr>
        <p:spPr>
          <a:xfrm>
            <a:off x="4014216" y="2514600"/>
            <a:ext cx="3108960" cy="256032"/>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22"/>
          <p:cNvSpPr/>
          <p:nvPr/>
        </p:nvSpPr>
        <p:spPr>
          <a:xfrm>
            <a:off x="4105656" y="2514600"/>
            <a:ext cx="2286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0" i="0" lang="en-US" sz="780" u="none" cap="none" strike="noStrike">
                <a:solidFill>
                  <a:srgbClr val="1B1F24"/>
                </a:solidFill>
                <a:latin typeface="Calibri"/>
                <a:ea typeface="Calibri"/>
                <a:cs typeface="Calibri"/>
                <a:sym typeface="Calibri"/>
              </a:rPr>
              <a:t>Org score below</a:t>
            </a:r>
            <a:endParaRPr b="0" i="0" sz="780" u="none" cap="none" strike="noStrike">
              <a:solidFill>
                <a:schemeClr val="dk1"/>
              </a:solidFill>
              <a:latin typeface="Calibri"/>
              <a:ea typeface="Calibri"/>
              <a:cs typeface="Calibri"/>
              <a:sym typeface="Calibri"/>
            </a:endParaRPr>
          </a:p>
        </p:txBody>
      </p:sp>
      <p:sp>
        <p:nvSpPr>
          <p:cNvPr id="1536" name="Google Shape;1536;p22"/>
          <p:cNvSpPr/>
          <p:nvPr/>
        </p:nvSpPr>
        <p:spPr>
          <a:xfrm>
            <a:off x="6620256" y="2560320"/>
            <a:ext cx="411480" cy="164592"/>
          </a:xfrm>
          <a:prstGeom prst="roundRect">
            <a:avLst>
              <a:gd fmla="val 33333" name="adj"/>
            </a:avLst>
          </a:prstGeom>
          <a:solidFill>
            <a:srgbClr val="B8443A"/>
          </a:solidFill>
          <a:ln cap="flat" cmpd="sng" w="12700">
            <a:solidFill>
              <a:srgbClr val="B844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22"/>
          <p:cNvSpPr/>
          <p:nvPr/>
        </p:nvSpPr>
        <p:spPr>
          <a:xfrm>
            <a:off x="6620256" y="2560320"/>
            <a:ext cx="41148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50</a:t>
            </a:r>
            <a:endParaRPr b="0" i="0" sz="760" u="none" cap="none" strike="noStrike">
              <a:solidFill>
                <a:schemeClr val="dk1"/>
              </a:solidFill>
              <a:latin typeface="Calibri"/>
              <a:ea typeface="Calibri"/>
              <a:cs typeface="Calibri"/>
              <a:sym typeface="Calibri"/>
            </a:endParaRPr>
          </a:p>
        </p:txBody>
      </p:sp>
      <p:sp>
        <p:nvSpPr>
          <p:cNvPr id="1538" name="Google Shape;1538;p22"/>
          <p:cNvSpPr/>
          <p:nvPr/>
        </p:nvSpPr>
        <p:spPr>
          <a:xfrm>
            <a:off x="4014216" y="2807208"/>
            <a:ext cx="3108960" cy="256032"/>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22"/>
          <p:cNvSpPr/>
          <p:nvPr/>
        </p:nvSpPr>
        <p:spPr>
          <a:xfrm>
            <a:off x="4105656" y="2807208"/>
            <a:ext cx="2286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0" i="0" lang="en-US" sz="780" u="none" cap="none" strike="noStrike">
                <a:solidFill>
                  <a:srgbClr val="1B1F24"/>
                </a:solidFill>
                <a:latin typeface="Calibri"/>
                <a:ea typeface="Calibri"/>
                <a:cs typeface="Calibri"/>
                <a:sym typeface="Calibri"/>
              </a:rPr>
              <a:t>Any domain below</a:t>
            </a:r>
            <a:endParaRPr b="0" i="0" sz="780" u="none" cap="none" strike="noStrike">
              <a:solidFill>
                <a:schemeClr val="dk1"/>
              </a:solidFill>
              <a:latin typeface="Calibri"/>
              <a:ea typeface="Calibri"/>
              <a:cs typeface="Calibri"/>
              <a:sym typeface="Calibri"/>
            </a:endParaRPr>
          </a:p>
        </p:txBody>
      </p:sp>
      <p:sp>
        <p:nvSpPr>
          <p:cNvPr id="1540" name="Google Shape;1540;p22"/>
          <p:cNvSpPr/>
          <p:nvPr/>
        </p:nvSpPr>
        <p:spPr>
          <a:xfrm>
            <a:off x="6620256" y="2852928"/>
            <a:ext cx="411480" cy="164592"/>
          </a:xfrm>
          <a:prstGeom prst="roundRect">
            <a:avLst>
              <a:gd fmla="val 33333" name="adj"/>
            </a:avLst>
          </a:prstGeom>
          <a:solidFill>
            <a:srgbClr val="B8443A"/>
          </a:solidFill>
          <a:ln cap="flat" cmpd="sng" w="12700">
            <a:solidFill>
              <a:srgbClr val="B844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22"/>
          <p:cNvSpPr/>
          <p:nvPr/>
        </p:nvSpPr>
        <p:spPr>
          <a:xfrm>
            <a:off x="6620256" y="2852928"/>
            <a:ext cx="41148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35</a:t>
            </a:r>
            <a:endParaRPr b="0" i="0" sz="760" u="none" cap="none" strike="noStrike">
              <a:solidFill>
                <a:schemeClr val="dk1"/>
              </a:solidFill>
              <a:latin typeface="Calibri"/>
              <a:ea typeface="Calibri"/>
              <a:cs typeface="Calibri"/>
              <a:sym typeface="Calibri"/>
            </a:endParaRPr>
          </a:p>
        </p:txBody>
      </p:sp>
      <p:sp>
        <p:nvSpPr>
          <p:cNvPr id="1542" name="Google Shape;1542;p22"/>
          <p:cNvSpPr/>
          <p:nvPr/>
        </p:nvSpPr>
        <p:spPr>
          <a:xfrm>
            <a:off x="4014216" y="3099816"/>
            <a:ext cx="3108960" cy="256032"/>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22"/>
          <p:cNvSpPr/>
          <p:nvPr/>
        </p:nvSpPr>
        <p:spPr>
          <a:xfrm>
            <a:off x="4105656" y="3099816"/>
            <a:ext cx="2286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0" i="0" lang="en-US" sz="780" u="none" cap="none" strike="noStrike">
                <a:solidFill>
                  <a:srgbClr val="1B1F24"/>
                </a:solidFill>
                <a:latin typeface="Calibri"/>
                <a:ea typeface="Calibri"/>
                <a:cs typeface="Calibri"/>
                <a:sym typeface="Calibri"/>
              </a:rPr>
              <a:t>Any module below</a:t>
            </a:r>
            <a:endParaRPr b="0" i="0" sz="780" u="none" cap="none" strike="noStrike">
              <a:solidFill>
                <a:schemeClr val="dk1"/>
              </a:solidFill>
              <a:latin typeface="Calibri"/>
              <a:ea typeface="Calibri"/>
              <a:cs typeface="Calibri"/>
              <a:sym typeface="Calibri"/>
            </a:endParaRPr>
          </a:p>
        </p:txBody>
      </p:sp>
      <p:sp>
        <p:nvSpPr>
          <p:cNvPr id="1544" name="Google Shape;1544;p22"/>
          <p:cNvSpPr/>
          <p:nvPr/>
        </p:nvSpPr>
        <p:spPr>
          <a:xfrm>
            <a:off x="6620256" y="3145536"/>
            <a:ext cx="411480" cy="164592"/>
          </a:xfrm>
          <a:prstGeom prst="roundRect">
            <a:avLst>
              <a:gd fmla="val 33333" name="adj"/>
            </a:avLst>
          </a:prstGeom>
          <a:solidFill>
            <a:srgbClr val="C77700"/>
          </a:solidFill>
          <a:ln cap="flat" cmpd="sng" w="12700">
            <a:solidFill>
              <a:srgbClr val="C77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22"/>
          <p:cNvSpPr/>
          <p:nvPr/>
        </p:nvSpPr>
        <p:spPr>
          <a:xfrm>
            <a:off x="6620256" y="3145536"/>
            <a:ext cx="41148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40</a:t>
            </a:r>
            <a:endParaRPr b="0" i="0" sz="760" u="none" cap="none" strike="noStrike">
              <a:solidFill>
                <a:schemeClr val="dk1"/>
              </a:solidFill>
              <a:latin typeface="Calibri"/>
              <a:ea typeface="Calibri"/>
              <a:cs typeface="Calibri"/>
              <a:sym typeface="Calibri"/>
            </a:endParaRPr>
          </a:p>
        </p:txBody>
      </p:sp>
      <p:sp>
        <p:nvSpPr>
          <p:cNvPr id="1546" name="Google Shape;1546;p22"/>
          <p:cNvSpPr/>
          <p:nvPr/>
        </p:nvSpPr>
        <p:spPr>
          <a:xfrm>
            <a:off x="4014216" y="3392424"/>
            <a:ext cx="3108960" cy="256032"/>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22"/>
          <p:cNvSpPr/>
          <p:nvPr/>
        </p:nvSpPr>
        <p:spPr>
          <a:xfrm>
            <a:off x="4105656" y="3392424"/>
            <a:ext cx="2286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0" i="0" lang="en-US" sz="780" u="none" cap="none" strike="noStrike">
                <a:solidFill>
                  <a:srgbClr val="1B1F24"/>
                </a:solidFill>
                <a:latin typeface="Calibri"/>
                <a:ea typeface="Calibri"/>
                <a:cs typeface="Calibri"/>
                <a:sym typeface="Calibri"/>
              </a:rPr>
              <a:t>Suspicious rate above</a:t>
            </a:r>
            <a:endParaRPr b="0" i="0" sz="780" u="none" cap="none" strike="noStrike">
              <a:solidFill>
                <a:schemeClr val="dk1"/>
              </a:solidFill>
              <a:latin typeface="Calibri"/>
              <a:ea typeface="Calibri"/>
              <a:cs typeface="Calibri"/>
              <a:sym typeface="Calibri"/>
            </a:endParaRPr>
          </a:p>
        </p:txBody>
      </p:sp>
      <p:sp>
        <p:nvSpPr>
          <p:cNvPr id="1548" name="Google Shape;1548;p22"/>
          <p:cNvSpPr/>
          <p:nvPr/>
        </p:nvSpPr>
        <p:spPr>
          <a:xfrm>
            <a:off x="6620256" y="3438144"/>
            <a:ext cx="411480" cy="164592"/>
          </a:xfrm>
          <a:prstGeom prst="roundRect">
            <a:avLst>
              <a:gd fmla="val 33333" name="adj"/>
            </a:avLst>
          </a:prstGeom>
          <a:solidFill>
            <a:srgbClr val="B8443A"/>
          </a:solidFill>
          <a:ln cap="flat" cmpd="sng" w="12700">
            <a:solidFill>
              <a:srgbClr val="B844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2"/>
          <p:cNvSpPr/>
          <p:nvPr/>
        </p:nvSpPr>
        <p:spPr>
          <a:xfrm>
            <a:off x="6620256" y="3438144"/>
            <a:ext cx="41148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6%</a:t>
            </a:r>
            <a:endParaRPr b="0" i="0" sz="760" u="none" cap="none" strike="noStrike">
              <a:solidFill>
                <a:schemeClr val="dk1"/>
              </a:solidFill>
              <a:latin typeface="Calibri"/>
              <a:ea typeface="Calibri"/>
              <a:cs typeface="Calibri"/>
              <a:sym typeface="Calibri"/>
            </a:endParaRPr>
          </a:p>
        </p:txBody>
      </p:sp>
      <p:sp>
        <p:nvSpPr>
          <p:cNvPr id="1550" name="Google Shape;1550;p22"/>
          <p:cNvSpPr/>
          <p:nvPr/>
        </p:nvSpPr>
        <p:spPr>
          <a:xfrm>
            <a:off x="4014216" y="3685032"/>
            <a:ext cx="3108960" cy="256032"/>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22"/>
          <p:cNvSpPr/>
          <p:nvPr/>
        </p:nvSpPr>
        <p:spPr>
          <a:xfrm>
            <a:off x="4105656" y="3685032"/>
            <a:ext cx="2286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0" i="0" lang="en-US" sz="780" u="none" cap="none" strike="noStrike">
                <a:solidFill>
                  <a:srgbClr val="1B1F24"/>
                </a:solidFill>
                <a:latin typeface="Calibri"/>
                <a:ea typeface="Calibri"/>
                <a:cs typeface="Calibri"/>
                <a:sym typeface="Calibri"/>
              </a:rPr>
              <a:t>Duplicate rate above</a:t>
            </a:r>
            <a:endParaRPr b="0" i="0" sz="780" u="none" cap="none" strike="noStrike">
              <a:solidFill>
                <a:schemeClr val="dk1"/>
              </a:solidFill>
              <a:latin typeface="Calibri"/>
              <a:ea typeface="Calibri"/>
              <a:cs typeface="Calibri"/>
              <a:sym typeface="Calibri"/>
            </a:endParaRPr>
          </a:p>
        </p:txBody>
      </p:sp>
      <p:sp>
        <p:nvSpPr>
          <p:cNvPr id="1552" name="Google Shape;1552;p22"/>
          <p:cNvSpPr/>
          <p:nvPr/>
        </p:nvSpPr>
        <p:spPr>
          <a:xfrm>
            <a:off x="6620256" y="3730752"/>
            <a:ext cx="411480" cy="164592"/>
          </a:xfrm>
          <a:prstGeom prst="roundRect">
            <a:avLst>
              <a:gd fmla="val 33333" name="adj"/>
            </a:avLst>
          </a:prstGeom>
          <a:solidFill>
            <a:srgbClr val="C77700"/>
          </a:solidFill>
          <a:ln cap="flat" cmpd="sng" w="12700">
            <a:solidFill>
              <a:srgbClr val="C77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22"/>
          <p:cNvSpPr/>
          <p:nvPr/>
        </p:nvSpPr>
        <p:spPr>
          <a:xfrm>
            <a:off x="6620256" y="3730752"/>
            <a:ext cx="41148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10%</a:t>
            </a:r>
            <a:endParaRPr b="0" i="0" sz="760" u="none" cap="none" strike="noStrike">
              <a:solidFill>
                <a:schemeClr val="dk1"/>
              </a:solidFill>
              <a:latin typeface="Calibri"/>
              <a:ea typeface="Calibri"/>
              <a:cs typeface="Calibri"/>
              <a:sym typeface="Calibri"/>
            </a:endParaRPr>
          </a:p>
        </p:txBody>
      </p:sp>
      <p:sp>
        <p:nvSpPr>
          <p:cNvPr id="1554" name="Google Shape;1554;p22"/>
          <p:cNvSpPr/>
          <p:nvPr/>
        </p:nvSpPr>
        <p:spPr>
          <a:xfrm>
            <a:off x="4014216" y="3977640"/>
            <a:ext cx="3108960" cy="256032"/>
          </a:xfrm>
          <a:prstGeom prst="rect">
            <a:avLst/>
          </a:prstGeom>
          <a:solidFill>
            <a:srgbClr val="F7F9FA"/>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22"/>
          <p:cNvSpPr/>
          <p:nvPr/>
        </p:nvSpPr>
        <p:spPr>
          <a:xfrm>
            <a:off x="4105656" y="3977640"/>
            <a:ext cx="2286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B1F24"/>
              </a:buClr>
              <a:buSzPts val="780"/>
              <a:buFont typeface="Calibri"/>
              <a:buNone/>
            </a:pPr>
            <a:r>
              <a:rPr b="0" i="0" lang="en-US" sz="780" u="none" cap="none" strike="noStrike">
                <a:solidFill>
                  <a:srgbClr val="1B1F24"/>
                </a:solidFill>
                <a:latin typeface="Calibri"/>
                <a:ea typeface="Calibri"/>
                <a:cs typeface="Calibri"/>
                <a:sym typeface="Calibri"/>
              </a:rPr>
              <a:t>Any user below</a:t>
            </a:r>
            <a:endParaRPr b="0" i="0" sz="780" u="none" cap="none" strike="noStrike">
              <a:solidFill>
                <a:schemeClr val="dk1"/>
              </a:solidFill>
              <a:latin typeface="Calibri"/>
              <a:ea typeface="Calibri"/>
              <a:cs typeface="Calibri"/>
              <a:sym typeface="Calibri"/>
            </a:endParaRPr>
          </a:p>
        </p:txBody>
      </p:sp>
      <p:sp>
        <p:nvSpPr>
          <p:cNvPr id="1556" name="Google Shape;1556;p22"/>
          <p:cNvSpPr/>
          <p:nvPr/>
        </p:nvSpPr>
        <p:spPr>
          <a:xfrm>
            <a:off x="6620256" y="4023360"/>
            <a:ext cx="411480" cy="164592"/>
          </a:xfrm>
          <a:prstGeom prst="roundRect">
            <a:avLst>
              <a:gd fmla="val 33333" name="adj"/>
            </a:avLst>
          </a:prstGeom>
          <a:solidFill>
            <a:srgbClr val="C77700"/>
          </a:solidFill>
          <a:ln cap="flat" cmpd="sng" w="12700">
            <a:solidFill>
              <a:srgbClr val="C777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22"/>
          <p:cNvSpPr/>
          <p:nvPr/>
        </p:nvSpPr>
        <p:spPr>
          <a:xfrm>
            <a:off x="6620256" y="4023360"/>
            <a:ext cx="41148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60"/>
              <a:buFont typeface="Calibri"/>
              <a:buNone/>
            </a:pPr>
            <a:r>
              <a:rPr b="1" i="0" lang="en-US" sz="760" u="none" cap="none" strike="noStrike">
                <a:solidFill>
                  <a:srgbClr val="FFFFFF"/>
                </a:solidFill>
                <a:latin typeface="Calibri"/>
                <a:ea typeface="Calibri"/>
                <a:cs typeface="Calibri"/>
                <a:sym typeface="Calibri"/>
              </a:rPr>
              <a:t>35</a:t>
            </a:r>
            <a:endParaRPr b="0" i="0" sz="760" u="none" cap="none" strike="noStrike">
              <a:solidFill>
                <a:schemeClr val="dk1"/>
              </a:solidFill>
              <a:latin typeface="Calibri"/>
              <a:ea typeface="Calibri"/>
              <a:cs typeface="Calibri"/>
              <a:sym typeface="Calibri"/>
            </a:endParaRPr>
          </a:p>
        </p:txBody>
      </p:sp>
      <p:sp>
        <p:nvSpPr>
          <p:cNvPr id="1558" name="Google Shape;1558;p22"/>
          <p:cNvSpPr/>
          <p:nvPr/>
        </p:nvSpPr>
        <p:spPr>
          <a:xfrm>
            <a:off x="722376" y="4361688"/>
            <a:ext cx="6400800" cy="1024128"/>
          </a:xfrm>
          <a:prstGeom prst="rect">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22"/>
          <p:cNvSpPr/>
          <p:nvPr/>
        </p:nvSpPr>
        <p:spPr>
          <a:xfrm>
            <a:off x="850392" y="4434840"/>
            <a:ext cx="612648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760"/>
              <a:buFont typeface="Calibri"/>
              <a:buNone/>
            </a:pPr>
            <a:r>
              <a:rPr b="1" i="0" lang="en-US" sz="760" u="none" cap="none" strike="noStrike">
                <a:solidFill>
                  <a:srgbClr val="6B7280"/>
                </a:solidFill>
                <a:latin typeface="Calibri"/>
                <a:ea typeface="Calibri"/>
                <a:cs typeface="Calibri"/>
                <a:sym typeface="Calibri"/>
              </a:rPr>
              <a:t>SAMPLE ALERT  ·  sent 01 Aug 2026 06:00</a:t>
            </a:r>
            <a:endParaRPr b="0" i="0" sz="760" u="none" cap="none" strike="noStrike">
              <a:solidFill>
                <a:schemeClr val="dk1"/>
              </a:solidFill>
              <a:latin typeface="Calibri"/>
              <a:ea typeface="Calibri"/>
              <a:cs typeface="Calibri"/>
              <a:sym typeface="Calibri"/>
            </a:endParaRPr>
          </a:p>
        </p:txBody>
      </p:sp>
      <p:sp>
        <p:nvSpPr>
          <p:cNvPr id="1560" name="Google Shape;1560;p22"/>
          <p:cNvSpPr/>
          <p:nvPr/>
        </p:nvSpPr>
        <p:spPr>
          <a:xfrm>
            <a:off x="850392" y="4617720"/>
            <a:ext cx="612648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2A30"/>
              </a:buClr>
              <a:buSzPts val="860"/>
              <a:buFont typeface="Calibri"/>
              <a:buNone/>
            </a:pPr>
            <a:r>
              <a:rPr b="1" i="0" lang="en-US" sz="860" u="none" cap="none" strike="noStrike">
                <a:solidFill>
                  <a:srgbClr val="062A30"/>
                </a:solidFill>
                <a:latin typeface="Calibri"/>
                <a:ea typeface="Calibri"/>
                <a:cs typeface="Calibri"/>
                <a:sym typeface="Calibri"/>
              </a:rPr>
              <a:t>Suspicious rate in Leads reached 9.2 percent in July, against a floor of 6 percent.</a:t>
            </a:r>
            <a:endParaRPr b="0" i="0" sz="860" u="none" cap="none" strike="noStrike">
              <a:solidFill>
                <a:schemeClr val="dk1"/>
              </a:solidFill>
              <a:latin typeface="Calibri"/>
              <a:ea typeface="Calibri"/>
              <a:cs typeface="Calibri"/>
              <a:sym typeface="Calibri"/>
            </a:endParaRPr>
          </a:p>
        </p:txBody>
      </p:sp>
      <p:sp>
        <p:nvSpPr>
          <p:cNvPr id="1561" name="Google Shape;1561;p22"/>
          <p:cNvSpPr/>
          <p:nvPr/>
        </p:nvSpPr>
        <p:spPr>
          <a:xfrm>
            <a:off x="850392" y="4818888"/>
            <a:ext cx="612648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810"/>
              <a:buFont typeface="Calibri"/>
              <a:buNone/>
            </a:pPr>
            <a:r>
              <a:rPr b="0" i="0" lang="en-US" sz="810" u="none" cap="none" strike="noStrike">
                <a:solidFill>
                  <a:srgbClr val="4B535C"/>
                </a:solidFill>
                <a:latin typeface="Calibri"/>
                <a:ea typeface="Calibri"/>
                <a:cs typeface="Calibri"/>
                <a:sym typeface="Calibri"/>
              </a:rPr>
              <a:t>1,322 records across nine bursts, 71 percent created by one user, all in the last three working days of the month.</a:t>
            </a:r>
            <a:endParaRPr b="0" i="0" sz="810" u="none" cap="none" strike="noStrike">
              <a:solidFill>
                <a:schemeClr val="dk1"/>
              </a:solidFill>
              <a:latin typeface="Calibri"/>
              <a:ea typeface="Calibri"/>
              <a:cs typeface="Calibri"/>
              <a:sym typeface="Calibri"/>
            </a:endParaRPr>
          </a:p>
        </p:txBody>
      </p:sp>
      <p:sp>
        <p:nvSpPr>
          <p:cNvPr id="1562" name="Google Shape;1562;p22"/>
          <p:cNvSpPr/>
          <p:nvPr/>
        </p:nvSpPr>
        <p:spPr>
          <a:xfrm>
            <a:off x="850392" y="5020056"/>
            <a:ext cx="612648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35C"/>
              </a:buClr>
              <a:buSzPts val="810"/>
              <a:buFont typeface="Calibri"/>
              <a:buNone/>
            </a:pPr>
            <a:r>
              <a:rPr b="0" i="0" lang="en-US" sz="810" u="none" cap="none" strike="noStrike">
                <a:solidFill>
                  <a:srgbClr val="4B535C"/>
                </a:solidFill>
                <a:latin typeface="Calibri"/>
                <a:ea typeface="Calibri"/>
                <a:cs typeface="Calibri"/>
                <a:sym typeface="Calibri"/>
              </a:rPr>
              <a:t>Record list attached. Recommended action: manual audit with the Inside Sales lead before month end close.</a:t>
            </a:r>
            <a:endParaRPr b="0" i="0" sz="810" u="none" cap="none" strike="noStrike">
              <a:solidFill>
                <a:schemeClr val="dk1"/>
              </a:solidFill>
              <a:latin typeface="Calibri"/>
              <a:ea typeface="Calibri"/>
              <a:cs typeface="Calibri"/>
              <a:sym typeface="Calibri"/>
            </a:endParaRPr>
          </a:p>
        </p:txBody>
      </p:sp>
      <p:sp>
        <p:nvSpPr>
          <p:cNvPr id="1563" name="Google Shape;1563;p22"/>
          <p:cNvSpPr/>
          <p:nvPr/>
        </p:nvSpPr>
        <p:spPr>
          <a:xfrm>
            <a:off x="7607808" y="1655064"/>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22"/>
          <p:cNvSpPr/>
          <p:nvPr/>
        </p:nvSpPr>
        <p:spPr>
          <a:xfrm>
            <a:off x="7607808" y="1655064"/>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1</a:t>
            </a:r>
            <a:endParaRPr b="0" i="0" sz="800" u="none" cap="none" strike="noStrike">
              <a:solidFill>
                <a:schemeClr val="dk1"/>
              </a:solidFill>
              <a:latin typeface="Calibri"/>
              <a:ea typeface="Calibri"/>
              <a:cs typeface="Calibri"/>
              <a:sym typeface="Calibri"/>
            </a:endParaRPr>
          </a:p>
        </p:txBody>
      </p:sp>
      <p:sp>
        <p:nvSpPr>
          <p:cNvPr id="1565" name="Google Shape;1565;p22"/>
          <p:cNvSpPr/>
          <p:nvPr/>
        </p:nvSpPr>
        <p:spPr>
          <a:xfrm>
            <a:off x="7882128" y="1627632"/>
            <a:ext cx="37426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Alerts name records and people</a:t>
            </a:r>
            <a:endParaRPr b="0" i="0" sz="1150" u="none" cap="none" strike="noStrike">
              <a:solidFill>
                <a:schemeClr val="dk1"/>
              </a:solidFill>
              <a:latin typeface="Calibri"/>
              <a:ea typeface="Calibri"/>
              <a:cs typeface="Calibri"/>
              <a:sym typeface="Calibri"/>
            </a:endParaRPr>
          </a:p>
        </p:txBody>
      </p:sp>
      <p:sp>
        <p:nvSpPr>
          <p:cNvPr id="1566" name="Google Shape;1566;p22"/>
          <p:cNvSpPr/>
          <p:nvPr/>
        </p:nvSpPr>
        <p:spPr>
          <a:xfrm>
            <a:off x="7882128" y="1865376"/>
            <a:ext cx="3742639"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A generic score dropped notification gets muted in a week. An alert naming the records, the module and the user gets opened.</a:t>
            </a:r>
            <a:endParaRPr b="0" i="0" sz="1000" u="none" cap="none" strike="noStrike">
              <a:solidFill>
                <a:schemeClr val="dk1"/>
              </a:solidFill>
              <a:latin typeface="Calibri"/>
              <a:ea typeface="Calibri"/>
              <a:cs typeface="Calibri"/>
              <a:sym typeface="Calibri"/>
            </a:endParaRPr>
          </a:p>
        </p:txBody>
      </p:sp>
      <p:sp>
        <p:nvSpPr>
          <p:cNvPr id="1567" name="Google Shape;1567;p22"/>
          <p:cNvSpPr/>
          <p:nvPr/>
        </p:nvSpPr>
        <p:spPr>
          <a:xfrm>
            <a:off x="7607808" y="2825496"/>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22"/>
          <p:cNvSpPr/>
          <p:nvPr/>
        </p:nvSpPr>
        <p:spPr>
          <a:xfrm>
            <a:off x="7607808" y="2825496"/>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
        <p:nvSpPr>
          <p:cNvPr id="1569" name="Google Shape;1569;p22"/>
          <p:cNvSpPr/>
          <p:nvPr/>
        </p:nvSpPr>
        <p:spPr>
          <a:xfrm>
            <a:off x="7882128" y="2798064"/>
            <a:ext cx="37426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Floors are agreed, not chosen by us</a:t>
            </a:r>
            <a:endParaRPr b="0" i="0" sz="1150" u="none" cap="none" strike="noStrike">
              <a:solidFill>
                <a:schemeClr val="dk1"/>
              </a:solidFill>
              <a:latin typeface="Calibri"/>
              <a:ea typeface="Calibri"/>
              <a:cs typeface="Calibri"/>
              <a:sym typeface="Calibri"/>
            </a:endParaRPr>
          </a:p>
        </p:txBody>
      </p:sp>
      <p:sp>
        <p:nvSpPr>
          <p:cNvPr id="1570" name="Google Shape;1570;p22"/>
          <p:cNvSpPr/>
          <p:nvPr/>
        </p:nvSpPr>
        <p:spPr>
          <a:xfrm>
            <a:off x="7882128" y="3035808"/>
            <a:ext cx="3742639"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The client signs the floors during the audit. Every later alert is then measured against something they set themselves.</a:t>
            </a:r>
            <a:endParaRPr b="0" i="0" sz="1000" u="none" cap="none" strike="noStrike">
              <a:solidFill>
                <a:schemeClr val="dk1"/>
              </a:solidFill>
              <a:latin typeface="Calibri"/>
              <a:ea typeface="Calibri"/>
              <a:cs typeface="Calibri"/>
              <a:sym typeface="Calibri"/>
            </a:endParaRPr>
          </a:p>
        </p:txBody>
      </p:sp>
      <p:sp>
        <p:nvSpPr>
          <p:cNvPr id="1571" name="Google Shape;1571;p22"/>
          <p:cNvSpPr/>
          <p:nvPr/>
        </p:nvSpPr>
        <p:spPr>
          <a:xfrm>
            <a:off x="7607808" y="3995928"/>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22"/>
          <p:cNvSpPr/>
          <p:nvPr/>
        </p:nvSpPr>
        <p:spPr>
          <a:xfrm>
            <a:off x="7607808" y="3995928"/>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
        <p:nvSpPr>
          <p:cNvPr id="1573" name="Google Shape;1573;p22"/>
          <p:cNvSpPr/>
          <p:nvPr/>
        </p:nvSpPr>
        <p:spPr>
          <a:xfrm>
            <a:off x="7882128" y="3968496"/>
            <a:ext cx="37426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Monthly matches their rhythm</a:t>
            </a:r>
            <a:endParaRPr b="0" i="0" sz="1150" u="none" cap="none" strike="noStrike">
              <a:solidFill>
                <a:schemeClr val="dk1"/>
              </a:solidFill>
              <a:latin typeface="Calibri"/>
              <a:ea typeface="Calibri"/>
              <a:cs typeface="Calibri"/>
              <a:sym typeface="Calibri"/>
            </a:endParaRPr>
          </a:p>
        </p:txBody>
      </p:sp>
      <p:sp>
        <p:nvSpPr>
          <p:cNvPr id="1574" name="Google Shape;1574;p22"/>
          <p:cNvSpPr/>
          <p:nvPr/>
        </p:nvSpPr>
        <p:spPr>
          <a:xfrm>
            <a:off x="7882128" y="4206240"/>
            <a:ext cx="3742639"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First working day, so the report lands with the same cadence as their own reporting cycle and gets read alongside it.</a:t>
            </a:r>
            <a:endParaRPr b="0" i="0" sz="1000" u="none" cap="none" strike="noStrike">
              <a:solidFill>
                <a:schemeClr val="dk1"/>
              </a:solidFill>
              <a:latin typeface="Calibri"/>
              <a:ea typeface="Calibri"/>
              <a:cs typeface="Calibri"/>
              <a:sym typeface="Calibri"/>
            </a:endParaRPr>
          </a:p>
        </p:txBody>
      </p:sp>
      <p:sp>
        <p:nvSpPr>
          <p:cNvPr id="1575" name="Google Shape;1575;p22"/>
          <p:cNvSpPr/>
          <p:nvPr/>
        </p:nvSpPr>
        <p:spPr>
          <a:xfrm>
            <a:off x="7607808" y="5093208"/>
            <a:ext cx="182880" cy="18288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22"/>
          <p:cNvSpPr/>
          <p:nvPr/>
        </p:nvSpPr>
        <p:spPr>
          <a:xfrm>
            <a:off x="7607808" y="5093208"/>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
        <p:nvSpPr>
          <p:cNvPr id="1577" name="Google Shape;1577;p22"/>
          <p:cNvSpPr/>
          <p:nvPr/>
        </p:nvSpPr>
        <p:spPr>
          <a:xfrm>
            <a:off x="7882128" y="5065776"/>
            <a:ext cx="37426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150"/>
              <a:buFont typeface="Cambria"/>
              <a:buNone/>
            </a:pPr>
            <a:r>
              <a:rPr b="1" i="0" lang="en-US" sz="1150" u="none" cap="none" strike="noStrike">
                <a:solidFill>
                  <a:srgbClr val="1B1F24"/>
                </a:solidFill>
                <a:latin typeface="Cambria"/>
                <a:ea typeface="Cambria"/>
                <a:cs typeface="Cambria"/>
                <a:sym typeface="Cambria"/>
              </a:rPr>
              <a:t>This is the annuity</a:t>
            </a:r>
            <a:endParaRPr b="0" i="0" sz="1150" u="none" cap="none" strike="noStrike">
              <a:solidFill>
                <a:schemeClr val="dk1"/>
              </a:solidFill>
              <a:latin typeface="Calibri"/>
              <a:ea typeface="Calibri"/>
              <a:cs typeface="Calibri"/>
              <a:sym typeface="Calibri"/>
            </a:endParaRPr>
          </a:p>
        </p:txBody>
      </p:sp>
      <p:sp>
        <p:nvSpPr>
          <p:cNvPr id="1578" name="Google Shape;1578;p22"/>
          <p:cNvSpPr/>
          <p:nvPr/>
        </p:nvSpPr>
        <p:spPr>
          <a:xfrm>
            <a:off x="7882128" y="5303520"/>
            <a:ext cx="3742639"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The client has a number they have reported upward. Cancelling means losing visibility of a metric someone already committed to.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3" name="Shape 1583"/>
        <p:cNvGrpSpPr/>
        <p:nvPr/>
      </p:nvGrpSpPr>
      <p:grpSpPr>
        <a:xfrm>
          <a:off x="0" y="0"/>
          <a:ext cx="0" cy="0"/>
          <a:chOff x="0" y="0"/>
          <a:chExt cx="0" cy="0"/>
        </a:xfrm>
      </p:grpSpPr>
      <p:sp>
        <p:nvSpPr>
          <p:cNvPr id="1584" name="Google Shape;1584;p23"/>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What can be done: the remediation playbook</a:t>
            </a:r>
            <a:endParaRPr b="0" i="0" sz="3000" u="none" cap="none" strike="noStrike">
              <a:solidFill>
                <a:schemeClr val="dk1"/>
              </a:solidFill>
              <a:latin typeface="Calibri"/>
              <a:ea typeface="Calibri"/>
              <a:cs typeface="Calibri"/>
              <a:sym typeface="Calibri"/>
            </a:endParaRPr>
          </a:p>
        </p:txBody>
      </p:sp>
      <p:sp>
        <p:nvSpPr>
          <p:cNvPr id="1585" name="Google Shape;1585;p23"/>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Every state has a named fix and a named prevention. Fixing without preventing buys about six months.</a:t>
            </a:r>
            <a:endParaRPr b="0" i="0" sz="1350" u="none" cap="none" strike="noStrike">
              <a:solidFill>
                <a:schemeClr val="dk1"/>
              </a:solidFill>
              <a:latin typeface="Calibri"/>
              <a:ea typeface="Calibri"/>
              <a:cs typeface="Calibri"/>
              <a:sym typeface="Calibri"/>
            </a:endParaRPr>
          </a:p>
        </p:txBody>
      </p:sp>
      <p:sp>
        <p:nvSpPr>
          <p:cNvPr id="1586" name="Google Shape;1586;p23"/>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587" name="Google Shape;1587;p23"/>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23</a:t>
            </a:r>
            <a:endParaRPr b="0" i="0" sz="950" u="none" cap="none" strike="noStrike">
              <a:solidFill>
                <a:schemeClr val="dk1"/>
              </a:solidFill>
              <a:latin typeface="Calibri"/>
              <a:ea typeface="Calibri"/>
              <a:cs typeface="Calibri"/>
              <a:sym typeface="Calibri"/>
            </a:endParaRPr>
          </a:p>
        </p:txBody>
      </p:sp>
      <p:graphicFrame>
        <p:nvGraphicFramePr>
          <p:cNvPr id="1588" name="Google Shape;1588;p23"/>
          <p:cNvGraphicFramePr/>
          <p:nvPr/>
        </p:nvGraphicFramePr>
        <p:xfrm>
          <a:off x="566928" y="1499616"/>
          <a:ext cx="3000000" cy="3000000"/>
        </p:xfrm>
        <a:graphic>
          <a:graphicData uri="http://schemas.openxmlformats.org/drawingml/2006/table">
            <a:tbl>
              <a:tblPr>
                <a:noFill/>
                <a:tableStyleId>{B0F36C2E-0004-4DC9-A81D-5D709A412D0E}</a:tableStyleId>
              </a:tblPr>
              <a:tblGrid>
                <a:gridCol w="1691650"/>
                <a:gridCol w="2514600"/>
                <a:gridCol w="3337550"/>
                <a:gridCol w="3511300"/>
              </a:tblGrid>
              <a:tr h="402325">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State or issue</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Usual root cause</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Immediate fix</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Permanent prevention</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r>
              <a:tr h="402325">
                <a:tc>
                  <a:txBody>
                    <a:bodyPr/>
                    <a:lstStyle/>
                    <a:p>
                      <a:pPr indent="0" lvl="0" marL="0" marR="0" rtl="0" algn="l">
                        <a:spcBef>
                          <a:spcPts val="0"/>
                        </a:spcBef>
                        <a:spcAft>
                          <a:spcPts val="0"/>
                        </a:spcAft>
                        <a:buClr>
                          <a:srgbClr val="1B1F24"/>
                        </a:buClr>
                        <a:buSzPts val="889"/>
                        <a:buFont typeface="Calibri"/>
                        <a:buNone/>
                      </a:pPr>
                      <a:r>
                        <a:rPr b="1" lang="en-US" sz="890" u="none" cap="none" strike="noStrike">
                          <a:solidFill>
                            <a:srgbClr val="1B1F24"/>
                          </a:solidFill>
                          <a:latin typeface="Calibri"/>
                          <a:ea typeface="Calibri"/>
                          <a:cs typeface="Calibri"/>
                          <a:sym typeface="Calibri"/>
                        </a:rPr>
                        <a:t>Incomplete</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No required field enforcement by stage</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Bulk enrichment from an existing source, backfill script, guided cleanup list per owner</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Required fields by stage, blueprint gating, layout rules, mandatory on transition</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402325">
                <a:tc>
                  <a:txBody>
                    <a:bodyPr/>
                    <a:lstStyle/>
                    <a:p>
                      <a:pPr indent="0" lvl="0" marL="0" marR="0" rtl="0" algn="l">
                        <a:spcBef>
                          <a:spcPts val="0"/>
                        </a:spcBef>
                        <a:spcAft>
                          <a:spcPts val="0"/>
                        </a:spcAft>
                        <a:buClr>
                          <a:srgbClr val="1B1F24"/>
                        </a:buClr>
                        <a:buSzPts val="889"/>
                        <a:buFont typeface="Calibri"/>
                        <a:buNone/>
                      </a:pPr>
                      <a:r>
                        <a:rPr b="1" lang="en-US" sz="890" u="none" cap="none" strike="noStrike">
                          <a:solidFill>
                            <a:srgbClr val="1B1F24"/>
                          </a:solidFill>
                          <a:latin typeface="Calibri"/>
                          <a:ea typeface="Calibri"/>
                          <a:cs typeface="Calibri"/>
                          <a:sym typeface="Calibri"/>
                        </a:rPr>
                        <a:t>Inaccurate format</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Free text entry with no mask or validation</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Normalisation script for phone, email, GST, PAN and pincode, run with preview</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Client script input masks, validation rules, picklists in place of free text</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B1F24"/>
                        </a:buClr>
                        <a:buSzPts val="889"/>
                        <a:buFont typeface="Calibri"/>
                        <a:buNone/>
                      </a:pPr>
                      <a:r>
                        <a:rPr b="1" lang="en-US" sz="890" u="none" cap="none" strike="noStrike">
                          <a:solidFill>
                            <a:srgbClr val="1B1F24"/>
                          </a:solidFill>
                          <a:latin typeface="Calibri"/>
                          <a:ea typeface="Calibri"/>
                          <a:cs typeface="Calibri"/>
                          <a:sym typeface="Calibri"/>
                        </a:rPr>
                        <a:t>Inaccurate logic</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No cross field rule, so contradictions are storable</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Bulk correction with review for close dates, negative amounts, impossible sequences</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Validation rules, blueprint transition conditions, workflow guards</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402325">
                <a:tc>
                  <a:txBody>
                    <a:bodyPr/>
                    <a:lstStyle/>
                    <a:p>
                      <a:pPr indent="0" lvl="0" marL="0" marR="0" rtl="0" algn="l">
                        <a:spcBef>
                          <a:spcPts val="0"/>
                        </a:spcBef>
                        <a:spcAft>
                          <a:spcPts val="0"/>
                        </a:spcAft>
                        <a:buClr>
                          <a:srgbClr val="1B1F24"/>
                        </a:buClr>
                        <a:buSzPts val="889"/>
                        <a:buFont typeface="Calibri"/>
                        <a:buNone/>
                      </a:pPr>
                      <a:r>
                        <a:rPr b="1" lang="en-US" sz="890" u="none" cap="none" strike="noStrike">
                          <a:solidFill>
                            <a:srgbClr val="1B1F24"/>
                          </a:solidFill>
                          <a:latin typeface="Calibri"/>
                          <a:ea typeface="Calibri"/>
                          <a:cs typeface="Calibri"/>
                          <a:sym typeface="Calibri"/>
                        </a:rPr>
                        <a:t>Suspicious</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CRM entry tied to a target, or a bulk import with no checks</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Manual audit of the top offenders with the team lead, not a script</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Entry velocity checks at creation, plausibility rules, and removing the incentive that caused it</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B1F24"/>
                        </a:buClr>
                        <a:buSzPts val="889"/>
                        <a:buFont typeface="Calibri"/>
                        <a:buNone/>
                      </a:pPr>
                      <a:r>
                        <a:rPr b="1" lang="en-US" sz="890" u="none" cap="none" strike="noStrike">
                          <a:solidFill>
                            <a:srgbClr val="1B1F24"/>
                          </a:solidFill>
                          <a:latin typeface="Calibri"/>
                          <a:ea typeface="Calibri"/>
                          <a:cs typeface="Calibri"/>
                          <a:sym typeface="Calibri"/>
                        </a:rPr>
                        <a:t>Suspected duplicate</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No duplicate check at the point of entry</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Review queue with side by side compare, handled by Accelerator 02</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Real time duplicate scoring on the create form, on import and on the API</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402325">
                <a:tc>
                  <a:txBody>
                    <a:bodyPr/>
                    <a:lstStyle/>
                    <a:p>
                      <a:pPr indent="0" lvl="0" marL="0" marR="0" rtl="0" algn="l">
                        <a:spcBef>
                          <a:spcPts val="0"/>
                        </a:spcBef>
                        <a:spcAft>
                          <a:spcPts val="0"/>
                        </a:spcAft>
                        <a:buClr>
                          <a:srgbClr val="1B1F24"/>
                        </a:buClr>
                        <a:buSzPts val="889"/>
                        <a:buFont typeface="Calibri"/>
                        <a:buNone/>
                      </a:pPr>
                      <a:r>
                        <a:rPr b="1" lang="en-US" sz="890" u="none" cap="none" strike="noStrike">
                          <a:solidFill>
                            <a:srgbClr val="1B1F24"/>
                          </a:solidFill>
                          <a:latin typeface="Calibri"/>
                          <a:ea typeface="Calibri"/>
                          <a:cs typeface="Calibri"/>
                          <a:sym typeface="Calibri"/>
                        </a:rPr>
                        <a:t>Confirmed duplicate</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No unique key on a strong identifier</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Governed auto merge under a signed survivorship policy, Accelerator 02</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Unique constraint on the strong identifier, import guard, web form guard</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402325">
                <a:tc>
                  <a:txBody>
                    <a:bodyPr/>
                    <a:lstStyle/>
                    <a:p>
                      <a:pPr indent="0" lvl="0" marL="0" marR="0" rtl="0" algn="l">
                        <a:spcBef>
                          <a:spcPts val="0"/>
                        </a:spcBef>
                        <a:spcAft>
                          <a:spcPts val="0"/>
                        </a:spcAft>
                        <a:buClr>
                          <a:srgbClr val="1B1F24"/>
                        </a:buClr>
                        <a:buSzPts val="889"/>
                        <a:buFont typeface="Calibri"/>
                        <a:buNone/>
                      </a:pPr>
                      <a:r>
                        <a:rPr b="1" lang="en-US" sz="890" u="none" cap="none" strike="noStrike">
                          <a:solidFill>
                            <a:srgbClr val="1B1F24"/>
                          </a:solidFill>
                          <a:latin typeface="Calibri"/>
                          <a:ea typeface="Calibri"/>
                          <a:cs typeface="Calibri"/>
                          <a:sym typeface="Calibri"/>
                        </a:rPr>
                        <a:t>Stale</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Nobody owns ageing records</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Bulk close or archive with owner review, one list per owner</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Ageing SLA workflow, escalation to manager, dashboard on the owner's home page</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402325">
                <a:tc>
                  <a:txBody>
                    <a:bodyPr/>
                    <a:lstStyle/>
                    <a:p>
                      <a:pPr indent="0" lvl="0" marL="0" marR="0" rtl="0" algn="l">
                        <a:spcBef>
                          <a:spcPts val="0"/>
                        </a:spcBef>
                        <a:spcAft>
                          <a:spcPts val="0"/>
                        </a:spcAft>
                        <a:buClr>
                          <a:srgbClr val="1B1F24"/>
                        </a:buClr>
                        <a:buSzPts val="889"/>
                        <a:buFont typeface="Calibri"/>
                        <a:buNone/>
                      </a:pPr>
                      <a:r>
                        <a:rPr b="1" lang="en-US" sz="890" u="none" cap="none" strike="noStrike">
                          <a:solidFill>
                            <a:srgbClr val="1B1F24"/>
                          </a:solidFill>
                          <a:latin typeface="Calibri"/>
                          <a:ea typeface="Calibri"/>
                          <a:cs typeface="Calibri"/>
                          <a:sym typeface="Calibri"/>
                        </a:rPr>
                        <a:t>Config debt</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No lifecycle on fields, workflows and layouts</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Field and workflow retirement sprint with usage evidence from the scan</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889"/>
                        <a:buFont typeface="Calibri"/>
                        <a:buNone/>
                      </a:pPr>
                      <a:r>
                        <a:rPr lang="en-US" sz="890" u="none" cap="none" strike="noStrike">
                          <a:solidFill>
                            <a:srgbClr val="1B1F24"/>
                          </a:solidFill>
                          <a:latin typeface="Calibri"/>
                          <a:ea typeface="Calibri"/>
                          <a:cs typeface="Calibri"/>
                          <a:sym typeface="Calibri"/>
                        </a:rPr>
                        <a:t>Change control on field creation, quarterly usage review built into the retainer</a:t>
                      </a:r>
                      <a:endParaRPr sz="89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bl>
          </a:graphicData>
        </a:graphic>
      </p:graphicFrame>
      <p:sp>
        <p:nvSpPr>
          <p:cNvPr id="1589" name="Google Shape;1589;p23"/>
          <p:cNvSpPr/>
          <p:nvPr/>
        </p:nvSpPr>
        <p:spPr>
          <a:xfrm>
            <a:off x="566928" y="5760720"/>
            <a:ext cx="11057839" cy="457200"/>
          </a:xfrm>
          <a:prstGeom prst="roundRect">
            <a:avLst>
              <a:gd fmla="val 12000"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23"/>
          <p:cNvSpPr/>
          <p:nvPr/>
        </p:nvSpPr>
        <p:spPr>
          <a:xfrm>
            <a:off x="658368" y="5760720"/>
            <a:ext cx="1087495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The fourth row is the one to handle carefully. Suspicious records are almost never a technology problem. They are a symptom of how the team is measured, and the client has to hear that from us before they hear it from their own data.</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5" name="Shape 1595"/>
        <p:cNvGrpSpPr/>
        <p:nvPr/>
      </p:nvGrpSpPr>
      <p:grpSpPr>
        <a:xfrm>
          <a:off x="0" y="0"/>
          <a:ext cx="0" cy="0"/>
          <a:chOff x="0" y="0"/>
          <a:chExt cx="0" cy="0"/>
        </a:xfrm>
      </p:grpSpPr>
      <p:sp>
        <p:nvSpPr>
          <p:cNvPr id="1596" name="Google Shape;1596;p24"/>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Three waves, in this order</a:t>
            </a:r>
            <a:endParaRPr b="0" i="0" sz="3000" u="none" cap="none" strike="noStrike">
              <a:solidFill>
                <a:schemeClr val="dk1"/>
              </a:solidFill>
              <a:latin typeface="Calibri"/>
              <a:ea typeface="Calibri"/>
              <a:cs typeface="Calibri"/>
              <a:sym typeface="Calibri"/>
            </a:endParaRPr>
          </a:p>
        </p:txBody>
      </p:sp>
      <p:sp>
        <p:nvSpPr>
          <p:cNvPr id="1597" name="Google Shape;1597;p24"/>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Mixing these is the single most common reason a remediation project stalls at sixty percent.</a:t>
            </a:r>
            <a:endParaRPr b="0" i="0" sz="1350" u="none" cap="none" strike="noStrike">
              <a:solidFill>
                <a:schemeClr val="dk1"/>
              </a:solidFill>
              <a:latin typeface="Calibri"/>
              <a:ea typeface="Calibri"/>
              <a:cs typeface="Calibri"/>
              <a:sym typeface="Calibri"/>
            </a:endParaRPr>
          </a:p>
        </p:txBody>
      </p:sp>
      <p:sp>
        <p:nvSpPr>
          <p:cNvPr id="1598" name="Google Shape;1598;p24"/>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599" name="Google Shape;1599;p24"/>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24</a:t>
            </a:r>
            <a:endParaRPr b="0" i="0" sz="950" u="none" cap="none" strike="noStrike">
              <a:solidFill>
                <a:schemeClr val="dk1"/>
              </a:solidFill>
              <a:latin typeface="Calibri"/>
              <a:ea typeface="Calibri"/>
              <a:cs typeface="Calibri"/>
              <a:sym typeface="Calibri"/>
            </a:endParaRPr>
          </a:p>
        </p:txBody>
      </p:sp>
      <p:sp>
        <p:nvSpPr>
          <p:cNvPr id="1600" name="Google Shape;1600;p24"/>
          <p:cNvSpPr/>
          <p:nvPr/>
        </p:nvSpPr>
        <p:spPr>
          <a:xfrm>
            <a:off x="566928" y="1554480"/>
            <a:ext cx="3539642" cy="2788920"/>
          </a:xfrm>
          <a:prstGeom prst="roundRect">
            <a:avLst>
              <a:gd fmla="val 2951"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24"/>
          <p:cNvSpPr/>
          <p:nvPr/>
        </p:nvSpPr>
        <p:spPr>
          <a:xfrm>
            <a:off x="786384" y="1737360"/>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24"/>
          <p:cNvSpPr/>
          <p:nvPr/>
        </p:nvSpPr>
        <p:spPr>
          <a:xfrm>
            <a:off x="786384" y="17373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603" name="Google Shape;1603;p24"/>
          <p:cNvSpPr/>
          <p:nvPr/>
        </p:nvSpPr>
        <p:spPr>
          <a:xfrm>
            <a:off x="786384" y="2249424"/>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Mechanical</a:t>
            </a:r>
            <a:endParaRPr b="0" i="0" sz="1500" u="none" cap="none" strike="noStrike">
              <a:solidFill>
                <a:schemeClr val="dk1"/>
              </a:solidFill>
              <a:latin typeface="Calibri"/>
              <a:ea typeface="Calibri"/>
              <a:cs typeface="Calibri"/>
              <a:sym typeface="Calibri"/>
            </a:endParaRPr>
          </a:p>
        </p:txBody>
      </p:sp>
      <p:sp>
        <p:nvSpPr>
          <p:cNvPr id="1604" name="Google Shape;1604;p24"/>
          <p:cNvSpPr/>
          <p:nvPr/>
        </p:nvSpPr>
        <p:spPr>
          <a:xfrm>
            <a:off x="786384" y="2743200"/>
            <a:ext cx="3100730" cy="14356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Fixes a script can make with no human decision. Phone and email normalisation, checksum corrections, case and whitespace, inactive owner reassignment, orphan relinking where the parent is unambiguous.</a:t>
            </a:r>
            <a:endParaRPr b="0" i="0" sz="11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Runs with a preview and a snapshot. Typically two to four days and worth fifteen to twenty points.</a:t>
            </a:r>
            <a:endParaRPr b="0" i="0" sz="1150" u="none" cap="none" strike="noStrike">
              <a:solidFill>
                <a:schemeClr val="dk1"/>
              </a:solidFill>
              <a:latin typeface="Calibri"/>
              <a:ea typeface="Calibri"/>
              <a:cs typeface="Calibri"/>
              <a:sym typeface="Calibri"/>
            </a:endParaRPr>
          </a:p>
        </p:txBody>
      </p:sp>
      <p:sp>
        <p:nvSpPr>
          <p:cNvPr id="1605" name="Google Shape;1605;p24"/>
          <p:cNvSpPr/>
          <p:nvPr/>
        </p:nvSpPr>
        <p:spPr>
          <a:xfrm>
            <a:off x="4326026" y="1554480"/>
            <a:ext cx="3539642" cy="2788920"/>
          </a:xfrm>
          <a:prstGeom prst="roundRect">
            <a:avLst>
              <a:gd fmla="val 2951"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24"/>
          <p:cNvSpPr/>
          <p:nvPr/>
        </p:nvSpPr>
        <p:spPr>
          <a:xfrm>
            <a:off x="4545482" y="1737360"/>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24"/>
          <p:cNvSpPr/>
          <p:nvPr/>
        </p:nvSpPr>
        <p:spPr>
          <a:xfrm>
            <a:off x="4545482" y="17373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608" name="Google Shape;1608;p24"/>
          <p:cNvSpPr/>
          <p:nvPr/>
        </p:nvSpPr>
        <p:spPr>
          <a:xfrm>
            <a:off x="4545482" y="2249424"/>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Assisted</a:t>
            </a:r>
            <a:endParaRPr b="0" i="0" sz="1500" u="none" cap="none" strike="noStrike">
              <a:solidFill>
                <a:schemeClr val="dk1"/>
              </a:solidFill>
              <a:latin typeface="Calibri"/>
              <a:ea typeface="Calibri"/>
              <a:cs typeface="Calibri"/>
              <a:sym typeface="Calibri"/>
            </a:endParaRPr>
          </a:p>
        </p:txBody>
      </p:sp>
      <p:sp>
        <p:nvSpPr>
          <p:cNvPr id="1609" name="Google Shape;1609;p24"/>
          <p:cNvSpPr/>
          <p:nvPr/>
        </p:nvSpPr>
        <p:spPr>
          <a:xfrm>
            <a:off x="4545482" y="2743200"/>
            <a:ext cx="3100730" cy="14356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Needs a person to decide but the tool does the work. Duplicate merges, enrichment where the source is inferred, overdue deals needing an owner decision, suspicious records needing an audit.</a:t>
            </a:r>
            <a:endParaRPr b="0" i="0" sz="11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Measured in operator hours, not developer days. Typically one to three weeks with a client side operator.</a:t>
            </a:r>
            <a:endParaRPr b="0" i="0" sz="1150" u="none" cap="none" strike="noStrike">
              <a:solidFill>
                <a:schemeClr val="dk1"/>
              </a:solidFill>
              <a:latin typeface="Calibri"/>
              <a:ea typeface="Calibri"/>
              <a:cs typeface="Calibri"/>
              <a:sym typeface="Calibri"/>
            </a:endParaRPr>
          </a:p>
        </p:txBody>
      </p:sp>
      <p:sp>
        <p:nvSpPr>
          <p:cNvPr id="1610" name="Google Shape;1610;p24"/>
          <p:cNvSpPr/>
          <p:nvPr/>
        </p:nvSpPr>
        <p:spPr>
          <a:xfrm>
            <a:off x="8085125" y="1554480"/>
            <a:ext cx="3539642" cy="2788920"/>
          </a:xfrm>
          <a:prstGeom prst="roundRect">
            <a:avLst>
              <a:gd fmla="val 2951"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24"/>
          <p:cNvSpPr/>
          <p:nvPr/>
        </p:nvSpPr>
        <p:spPr>
          <a:xfrm>
            <a:off x="8304581" y="1737360"/>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24"/>
          <p:cNvSpPr/>
          <p:nvPr/>
        </p:nvSpPr>
        <p:spPr>
          <a:xfrm>
            <a:off x="8304581" y="17373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613" name="Google Shape;1613;p24"/>
          <p:cNvSpPr/>
          <p:nvPr/>
        </p:nvSpPr>
        <p:spPr>
          <a:xfrm>
            <a:off x="8304581" y="2249424"/>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Process</a:t>
            </a:r>
            <a:endParaRPr b="0" i="0" sz="1500" u="none" cap="none" strike="noStrike">
              <a:solidFill>
                <a:schemeClr val="dk1"/>
              </a:solidFill>
              <a:latin typeface="Calibri"/>
              <a:ea typeface="Calibri"/>
              <a:cs typeface="Calibri"/>
              <a:sym typeface="Calibri"/>
            </a:endParaRPr>
          </a:p>
        </p:txBody>
      </p:sp>
      <p:sp>
        <p:nvSpPr>
          <p:cNvPr id="1614" name="Google Shape;1614;p24"/>
          <p:cNvSpPr/>
          <p:nvPr/>
        </p:nvSpPr>
        <p:spPr>
          <a:xfrm>
            <a:off x="8304581" y="2743200"/>
            <a:ext cx="3100730" cy="143560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Needs the client to change how they work. Required fields by stage, validation rules, blueprint gating, duplicate prevention, ageing SLAs, and whatever incentive produced the suspicious records.</a:t>
            </a:r>
            <a:endParaRPr b="0" i="0" sz="11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This is the wave that holds the score up. It is also the one clients want to skip.</a:t>
            </a:r>
            <a:endParaRPr b="0" i="0" sz="1150" u="none" cap="none" strike="noStrike">
              <a:solidFill>
                <a:schemeClr val="dk1"/>
              </a:solidFill>
              <a:latin typeface="Calibri"/>
              <a:ea typeface="Calibri"/>
              <a:cs typeface="Calibri"/>
              <a:sym typeface="Calibri"/>
            </a:endParaRPr>
          </a:p>
        </p:txBody>
      </p:sp>
      <p:sp>
        <p:nvSpPr>
          <p:cNvPr id="1615" name="Google Shape;1615;p24"/>
          <p:cNvSpPr/>
          <p:nvPr/>
        </p:nvSpPr>
        <p:spPr>
          <a:xfrm>
            <a:off x="566928" y="4590288"/>
            <a:ext cx="11057839" cy="713232"/>
          </a:xfrm>
          <a:prstGeom prst="roundRect">
            <a:avLst>
              <a:gd fmla="val 8974"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24"/>
          <p:cNvSpPr/>
          <p:nvPr/>
        </p:nvSpPr>
        <p:spPr>
          <a:xfrm>
            <a:off x="713232" y="4764024"/>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24"/>
          <p:cNvSpPr/>
          <p:nvPr/>
        </p:nvSpPr>
        <p:spPr>
          <a:xfrm>
            <a:off x="713232" y="476402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618" name="Google Shape;1618;p24"/>
          <p:cNvSpPr/>
          <p:nvPr/>
        </p:nvSpPr>
        <p:spPr>
          <a:xfrm>
            <a:off x="1188720" y="4636008"/>
            <a:ext cx="27432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Why the order matters</a:t>
            </a:r>
            <a:endParaRPr b="0" i="0" sz="1300" u="none" cap="none" strike="noStrike">
              <a:solidFill>
                <a:schemeClr val="dk1"/>
              </a:solidFill>
              <a:latin typeface="Calibri"/>
              <a:ea typeface="Calibri"/>
              <a:cs typeface="Calibri"/>
              <a:sym typeface="Calibri"/>
            </a:endParaRPr>
          </a:p>
        </p:txBody>
      </p:sp>
      <p:sp>
        <p:nvSpPr>
          <p:cNvPr id="1619" name="Google Shape;1619;p24"/>
          <p:cNvSpPr/>
          <p:nvPr/>
        </p:nvSpPr>
        <p:spPr>
          <a:xfrm>
            <a:off x="4069080" y="4636008"/>
            <a:ext cx="7372807" cy="62179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Wave one produces a visible score jump in the first week, which buys the political room for waves two and three. Starting with wave three produces four weeks of workshops and no visible movement, and the project loses its sponsor.</a:t>
            </a:r>
            <a:endParaRPr b="0" i="0" sz="1150" u="none" cap="none" strike="noStrike">
              <a:solidFill>
                <a:schemeClr val="dk1"/>
              </a:solidFill>
              <a:latin typeface="Calibri"/>
              <a:ea typeface="Calibri"/>
              <a:cs typeface="Calibri"/>
              <a:sym typeface="Calibri"/>
            </a:endParaRPr>
          </a:p>
        </p:txBody>
      </p:sp>
      <p:sp>
        <p:nvSpPr>
          <p:cNvPr id="1620" name="Google Shape;1620;p24"/>
          <p:cNvSpPr/>
          <p:nvPr/>
        </p:nvSpPr>
        <p:spPr>
          <a:xfrm>
            <a:off x="566928" y="5413248"/>
            <a:ext cx="11057839" cy="713232"/>
          </a:xfrm>
          <a:prstGeom prst="roundRect">
            <a:avLst>
              <a:gd fmla="val 8974"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24"/>
          <p:cNvSpPr/>
          <p:nvPr/>
        </p:nvSpPr>
        <p:spPr>
          <a:xfrm>
            <a:off x="713232" y="5586984"/>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24"/>
          <p:cNvSpPr/>
          <p:nvPr/>
        </p:nvSpPr>
        <p:spPr>
          <a:xfrm>
            <a:off x="713232" y="558698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623" name="Google Shape;1623;p24"/>
          <p:cNvSpPr/>
          <p:nvPr/>
        </p:nvSpPr>
        <p:spPr>
          <a:xfrm>
            <a:off x="1188720" y="5458968"/>
            <a:ext cx="274320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Why wave three is contractual</a:t>
            </a:r>
            <a:endParaRPr b="0" i="0" sz="1300" u="none" cap="none" strike="noStrike">
              <a:solidFill>
                <a:schemeClr val="dk1"/>
              </a:solidFill>
              <a:latin typeface="Calibri"/>
              <a:ea typeface="Calibri"/>
              <a:cs typeface="Calibri"/>
              <a:sym typeface="Calibri"/>
            </a:endParaRPr>
          </a:p>
        </p:txBody>
      </p:sp>
      <p:sp>
        <p:nvSpPr>
          <p:cNvPr id="1624" name="Google Shape;1624;p24"/>
          <p:cNvSpPr/>
          <p:nvPr/>
        </p:nvSpPr>
        <p:spPr>
          <a:xfrm>
            <a:off x="4069080" y="5458968"/>
            <a:ext cx="7372807" cy="62179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Write into the statement of work that the score guarantee only applies if wave three is delivered. Without it, the score falls back within two quarters and the client concludes the cleanup did not work.</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A30"/>
        </a:solidFill>
      </p:bgPr>
    </p:bg>
    <p:spTree>
      <p:nvGrpSpPr>
        <p:cNvPr id="1629" name="Shape 1629"/>
        <p:cNvGrpSpPr/>
        <p:nvPr/>
      </p:nvGrpSpPr>
      <p:grpSpPr>
        <a:xfrm>
          <a:off x="0" y="0"/>
          <a:ext cx="0" cy="0"/>
          <a:chOff x="0" y="0"/>
          <a:chExt cx="0" cy="0"/>
        </a:xfrm>
      </p:grpSpPr>
      <p:sp>
        <p:nvSpPr>
          <p:cNvPr id="1630" name="Google Shape;1630;p25"/>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Prevention: how the score stays up</a:t>
            </a:r>
            <a:endParaRPr b="0" i="0" sz="3000" u="none" cap="none" strike="noStrike">
              <a:solidFill>
                <a:schemeClr val="dk1"/>
              </a:solidFill>
              <a:latin typeface="Calibri"/>
              <a:ea typeface="Calibri"/>
              <a:cs typeface="Calibri"/>
              <a:sym typeface="Calibri"/>
            </a:endParaRPr>
          </a:p>
        </p:txBody>
      </p:sp>
      <p:sp>
        <p:nvSpPr>
          <p:cNvPr id="1631" name="Google Shape;1631;p25"/>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4E6"/>
              </a:buClr>
              <a:buSzPts val="1350"/>
              <a:buFont typeface="Calibri"/>
              <a:buNone/>
            </a:pPr>
            <a:r>
              <a:rPr b="0" i="1" lang="en-US" sz="1350" u="none" cap="none" strike="noStrike">
                <a:solidFill>
                  <a:srgbClr val="CFE4E6"/>
                </a:solidFill>
                <a:latin typeface="Calibri"/>
                <a:ea typeface="Calibri"/>
                <a:cs typeface="Calibri"/>
                <a:sym typeface="Calibri"/>
              </a:rPr>
              <a:t>Six controls. Each one maps to a state, and each one is a separately sellable piece of work.</a:t>
            </a:r>
            <a:endParaRPr b="0" i="0" sz="1350" u="none" cap="none" strike="noStrike">
              <a:solidFill>
                <a:schemeClr val="dk1"/>
              </a:solidFill>
              <a:latin typeface="Calibri"/>
              <a:ea typeface="Calibri"/>
              <a:cs typeface="Calibri"/>
              <a:sym typeface="Calibri"/>
            </a:endParaRPr>
          </a:p>
        </p:txBody>
      </p:sp>
      <p:sp>
        <p:nvSpPr>
          <p:cNvPr id="1632" name="Google Shape;1632;p25"/>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B8BD"/>
              </a:buClr>
              <a:buSzPts val="950"/>
              <a:buFont typeface="Calibri"/>
              <a:buNone/>
            </a:pPr>
            <a:r>
              <a:rPr b="0" i="0" lang="en-US" sz="950" u="none" cap="none" strike="noStrike">
                <a:solidFill>
                  <a:srgbClr val="7FB8BD"/>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633" name="Google Shape;1633;p25"/>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FB8BD"/>
              </a:buClr>
              <a:buSzPts val="950"/>
              <a:buFont typeface="Calibri"/>
              <a:buNone/>
            </a:pPr>
            <a:r>
              <a:rPr b="0" i="0" lang="en-US" sz="950" u="none" cap="none" strike="noStrike">
                <a:solidFill>
                  <a:srgbClr val="7FB8BD"/>
                </a:solidFill>
                <a:latin typeface="Calibri"/>
                <a:ea typeface="Calibri"/>
                <a:cs typeface="Calibri"/>
                <a:sym typeface="Calibri"/>
              </a:rPr>
              <a:t>25</a:t>
            </a:r>
            <a:endParaRPr b="0" i="0" sz="950" u="none" cap="none" strike="noStrike">
              <a:solidFill>
                <a:schemeClr val="dk1"/>
              </a:solidFill>
              <a:latin typeface="Calibri"/>
              <a:ea typeface="Calibri"/>
              <a:cs typeface="Calibri"/>
              <a:sym typeface="Calibri"/>
            </a:endParaRPr>
          </a:p>
        </p:txBody>
      </p:sp>
      <p:sp>
        <p:nvSpPr>
          <p:cNvPr id="1634" name="Google Shape;1634;p25"/>
          <p:cNvSpPr/>
          <p:nvPr/>
        </p:nvSpPr>
        <p:spPr>
          <a:xfrm>
            <a:off x="566928" y="1499616"/>
            <a:ext cx="3539642" cy="2011680"/>
          </a:xfrm>
          <a:prstGeom prst="roundRect">
            <a:avLst>
              <a:gd fmla="val 4091"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25"/>
          <p:cNvSpPr/>
          <p:nvPr/>
        </p:nvSpPr>
        <p:spPr>
          <a:xfrm>
            <a:off x="786384" y="1682496"/>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25"/>
          <p:cNvSpPr/>
          <p:nvPr/>
        </p:nvSpPr>
        <p:spPr>
          <a:xfrm>
            <a:off x="786384" y="1682496"/>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637" name="Google Shape;1637;p25"/>
          <p:cNvSpPr/>
          <p:nvPr/>
        </p:nvSpPr>
        <p:spPr>
          <a:xfrm>
            <a:off x="786384" y="2194560"/>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Required by stage</a:t>
            </a:r>
            <a:endParaRPr b="0" i="0" sz="1500" u="none" cap="none" strike="noStrike">
              <a:solidFill>
                <a:schemeClr val="dk1"/>
              </a:solidFill>
              <a:latin typeface="Calibri"/>
              <a:ea typeface="Calibri"/>
              <a:cs typeface="Calibri"/>
              <a:sym typeface="Calibri"/>
            </a:endParaRPr>
          </a:p>
        </p:txBody>
      </p:sp>
      <p:sp>
        <p:nvSpPr>
          <p:cNvPr id="1638" name="Google Shape;1638;p25"/>
          <p:cNvSpPr/>
          <p:nvPr/>
        </p:nvSpPr>
        <p:spPr>
          <a:xfrm>
            <a:off x="786384" y="2688336"/>
            <a:ext cx="3100730"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FE4E6"/>
              </a:buClr>
              <a:buSzPts val="1100"/>
              <a:buFont typeface="Calibri"/>
              <a:buNone/>
            </a:pPr>
            <a:r>
              <a:rPr b="0" i="0" lang="en-US" sz="1100" u="none" cap="none" strike="noStrike">
                <a:solidFill>
                  <a:srgbClr val="CFE4E6"/>
                </a:solidFill>
                <a:latin typeface="Calibri"/>
                <a:ea typeface="Calibri"/>
                <a:cs typeface="Calibri"/>
                <a:sym typeface="Calibri"/>
              </a:rPr>
              <a:t>Fields become mandatory as a record progresses, enforced by blueprint rather than by asking people nicely.</a:t>
            </a:r>
            <a:endParaRPr b="0" i="0" sz="1100" u="none" cap="none" strike="noStrike">
              <a:solidFill>
                <a:schemeClr val="dk1"/>
              </a:solidFill>
              <a:latin typeface="Calibri"/>
              <a:ea typeface="Calibri"/>
              <a:cs typeface="Calibri"/>
              <a:sym typeface="Calibri"/>
            </a:endParaRPr>
          </a:p>
        </p:txBody>
      </p:sp>
      <p:sp>
        <p:nvSpPr>
          <p:cNvPr id="1639" name="Google Shape;1639;p25"/>
          <p:cNvSpPr/>
          <p:nvPr/>
        </p:nvSpPr>
        <p:spPr>
          <a:xfrm>
            <a:off x="4326026" y="1499616"/>
            <a:ext cx="3539642" cy="2011680"/>
          </a:xfrm>
          <a:prstGeom prst="roundRect">
            <a:avLst>
              <a:gd fmla="val 4091"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25"/>
          <p:cNvSpPr/>
          <p:nvPr/>
        </p:nvSpPr>
        <p:spPr>
          <a:xfrm>
            <a:off x="4545482" y="1682496"/>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25"/>
          <p:cNvSpPr/>
          <p:nvPr/>
        </p:nvSpPr>
        <p:spPr>
          <a:xfrm>
            <a:off x="4545482" y="1682496"/>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642" name="Google Shape;1642;p25"/>
          <p:cNvSpPr/>
          <p:nvPr/>
        </p:nvSpPr>
        <p:spPr>
          <a:xfrm>
            <a:off x="4545482" y="2194560"/>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Input masks</a:t>
            </a:r>
            <a:endParaRPr b="0" i="0" sz="1500" u="none" cap="none" strike="noStrike">
              <a:solidFill>
                <a:schemeClr val="dk1"/>
              </a:solidFill>
              <a:latin typeface="Calibri"/>
              <a:ea typeface="Calibri"/>
              <a:cs typeface="Calibri"/>
              <a:sym typeface="Calibri"/>
            </a:endParaRPr>
          </a:p>
        </p:txBody>
      </p:sp>
      <p:sp>
        <p:nvSpPr>
          <p:cNvPr id="1643" name="Google Shape;1643;p25"/>
          <p:cNvSpPr/>
          <p:nvPr/>
        </p:nvSpPr>
        <p:spPr>
          <a:xfrm>
            <a:off x="4545482" y="2688336"/>
            <a:ext cx="3100730"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FE4E6"/>
              </a:buClr>
              <a:buSzPts val="1100"/>
              <a:buFont typeface="Calibri"/>
              <a:buNone/>
            </a:pPr>
            <a:r>
              <a:rPr b="0" i="0" lang="en-US" sz="1100" u="none" cap="none" strike="noStrike">
                <a:solidFill>
                  <a:srgbClr val="CFE4E6"/>
                </a:solidFill>
                <a:latin typeface="Calibri"/>
                <a:ea typeface="Calibri"/>
                <a:cs typeface="Calibri"/>
                <a:sym typeface="Calibri"/>
              </a:rPr>
              <a:t>Client scripts on phone, email, GST and pincode fields. Wrong formats become impossible to save rather than reported later.</a:t>
            </a:r>
            <a:endParaRPr b="0" i="0" sz="1100" u="none" cap="none" strike="noStrike">
              <a:solidFill>
                <a:schemeClr val="dk1"/>
              </a:solidFill>
              <a:latin typeface="Calibri"/>
              <a:ea typeface="Calibri"/>
              <a:cs typeface="Calibri"/>
              <a:sym typeface="Calibri"/>
            </a:endParaRPr>
          </a:p>
        </p:txBody>
      </p:sp>
      <p:sp>
        <p:nvSpPr>
          <p:cNvPr id="1644" name="Google Shape;1644;p25"/>
          <p:cNvSpPr/>
          <p:nvPr/>
        </p:nvSpPr>
        <p:spPr>
          <a:xfrm>
            <a:off x="8085125" y="1499616"/>
            <a:ext cx="3539642" cy="2011680"/>
          </a:xfrm>
          <a:prstGeom prst="roundRect">
            <a:avLst>
              <a:gd fmla="val 4091"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25"/>
          <p:cNvSpPr/>
          <p:nvPr/>
        </p:nvSpPr>
        <p:spPr>
          <a:xfrm>
            <a:off x="8304581" y="1682496"/>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25"/>
          <p:cNvSpPr/>
          <p:nvPr/>
        </p:nvSpPr>
        <p:spPr>
          <a:xfrm>
            <a:off x="8304581" y="1682496"/>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647" name="Google Shape;1647;p25"/>
          <p:cNvSpPr/>
          <p:nvPr/>
        </p:nvSpPr>
        <p:spPr>
          <a:xfrm>
            <a:off x="8304581" y="2194560"/>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Duplicate guard</a:t>
            </a:r>
            <a:endParaRPr b="0" i="0" sz="1500" u="none" cap="none" strike="noStrike">
              <a:solidFill>
                <a:schemeClr val="dk1"/>
              </a:solidFill>
              <a:latin typeface="Calibri"/>
              <a:ea typeface="Calibri"/>
              <a:cs typeface="Calibri"/>
              <a:sym typeface="Calibri"/>
            </a:endParaRPr>
          </a:p>
        </p:txBody>
      </p:sp>
      <p:sp>
        <p:nvSpPr>
          <p:cNvPr id="1648" name="Google Shape;1648;p25"/>
          <p:cNvSpPr/>
          <p:nvPr/>
        </p:nvSpPr>
        <p:spPr>
          <a:xfrm>
            <a:off x="8304581" y="2688336"/>
            <a:ext cx="3100730"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FE4E6"/>
              </a:buClr>
              <a:buSzPts val="1100"/>
              <a:buFont typeface="Calibri"/>
              <a:buNone/>
            </a:pPr>
            <a:r>
              <a:rPr b="0" i="0" lang="en-US" sz="1100" u="none" cap="none" strike="noStrike">
                <a:solidFill>
                  <a:srgbClr val="CFE4E6"/>
                </a:solidFill>
                <a:latin typeface="Calibri"/>
                <a:ea typeface="Calibri"/>
                <a:cs typeface="Calibri"/>
                <a:sym typeface="Calibri"/>
              </a:rPr>
              <a:t>Real time scoring on the create form, on import and on API creates. Warns with the match visible rather than blocking.</a:t>
            </a:r>
            <a:endParaRPr b="0" i="0" sz="1100" u="none" cap="none" strike="noStrike">
              <a:solidFill>
                <a:schemeClr val="dk1"/>
              </a:solidFill>
              <a:latin typeface="Calibri"/>
              <a:ea typeface="Calibri"/>
              <a:cs typeface="Calibri"/>
              <a:sym typeface="Calibri"/>
            </a:endParaRPr>
          </a:p>
        </p:txBody>
      </p:sp>
      <p:sp>
        <p:nvSpPr>
          <p:cNvPr id="1649" name="Google Shape;1649;p25"/>
          <p:cNvSpPr/>
          <p:nvPr/>
        </p:nvSpPr>
        <p:spPr>
          <a:xfrm>
            <a:off x="566928" y="3730752"/>
            <a:ext cx="3539642" cy="2011680"/>
          </a:xfrm>
          <a:prstGeom prst="roundRect">
            <a:avLst>
              <a:gd fmla="val 4091"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25"/>
          <p:cNvSpPr/>
          <p:nvPr/>
        </p:nvSpPr>
        <p:spPr>
          <a:xfrm>
            <a:off x="786384" y="3913632"/>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25"/>
          <p:cNvSpPr/>
          <p:nvPr/>
        </p:nvSpPr>
        <p:spPr>
          <a:xfrm>
            <a:off x="786384" y="3913632"/>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652" name="Google Shape;1652;p25"/>
          <p:cNvSpPr/>
          <p:nvPr/>
        </p:nvSpPr>
        <p:spPr>
          <a:xfrm>
            <a:off x="786384" y="4425696"/>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Plausibility checks</a:t>
            </a:r>
            <a:endParaRPr b="0" i="0" sz="1500" u="none" cap="none" strike="noStrike">
              <a:solidFill>
                <a:schemeClr val="dk1"/>
              </a:solidFill>
              <a:latin typeface="Calibri"/>
              <a:ea typeface="Calibri"/>
              <a:cs typeface="Calibri"/>
              <a:sym typeface="Calibri"/>
            </a:endParaRPr>
          </a:p>
        </p:txBody>
      </p:sp>
      <p:sp>
        <p:nvSpPr>
          <p:cNvPr id="1653" name="Google Shape;1653;p25"/>
          <p:cNvSpPr/>
          <p:nvPr/>
        </p:nvSpPr>
        <p:spPr>
          <a:xfrm>
            <a:off x="786384" y="4919472"/>
            <a:ext cx="3100730"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FE4E6"/>
              </a:buClr>
              <a:buSzPts val="1100"/>
              <a:buFont typeface="Calibri"/>
              <a:buNone/>
            </a:pPr>
            <a:r>
              <a:rPr b="0" i="0" lang="en-US" sz="1100" u="none" cap="none" strike="noStrike">
                <a:solidFill>
                  <a:srgbClr val="CFE4E6"/>
                </a:solidFill>
                <a:latin typeface="Calibri"/>
                <a:ea typeface="Calibri"/>
                <a:cs typeface="Calibri"/>
                <a:sym typeface="Calibri"/>
              </a:rPr>
              <a:t>Entry velocity limits, repeated value detection and dummy value patterns checked at creation, not discovered in a scan.</a:t>
            </a:r>
            <a:endParaRPr b="0" i="0" sz="1100" u="none" cap="none" strike="noStrike">
              <a:solidFill>
                <a:schemeClr val="dk1"/>
              </a:solidFill>
              <a:latin typeface="Calibri"/>
              <a:ea typeface="Calibri"/>
              <a:cs typeface="Calibri"/>
              <a:sym typeface="Calibri"/>
            </a:endParaRPr>
          </a:p>
        </p:txBody>
      </p:sp>
      <p:sp>
        <p:nvSpPr>
          <p:cNvPr id="1654" name="Google Shape;1654;p25"/>
          <p:cNvSpPr/>
          <p:nvPr/>
        </p:nvSpPr>
        <p:spPr>
          <a:xfrm>
            <a:off x="4326026" y="3730752"/>
            <a:ext cx="3539642" cy="2011680"/>
          </a:xfrm>
          <a:prstGeom prst="roundRect">
            <a:avLst>
              <a:gd fmla="val 4091"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5"/>
          <p:cNvSpPr/>
          <p:nvPr/>
        </p:nvSpPr>
        <p:spPr>
          <a:xfrm>
            <a:off x="4545482" y="3913632"/>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25"/>
          <p:cNvSpPr/>
          <p:nvPr/>
        </p:nvSpPr>
        <p:spPr>
          <a:xfrm>
            <a:off x="4545482" y="3913632"/>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1657" name="Google Shape;1657;p25"/>
          <p:cNvSpPr/>
          <p:nvPr/>
        </p:nvSpPr>
        <p:spPr>
          <a:xfrm>
            <a:off x="4545482" y="4425696"/>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Ageing SLAs</a:t>
            </a:r>
            <a:endParaRPr b="0" i="0" sz="1500" u="none" cap="none" strike="noStrike">
              <a:solidFill>
                <a:schemeClr val="dk1"/>
              </a:solidFill>
              <a:latin typeface="Calibri"/>
              <a:ea typeface="Calibri"/>
              <a:cs typeface="Calibri"/>
              <a:sym typeface="Calibri"/>
            </a:endParaRPr>
          </a:p>
        </p:txBody>
      </p:sp>
      <p:sp>
        <p:nvSpPr>
          <p:cNvPr id="1658" name="Google Shape;1658;p25"/>
          <p:cNvSpPr/>
          <p:nvPr/>
        </p:nvSpPr>
        <p:spPr>
          <a:xfrm>
            <a:off x="4545482" y="4919472"/>
            <a:ext cx="3100730"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FE4E6"/>
              </a:buClr>
              <a:buSzPts val="1100"/>
              <a:buFont typeface="Calibri"/>
              <a:buNone/>
            </a:pPr>
            <a:r>
              <a:rPr b="0" i="0" lang="en-US" sz="1100" u="none" cap="none" strike="noStrike">
                <a:solidFill>
                  <a:srgbClr val="CFE4E6"/>
                </a:solidFill>
                <a:latin typeface="Calibri"/>
                <a:ea typeface="Calibri"/>
                <a:cs typeface="Calibri"/>
                <a:sym typeface="Calibri"/>
              </a:rPr>
              <a:t>Workflows that escalate records untouched beyond a threshold, so cohort decay stops being invisible.</a:t>
            </a:r>
            <a:endParaRPr b="0" i="0" sz="1100" u="none" cap="none" strike="noStrike">
              <a:solidFill>
                <a:schemeClr val="dk1"/>
              </a:solidFill>
              <a:latin typeface="Calibri"/>
              <a:ea typeface="Calibri"/>
              <a:cs typeface="Calibri"/>
              <a:sym typeface="Calibri"/>
            </a:endParaRPr>
          </a:p>
        </p:txBody>
      </p:sp>
      <p:sp>
        <p:nvSpPr>
          <p:cNvPr id="1659" name="Google Shape;1659;p25"/>
          <p:cNvSpPr/>
          <p:nvPr/>
        </p:nvSpPr>
        <p:spPr>
          <a:xfrm>
            <a:off x="8085125" y="3730752"/>
            <a:ext cx="3539642" cy="2011680"/>
          </a:xfrm>
          <a:prstGeom prst="roundRect">
            <a:avLst>
              <a:gd fmla="val 4091"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25"/>
          <p:cNvSpPr/>
          <p:nvPr/>
        </p:nvSpPr>
        <p:spPr>
          <a:xfrm>
            <a:off x="8304581" y="3913632"/>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25"/>
          <p:cNvSpPr/>
          <p:nvPr/>
        </p:nvSpPr>
        <p:spPr>
          <a:xfrm>
            <a:off x="8304581" y="3913632"/>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1662" name="Google Shape;1662;p25"/>
          <p:cNvSpPr/>
          <p:nvPr/>
        </p:nvSpPr>
        <p:spPr>
          <a:xfrm>
            <a:off x="8304581" y="4425696"/>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Change control</a:t>
            </a:r>
            <a:endParaRPr b="0" i="0" sz="1500" u="none" cap="none" strike="noStrike">
              <a:solidFill>
                <a:schemeClr val="dk1"/>
              </a:solidFill>
              <a:latin typeface="Calibri"/>
              <a:ea typeface="Calibri"/>
              <a:cs typeface="Calibri"/>
              <a:sym typeface="Calibri"/>
            </a:endParaRPr>
          </a:p>
        </p:txBody>
      </p:sp>
      <p:sp>
        <p:nvSpPr>
          <p:cNvPr id="1663" name="Google Shape;1663;p25"/>
          <p:cNvSpPr/>
          <p:nvPr/>
        </p:nvSpPr>
        <p:spPr>
          <a:xfrm>
            <a:off x="8304581" y="4919472"/>
            <a:ext cx="3100730"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FE4E6"/>
              </a:buClr>
              <a:buSzPts val="1100"/>
              <a:buFont typeface="Calibri"/>
              <a:buNone/>
            </a:pPr>
            <a:r>
              <a:rPr b="0" i="0" lang="en-US" sz="1100" u="none" cap="none" strike="noStrike">
                <a:solidFill>
                  <a:srgbClr val="CFE4E6"/>
                </a:solidFill>
                <a:latin typeface="Calibri"/>
                <a:ea typeface="Calibri"/>
                <a:cs typeface="Calibri"/>
                <a:sym typeface="Calibri"/>
              </a:rPr>
              <a:t>A field cannot be created without an owner, a purpose and a review date. This is what stops config debt returning.</a:t>
            </a:r>
            <a:endParaRPr b="0" i="0" sz="1100" u="none" cap="none" strike="noStrike">
              <a:solidFill>
                <a:schemeClr val="dk1"/>
              </a:solidFill>
              <a:latin typeface="Calibri"/>
              <a:ea typeface="Calibri"/>
              <a:cs typeface="Calibri"/>
              <a:sym typeface="Calibri"/>
            </a:endParaRPr>
          </a:p>
        </p:txBody>
      </p:sp>
      <p:sp>
        <p:nvSpPr>
          <p:cNvPr id="1664" name="Google Shape;1664;p25"/>
          <p:cNvSpPr/>
          <p:nvPr/>
        </p:nvSpPr>
        <p:spPr>
          <a:xfrm>
            <a:off x="566928" y="5742432"/>
            <a:ext cx="11057839" cy="512064"/>
          </a:xfrm>
          <a:prstGeom prst="roundRect">
            <a:avLst>
              <a:gd fmla="val 12500" name="adj"/>
            </a:avLst>
          </a:prstGeom>
          <a:solidFill>
            <a:srgbClr val="0E3C44"/>
          </a:solidFill>
          <a:ln cap="flat" cmpd="sng" w="9525">
            <a:solidFill>
              <a:srgbClr val="3FC1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25"/>
          <p:cNvSpPr/>
          <p:nvPr/>
        </p:nvSpPr>
        <p:spPr>
          <a:xfrm>
            <a:off x="713232" y="5742432"/>
            <a:ext cx="10765231"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Prevention is where the recurring revenue is. Cleanup is a project that ends. These six controls are configuration we maintain, review and report on every month.</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0" name="Shape 1670"/>
        <p:cNvGrpSpPr/>
        <p:nvPr/>
      </p:nvGrpSpPr>
      <p:grpSpPr>
        <a:xfrm>
          <a:off x="0" y="0"/>
          <a:ext cx="0" cy="0"/>
          <a:chOff x="0" y="0"/>
          <a:chExt cx="0" cy="0"/>
        </a:xfrm>
      </p:grpSpPr>
      <p:sp>
        <p:nvSpPr>
          <p:cNvPr id="1671" name="Google Shape;1671;p26"/>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What the client walks away holding</a:t>
            </a:r>
            <a:endParaRPr b="0" i="0" sz="3000" u="none" cap="none" strike="noStrike">
              <a:solidFill>
                <a:schemeClr val="dk1"/>
              </a:solidFill>
              <a:latin typeface="Calibri"/>
              <a:ea typeface="Calibri"/>
              <a:cs typeface="Calibri"/>
              <a:sym typeface="Calibri"/>
            </a:endParaRPr>
          </a:p>
        </p:txBody>
      </p:sp>
      <p:sp>
        <p:nvSpPr>
          <p:cNvPr id="1672" name="Google Shape;1672;p26"/>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A sixteen to twenty page PDF. Written for a business reader, not an administrator.</a:t>
            </a:r>
            <a:endParaRPr b="0" i="0" sz="1350" u="none" cap="none" strike="noStrike">
              <a:solidFill>
                <a:schemeClr val="dk1"/>
              </a:solidFill>
              <a:latin typeface="Calibri"/>
              <a:ea typeface="Calibri"/>
              <a:cs typeface="Calibri"/>
              <a:sym typeface="Calibri"/>
            </a:endParaRPr>
          </a:p>
        </p:txBody>
      </p:sp>
      <p:sp>
        <p:nvSpPr>
          <p:cNvPr id="1673" name="Google Shape;1673;p26"/>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674" name="Google Shape;1674;p26"/>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26</a:t>
            </a:r>
            <a:endParaRPr b="0" i="0" sz="950" u="none" cap="none" strike="noStrike">
              <a:solidFill>
                <a:schemeClr val="dk1"/>
              </a:solidFill>
              <a:latin typeface="Calibri"/>
              <a:ea typeface="Calibri"/>
              <a:cs typeface="Calibri"/>
              <a:sym typeface="Calibri"/>
            </a:endParaRPr>
          </a:p>
        </p:txBody>
      </p:sp>
      <p:sp>
        <p:nvSpPr>
          <p:cNvPr id="1675" name="Google Shape;1675;p26"/>
          <p:cNvSpPr/>
          <p:nvPr/>
        </p:nvSpPr>
        <p:spPr>
          <a:xfrm>
            <a:off x="566928" y="1554480"/>
            <a:ext cx="11057839" cy="548640"/>
          </a:xfrm>
          <a:prstGeom prst="roundRect">
            <a:avLst>
              <a:gd fmla="val 11667"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26"/>
          <p:cNvSpPr/>
          <p:nvPr/>
        </p:nvSpPr>
        <p:spPr>
          <a:xfrm>
            <a:off x="713232" y="1645920"/>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26"/>
          <p:cNvSpPr/>
          <p:nvPr/>
        </p:nvSpPr>
        <p:spPr>
          <a:xfrm>
            <a:off x="713232" y="164592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678" name="Google Shape;1678;p26"/>
          <p:cNvSpPr/>
          <p:nvPr/>
        </p:nvSpPr>
        <p:spPr>
          <a:xfrm>
            <a:off x="1188720" y="160020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Page 1. Score and verdict</a:t>
            </a:r>
            <a:endParaRPr b="0" i="0" sz="1300" u="none" cap="none" strike="noStrike">
              <a:solidFill>
                <a:schemeClr val="dk1"/>
              </a:solidFill>
              <a:latin typeface="Calibri"/>
              <a:ea typeface="Calibri"/>
              <a:cs typeface="Calibri"/>
              <a:sym typeface="Calibri"/>
            </a:endParaRPr>
          </a:p>
        </p:txBody>
      </p:sp>
      <p:sp>
        <p:nvSpPr>
          <p:cNvPr id="1679" name="Google Shape;1679;p26"/>
          <p:cNvSpPr/>
          <p:nvPr/>
        </p:nvSpPr>
        <p:spPr>
          <a:xfrm>
            <a:off x="4069080" y="1600200"/>
            <a:ext cx="7372807"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One number, the band, the peer comparison, the created in period number beside it, and three sentences on what it means for revenue reporting.</a:t>
            </a:r>
            <a:endParaRPr b="0" i="0" sz="1150" u="none" cap="none" strike="noStrike">
              <a:solidFill>
                <a:schemeClr val="dk1"/>
              </a:solidFill>
              <a:latin typeface="Calibri"/>
              <a:ea typeface="Calibri"/>
              <a:cs typeface="Calibri"/>
              <a:sym typeface="Calibri"/>
            </a:endParaRPr>
          </a:p>
        </p:txBody>
      </p:sp>
      <p:sp>
        <p:nvSpPr>
          <p:cNvPr id="1680" name="Google Shape;1680;p26"/>
          <p:cNvSpPr/>
          <p:nvPr/>
        </p:nvSpPr>
        <p:spPr>
          <a:xfrm>
            <a:off x="566928" y="2157984"/>
            <a:ext cx="11057839" cy="548640"/>
          </a:xfrm>
          <a:prstGeom prst="roundRect">
            <a:avLst>
              <a:gd fmla="val 11667"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26"/>
          <p:cNvSpPr/>
          <p:nvPr/>
        </p:nvSpPr>
        <p:spPr>
          <a:xfrm>
            <a:off x="713232" y="2249424"/>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26"/>
          <p:cNvSpPr/>
          <p:nvPr/>
        </p:nvSpPr>
        <p:spPr>
          <a:xfrm>
            <a:off x="713232" y="224942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683" name="Google Shape;1683;p26"/>
          <p:cNvSpPr/>
          <p:nvPr/>
        </p:nvSpPr>
        <p:spPr>
          <a:xfrm>
            <a:off x="1188720" y="2203704"/>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Pages 2 to 3. What is at risk</a:t>
            </a:r>
            <a:endParaRPr b="0" i="0" sz="1300" u="none" cap="none" strike="noStrike">
              <a:solidFill>
                <a:schemeClr val="dk1"/>
              </a:solidFill>
              <a:latin typeface="Calibri"/>
              <a:ea typeface="Calibri"/>
              <a:cs typeface="Calibri"/>
              <a:sym typeface="Calibri"/>
            </a:endParaRPr>
          </a:p>
        </p:txBody>
      </p:sp>
      <p:sp>
        <p:nvSpPr>
          <p:cNvPr id="1684" name="Google Shape;1684;p26"/>
          <p:cNvSpPr/>
          <p:nvPr/>
        </p:nvSpPr>
        <p:spPr>
          <a:xfrm>
            <a:off x="4069080" y="2203704"/>
            <a:ext cx="7372807"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The commercial consequence of each weak domain. Forecast accuracy, campaign deliverability, audit exposure, admin cost. Money and risk, never field names.</a:t>
            </a:r>
            <a:endParaRPr b="0" i="0" sz="1150" u="none" cap="none" strike="noStrike">
              <a:solidFill>
                <a:schemeClr val="dk1"/>
              </a:solidFill>
              <a:latin typeface="Calibri"/>
              <a:ea typeface="Calibri"/>
              <a:cs typeface="Calibri"/>
              <a:sym typeface="Calibri"/>
            </a:endParaRPr>
          </a:p>
        </p:txBody>
      </p:sp>
      <p:sp>
        <p:nvSpPr>
          <p:cNvPr id="1685" name="Google Shape;1685;p26"/>
          <p:cNvSpPr/>
          <p:nvPr/>
        </p:nvSpPr>
        <p:spPr>
          <a:xfrm>
            <a:off x="566928" y="2761488"/>
            <a:ext cx="11057839" cy="548640"/>
          </a:xfrm>
          <a:prstGeom prst="roundRect">
            <a:avLst>
              <a:gd fmla="val 11667"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26"/>
          <p:cNvSpPr/>
          <p:nvPr/>
        </p:nvSpPr>
        <p:spPr>
          <a:xfrm>
            <a:off x="713232" y="2852928"/>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26"/>
          <p:cNvSpPr/>
          <p:nvPr/>
        </p:nvSpPr>
        <p:spPr>
          <a:xfrm>
            <a:off x="713232" y="285292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688" name="Google Shape;1688;p26"/>
          <p:cNvSpPr/>
          <p:nvPr/>
        </p:nvSpPr>
        <p:spPr>
          <a:xfrm>
            <a:off x="1188720" y="2807208"/>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Pages 4 to 7. The module view</a:t>
            </a:r>
            <a:endParaRPr b="0" i="0" sz="1300" u="none" cap="none" strike="noStrike">
              <a:solidFill>
                <a:schemeClr val="dk1"/>
              </a:solidFill>
              <a:latin typeface="Calibri"/>
              <a:ea typeface="Calibri"/>
              <a:cs typeface="Calibri"/>
              <a:sym typeface="Calibri"/>
            </a:endParaRPr>
          </a:p>
        </p:txBody>
      </p:sp>
      <p:sp>
        <p:nvSpPr>
          <p:cNvPr id="1689" name="Google Shape;1689;p26"/>
          <p:cNvSpPr/>
          <p:nvPr/>
        </p:nvSpPr>
        <p:spPr>
          <a:xfrm>
            <a:off x="4069080" y="2807208"/>
            <a:ext cx="7372807"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The matrix, then a page for each of the three worst modules with counts, examples and the specific rules that failed.</a:t>
            </a:r>
            <a:endParaRPr b="0" i="0" sz="1150" u="none" cap="none" strike="noStrike">
              <a:solidFill>
                <a:schemeClr val="dk1"/>
              </a:solidFill>
              <a:latin typeface="Calibri"/>
              <a:ea typeface="Calibri"/>
              <a:cs typeface="Calibri"/>
              <a:sym typeface="Calibri"/>
            </a:endParaRPr>
          </a:p>
        </p:txBody>
      </p:sp>
      <p:sp>
        <p:nvSpPr>
          <p:cNvPr id="1690" name="Google Shape;1690;p26"/>
          <p:cNvSpPr/>
          <p:nvPr/>
        </p:nvSpPr>
        <p:spPr>
          <a:xfrm>
            <a:off x="566928" y="3364992"/>
            <a:ext cx="11057839" cy="548640"/>
          </a:xfrm>
          <a:prstGeom prst="roundRect">
            <a:avLst>
              <a:gd fmla="val 11667"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26"/>
          <p:cNvSpPr/>
          <p:nvPr/>
        </p:nvSpPr>
        <p:spPr>
          <a:xfrm>
            <a:off x="713232" y="3456432"/>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26"/>
          <p:cNvSpPr/>
          <p:nvPr/>
        </p:nvSpPr>
        <p:spPr>
          <a:xfrm>
            <a:off x="713232" y="345643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693" name="Google Shape;1693;p26"/>
          <p:cNvSpPr/>
          <p:nvPr/>
        </p:nvSpPr>
        <p:spPr>
          <a:xfrm>
            <a:off x="1188720" y="3410712"/>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Pages 8 to 10. The user view</a:t>
            </a:r>
            <a:endParaRPr b="0" i="0" sz="1300" u="none" cap="none" strike="noStrike">
              <a:solidFill>
                <a:schemeClr val="dk1"/>
              </a:solidFill>
              <a:latin typeface="Calibri"/>
              <a:ea typeface="Calibri"/>
              <a:cs typeface="Calibri"/>
              <a:sym typeface="Calibri"/>
            </a:endParaRPr>
          </a:p>
        </p:txBody>
      </p:sp>
      <p:sp>
        <p:nvSpPr>
          <p:cNvPr id="1694" name="Google Shape;1694;p26"/>
          <p:cNvSpPr/>
          <p:nvPr/>
        </p:nvSpPr>
        <p:spPr>
          <a:xfrm>
            <a:off x="4069080" y="3410712"/>
            <a:ext cx="7372807"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Teams first, then individuals, with bands rather than a rank order. Always framed as coaching, and always with the movement shown next to the position.</a:t>
            </a:r>
            <a:endParaRPr b="0" i="0" sz="1150" u="none" cap="none" strike="noStrike">
              <a:solidFill>
                <a:schemeClr val="dk1"/>
              </a:solidFill>
              <a:latin typeface="Calibri"/>
              <a:ea typeface="Calibri"/>
              <a:cs typeface="Calibri"/>
              <a:sym typeface="Calibri"/>
            </a:endParaRPr>
          </a:p>
        </p:txBody>
      </p:sp>
      <p:sp>
        <p:nvSpPr>
          <p:cNvPr id="1695" name="Google Shape;1695;p26"/>
          <p:cNvSpPr/>
          <p:nvPr/>
        </p:nvSpPr>
        <p:spPr>
          <a:xfrm>
            <a:off x="566928" y="3968496"/>
            <a:ext cx="11057839" cy="548640"/>
          </a:xfrm>
          <a:prstGeom prst="roundRect">
            <a:avLst>
              <a:gd fmla="val 11667"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26"/>
          <p:cNvSpPr/>
          <p:nvPr/>
        </p:nvSpPr>
        <p:spPr>
          <a:xfrm>
            <a:off x="713232" y="4059936"/>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26"/>
          <p:cNvSpPr/>
          <p:nvPr/>
        </p:nvSpPr>
        <p:spPr>
          <a:xfrm>
            <a:off x="713232" y="4059936"/>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1698" name="Google Shape;1698;p26"/>
          <p:cNvSpPr/>
          <p:nvPr/>
        </p:nvSpPr>
        <p:spPr>
          <a:xfrm>
            <a:off x="1188720" y="4014216"/>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Pages 11 to 12. The time view</a:t>
            </a:r>
            <a:endParaRPr b="0" i="0" sz="1300" u="none" cap="none" strike="noStrike">
              <a:solidFill>
                <a:schemeClr val="dk1"/>
              </a:solidFill>
              <a:latin typeface="Calibri"/>
              <a:ea typeface="Calibri"/>
              <a:cs typeface="Calibri"/>
              <a:sym typeface="Calibri"/>
            </a:endParaRPr>
          </a:p>
        </p:txBody>
      </p:sp>
      <p:sp>
        <p:nvSpPr>
          <p:cNvPr id="1699" name="Google Shape;1699;p26"/>
          <p:cNvSpPr/>
          <p:nvPr/>
        </p:nvSpPr>
        <p:spPr>
          <a:xfrm>
            <a:off x="4069080" y="4014216"/>
            <a:ext cx="7372807"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Trend, created against modified, cohort decay, and the events that explain each dip. This is the page that proves whether the process works today.</a:t>
            </a:r>
            <a:endParaRPr b="0" i="0" sz="1150" u="none" cap="none" strike="noStrike">
              <a:solidFill>
                <a:schemeClr val="dk1"/>
              </a:solidFill>
              <a:latin typeface="Calibri"/>
              <a:ea typeface="Calibri"/>
              <a:cs typeface="Calibri"/>
              <a:sym typeface="Calibri"/>
            </a:endParaRPr>
          </a:p>
        </p:txBody>
      </p:sp>
      <p:sp>
        <p:nvSpPr>
          <p:cNvPr id="1700" name="Google Shape;1700;p26"/>
          <p:cNvSpPr/>
          <p:nvPr/>
        </p:nvSpPr>
        <p:spPr>
          <a:xfrm>
            <a:off x="566928" y="4572000"/>
            <a:ext cx="11057839" cy="548640"/>
          </a:xfrm>
          <a:prstGeom prst="roundRect">
            <a:avLst>
              <a:gd fmla="val 11667"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26"/>
          <p:cNvSpPr/>
          <p:nvPr/>
        </p:nvSpPr>
        <p:spPr>
          <a:xfrm>
            <a:off x="713232" y="4663440"/>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26"/>
          <p:cNvSpPr/>
          <p:nvPr/>
        </p:nvSpPr>
        <p:spPr>
          <a:xfrm>
            <a:off x="713232" y="466344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6</a:t>
            </a:r>
            <a:endParaRPr b="0" i="0" sz="1200" u="none" cap="none" strike="noStrike">
              <a:solidFill>
                <a:schemeClr val="dk1"/>
              </a:solidFill>
              <a:latin typeface="Calibri"/>
              <a:ea typeface="Calibri"/>
              <a:cs typeface="Calibri"/>
              <a:sym typeface="Calibri"/>
            </a:endParaRPr>
          </a:p>
        </p:txBody>
      </p:sp>
      <p:sp>
        <p:nvSpPr>
          <p:cNvPr id="1703" name="Google Shape;1703;p26"/>
          <p:cNvSpPr/>
          <p:nvPr/>
        </p:nvSpPr>
        <p:spPr>
          <a:xfrm>
            <a:off x="1188720" y="461772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Pages 13 to 17. The plan</a:t>
            </a:r>
            <a:endParaRPr b="0" i="0" sz="1300" u="none" cap="none" strike="noStrike">
              <a:solidFill>
                <a:schemeClr val="dk1"/>
              </a:solidFill>
              <a:latin typeface="Calibri"/>
              <a:ea typeface="Calibri"/>
              <a:cs typeface="Calibri"/>
              <a:sym typeface="Calibri"/>
            </a:endParaRPr>
          </a:p>
        </p:txBody>
      </p:sp>
      <p:sp>
        <p:nvSpPr>
          <p:cNvPr id="1704" name="Google Shape;1704;p26"/>
          <p:cNvSpPr/>
          <p:nvPr/>
        </p:nvSpPr>
        <p:spPr>
          <a:xfrm>
            <a:off x="4069080" y="4617720"/>
            <a:ext cx="7372807"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Findings ranked by impact against effort, split into the three waves, with a projected score after each wave and a named owner per line.</a:t>
            </a:r>
            <a:endParaRPr b="0" i="0" sz="1150" u="none" cap="none" strike="noStrike">
              <a:solidFill>
                <a:schemeClr val="dk1"/>
              </a:solidFill>
              <a:latin typeface="Calibri"/>
              <a:ea typeface="Calibri"/>
              <a:cs typeface="Calibri"/>
              <a:sym typeface="Calibri"/>
            </a:endParaRPr>
          </a:p>
        </p:txBody>
      </p:sp>
      <p:sp>
        <p:nvSpPr>
          <p:cNvPr id="1705" name="Google Shape;1705;p26"/>
          <p:cNvSpPr/>
          <p:nvPr/>
        </p:nvSpPr>
        <p:spPr>
          <a:xfrm>
            <a:off x="566928" y="5175504"/>
            <a:ext cx="11057839" cy="548640"/>
          </a:xfrm>
          <a:prstGeom prst="roundRect">
            <a:avLst>
              <a:gd fmla="val 11667"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26"/>
          <p:cNvSpPr/>
          <p:nvPr/>
        </p:nvSpPr>
        <p:spPr>
          <a:xfrm>
            <a:off x="713232" y="5266944"/>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26"/>
          <p:cNvSpPr/>
          <p:nvPr/>
        </p:nvSpPr>
        <p:spPr>
          <a:xfrm>
            <a:off x="713232" y="526694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7</a:t>
            </a:r>
            <a:endParaRPr b="0" i="0" sz="1200" u="none" cap="none" strike="noStrike">
              <a:solidFill>
                <a:schemeClr val="dk1"/>
              </a:solidFill>
              <a:latin typeface="Calibri"/>
              <a:ea typeface="Calibri"/>
              <a:cs typeface="Calibri"/>
              <a:sym typeface="Calibri"/>
            </a:endParaRPr>
          </a:p>
        </p:txBody>
      </p:sp>
      <p:sp>
        <p:nvSpPr>
          <p:cNvPr id="1708" name="Google Shape;1708;p26"/>
          <p:cNvSpPr/>
          <p:nvPr/>
        </p:nvSpPr>
        <p:spPr>
          <a:xfrm>
            <a:off x="1188720" y="5221224"/>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F24"/>
              </a:buClr>
              <a:buSzPts val="1300"/>
              <a:buFont typeface="Cambria"/>
              <a:buNone/>
            </a:pPr>
            <a:r>
              <a:rPr b="1" i="0" lang="en-US" sz="1300" u="none" cap="none" strike="noStrike">
                <a:solidFill>
                  <a:srgbClr val="1B1F24"/>
                </a:solidFill>
                <a:latin typeface="Cambria"/>
                <a:ea typeface="Cambria"/>
                <a:cs typeface="Cambria"/>
                <a:sym typeface="Cambria"/>
              </a:rPr>
              <a:t>Page 18 and appendix</a:t>
            </a:r>
            <a:endParaRPr b="0" i="0" sz="1300" u="none" cap="none" strike="noStrike">
              <a:solidFill>
                <a:schemeClr val="dk1"/>
              </a:solidFill>
              <a:latin typeface="Calibri"/>
              <a:ea typeface="Calibri"/>
              <a:cs typeface="Calibri"/>
              <a:sym typeface="Calibri"/>
            </a:endParaRPr>
          </a:p>
        </p:txBody>
      </p:sp>
      <p:sp>
        <p:nvSpPr>
          <p:cNvPr id="1709" name="Google Shape;1709;p26"/>
          <p:cNvSpPr/>
          <p:nvPr/>
        </p:nvSpPr>
        <p:spPr>
          <a:xfrm>
            <a:off x="4069080" y="5221224"/>
            <a:ext cx="7372807"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Decisions the client must own, then method, rules applied, scope, record counts, scopes used and the run log. The page that survives an internal audit challenge.</a:t>
            </a:r>
            <a:endParaRPr b="0" i="0" sz="1150" u="none" cap="none" strike="noStrike">
              <a:solidFill>
                <a:schemeClr val="dk1"/>
              </a:solidFill>
              <a:latin typeface="Calibri"/>
              <a:ea typeface="Calibri"/>
              <a:cs typeface="Calibri"/>
              <a:sym typeface="Calibri"/>
            </a:endParaRPr>
          </a:p>
        </p:txBody>
      </p:sp>
      <p:sp>
        <p:nvSpPr>
          <p:cNvPr id="1710" name="Google Shape;1710;p26"/>
          <p:cNvSpPr/>
          <p:nvPr/>
        </p:nvSpPr>
        <p:spPr>
          <a:xfrm>
            <a:off x="566928" y="5797296"/>
            <a:ext cx="11057839" cy="457200"/>
          </a:xfrm>
          <a:prstGeom prst="roundRect">
            <a:avLst>
              <a:gd fmla="val 12000"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26"/>
          <p:cNvSpPr/>
          <p:nvPr/>
        </p:nvSpPr>
        <p:spPr>
          <a:xfrm>
            <a:off x="658368" y="5797296"/>
            <a:ext cx="1087495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Rule for whoever writes this template: if a sentence needs a Zoho administrator to understand it, it belongs in the appendix. The first three pages have to work for a CFO who has never opened the CRM.</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6" name="Shape 1716"/>
        <p:cNvGrpSpPr/>
        <p:nvPr/>
      </p:nvGrpSpPr>
      <p:grpSpPr>
        <a:xfrm>
          <a:off x="0" y="0"/>
          <a:ext cx="0" cy="0"/>
          <a:chOff x="0" y="0"/>
          <a:chExt cx="0" cy="0"/>
        </a:xfrm>
      </p:grpSpPr>
      <p:sp>
        <p:nvSpPr>
          <p:cNvPr id="1717" name="Google Shape;1717;p27"/>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Build plan</a:t>
            </a:r>
            <a:endParaRPr b="0" i="0" sz="3000" u="none" cap="none" strike="noStrike">
              <a:solidFill>
                <a:schemeClr val="dk1"/>
              </a:solidFill>
              <a:latin typeface="Calibri"/>
              <a:ea typeface="Calibri"/>
              <a:cs typeface="Calibri"/>
              <a:sym typeface="Calibri"/>
            </a:endParaRPr>
          </a:p>
        </p:txBody>
      </p:sp>
      <p:sp>
        <p:nvSpPr>
          <p:cNvPr id="1718" name="Google Shape;1718;p27"/>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Seven sprints of one week. One ATL developer owns it, with a senior review at the end of each sprint.</a:t>
            </a:r>
            <a:endParaRPr b="0" i="0" sz="1350" u="none" cap="none" strike="noStrike">
              <a:solidFill>
                <a:schemeClr val="dk1"/>
              </a:solidFill>
              <a:latin typeface="Calibri"/>
              <a:ea typeface="Calibri"/>
              <a:cs typeface="Calibri"/>
              <a:sym typeface="Calibri"/>
            </a:endParaRPr>
          </a:p>
        </p:txBody>
      </p:sp>
      <p:sp>
        <p:nvSpPr>
          <p:cNvPr id="1719" name="Google Shape;1719;p27"/>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720" name="Google Shape;1720;p27"/>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27</a:t>
            </a:r>
            <a:endParaRPr b="0" i="0" sz="950" u="none" cap="none" strike="noStrike">
              <a:solidFill>
                <a:schemeClr val="dk1"/>
              </a:solidFill>
              <a:latin typeface="Calibri"/>
              <a:ea typeface="Calibri"/>
              <a:cs typeface="Calibri"/>
              <a:sym typeface="Calibri"/>
            </a:endParaRPr>
          </a:p>
        </p:txBody>
      </p:sp>
      <p:graphicFrame>
        <p:nvGraphicFramePr>
          <p:cNvPr id="1721" name="Google Shape;1721;p27"/>
          <p:cNvGraphicFramePr/>
          <p:nvPr/>
        </p:nvGraphicFramePr>
        <p:xfrm>
          <a:off x="566928" y="1517904"/>
          <a:ext cx="3000000" cy="3000000"/>
        </p:xfrm>
        <a:graphic>
          <a:graphicData uri="http://schemas.openxmlformats.org/drawingml/2006/table">
            <a:tbl>
              <a:tblPr>
                <a:noFill/>
                <a:tableStyleId>{B0F36C2E-0004-4DC9-A81D-5D709A412D0E}</a:tableStyleId>
              </a:tblPr>
              <a:tblGrid>
                <a:gridCol w="566925"/>
                <a:gridCol w="4572000"/>
                <a:gridCol w="3703325"/>
                <a:gridCol w="2212850"/>
              </a:tblGrid>
              <a:tr h="45720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Sprint</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Build</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Exit test</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Review gate</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r>
              <a:tr h="4572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1</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Access and collector. OAuth self client, token vault, metadata reader, Bulk Read and COQL pager with watermark resume, user and role map, created and modified metadata capture.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Full metadata plus a date bounded 5k sample pulled from two client orgs with no manual step.</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Architecture and API credit safety</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4572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2</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Rule engine core and the record state model. JSON rule format, stage aware evaluation, severity and weight, state assignment, scoring service.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Twelve rules across three domains produce counts and states matching a hand written COQL check exactly.</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State model signed off before volume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3</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All rule packs, roughly 70 rules including the plausibility pack and India specific validators for GST, PAN, IFSC and pincode.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Full run on a seeded org finds every planted defect, including every planted suspicious pattern, with no false positives.</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Rule accuracy against the seeded org</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4572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4</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The aggregation cube. Module, user and time dimensions, state measures, pre aggregation, slice API.</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Any combination of module, user and date filters resolves in under one second on a 200k record dataset.</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Performance measured, not assumed</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5</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Command centre, module matrix, user accountability and trend screens with the shared filter bar.</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A consultant with no developer help runs a scan and reaches every one of the three lenses unaided.</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Usability test with two consultants</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4572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6</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Record explorer, action centre with preview and snapshot rollback, mechanical fix library.</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Eight mechanical actions run with preview and all eight roll back cleanly with every value restored.</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Rollback proven on every action type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7</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PDF report via SmartBrowz, scheduling, alert floors, monthly report, benchmark feed, hardening.</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Two live client orgs scanned, report reviewed by delivery lead, pricing sheet and demo script complete.</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Go to market readiness sign off</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bl>
          </a:graphicData>
        </a:graphic>
      </p:graphicFrame>
      <p:sp>
        <p:nvSpPr>
          <p:cNvPr id="1722" name="Google Shape;1722;p27"/>
          <p:cNvSpPr/>
          <p:nvPr/>
        </p:nvSpPr>
        <p:spPr>
          <a:xfrm>
            <a:off x="566928" y="5669280"/>
            <a:ext cx="11057839" cy="457200"/>
          </a:xfrm>
          <a:prstGeom prst="roundRect">
            <a:avLst>
              <a:gd fmla="val 12000" name="adj"/>
            </a:avLst>
          </a:prstGeom>
          <a:solidFill>
            <a:srgbClr val="E9F3F4"/>
          </a:solidFill>
          <a:ln cap="flat" cmpd="sng" w="9525">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7"/>
          <p:cNvSpPr/>
          <p:nvPr/>
        </p:nvSpPr>
        <p:spPr>
          <a:xfrm>
            <a:off x="658368" y="5669280"/>
            <a:ext cx="1087495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2B3038"/>
              </a:buClr>
              <a:buSzPts val="880"/>
              <a:buFont typeface="Calibri"/>
              <a:buNone/>
            </a:pPr>
            <a:r>
              <a:rPr b="0" i="0" lang="en-US" sz="880" u="none" cap="none" strike="noStrike">
                <a:solidFill>
                  <a:srgbClr val="2B3038"/>
                </a:solidFill>
                <a:latin typeface="Calibri"/>
                <a:ea typeface="Calibri"/>
                <a:cs typeface="Calibri"/>
                <a:sym typeface="Calibri"/>
              </a:rPr>
              <a:t>The seeded org in sprint 3 must include planted suspicious patterns, not just planted format errors. Plausibility rules are the ones most likely to produce a false positive, and a false accusation about a named user is the one mistake this product cannot survive.</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8" name="Shape 1728"/>
        <p:cNvGrpSpPr/>
        <p:nvPr/>
      </p:nvGrpSpPr>
      <p:grpSpPr>
        <a:xfrm>
          <a:off x="0" y="0"/>
          <a:ext cx="0" cy="0"/>
          <a:chOff x="0" y="0"/>
          <a:chExt cx="0" cy="0"/>
        </a:xfrm>
      </p:grpSpPr>
      <p:sp>
        <p:nvSpPr>
          <p:cNvPr id="1729" name="Google Shape;1729;p28"/>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Components, technology and effort</a:t>
            </a:r>
            <a:endParaRPr b="0" i="0" sz="3000" u="none" cap="none" strike="noStrike">
              <a:solidFill>
                <a:schemeClr val="dk1"/>
              </a:solidFill>
              <a:latin typeface="Calibri"/>
              <a:ea typeface="Calibri"/>
              <a:cs typeface="Calibri"/>
              <a:sym typeface="Calibri"/>
            </a:endParaRPr>
          </a:p>
        </p:txBody>
      </p:sp>
      <p:sp>
        <p:nvSpPr>
          <p:cNvPr id="1730" name="Google Shape;1730;p28"/>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Thirty five developer days of build. The cube and the action centre are what version two adds.</a:t>
            </a:r>
            <a:endParaRPr b="0" i="0" sz="1350" u="none" cap="none" strike="noStrike">
              <a:solidFill>
                <a:schemeClr val="dk1"/>
              </a:solidFill>
              <a:latin typeface="Calibri"/>
              <a:ea typeface="Calibri"/>
              <a:cs typeface="Calibri"/>
              <a:sym typeface="Calibri"/>
            </a:endParaRPr>
          </a:p>
        </p:txBody>
      </p:sp>
      <p:sp>
        <p:nvSpPr>
          <p:cNvPr id="1731" name="Google Shape;1731;p28"/>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732" name="Google Shape;1732;p28"/>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28</a:t>
            </a:r>
            <a:endParaRPr b="0" i="0" sz="950" u="none" cap="none" strike="noStrike">
              <a:solidFill>
                <a:schemeClr val="dk1"/>
              </a:solidFill>
              <a:latin typeface="Calibri"/>
              <a:ea typeface="Calibri"/>
              <a:cs typeface="Calibri"/>
              <a:sym typeface="Calibri"/>
            </a:endParaRPr>
          </a:p>
        </p:txBody>
      </p:sp>
      <p:graphicFrame>
        <p:nvGraphicFramePr>
          <p:cNvPr id="1733" name="Google Shape;1733;p28"/>
          <p:cNvGraphicFramePr/>
          <p:nvPr/>
        </p:nvGraphicFramePr>
        <p:xfrm>
          <a:off x="566928" y="1481328"/>
          <a:ext cx="3000000" cy="3000000"/>
        </p:xfrm>
        <a:graphic>
          <a:graphicData uri="http://schemas.openxmlformats.org/drawingml/2006/table">
            <a:tbl>
              <a:tblPr>
                <a:noFill/>
                <a:tableStyleId>{B0F36C2E-0004-4DC9-A81D-5D709A412D0E}</a:tableStyleId>
              </a:tblPr>
              <a:tblGrid>
                <a:gridCol w="2194550"/>
                <a:gridCol w="3291850"/>
                <a:gridCol w="4654300"/>
                <a:gridCol w="914400"/>
              </a:tblGrid>
              <a:tr h="36575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Component</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Built with</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Notes</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Days</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r>
              <a:tr h="365750">
                <a:tc>
                  <a:txBody>
                    <a:bodyPr/>
                    <a:lstStyle/>
                    <a:p>
                      <a:pPr indent="0" lvl="0" marL="0" marR="0" rtl="0" algn="l">
                        <a:spcBef>
                          <a:spcPts val="0"/>
                        </a:spcBef>
                        <a:spcAft>
                          <a:spcPts val="0"/>
                        </a:spcAft>
                        <a:buClr>
                          <a:srgbClr val="1B1F24"/>
                        </a:buClr>
                        <a:buSzPts val="939"/>
                        <a:buFont typeface="Calibri"/>
                        <a:buNone/>
                      </a:pPr>
                      <a:r>
                        <a:rPr b="1" lang="en-US" sz="940" u="none" cap="none" strike="noStrike">
                          <a:solidFill>
                            <a:srgbClr val="1B1F24"/>
                          </a:solidFill>
                          <a:latin typeface="Calibri"/>
                          <a:ea typeface="Calibri"/>
                          <a:cs typeface="Calibri"/>
                          <a:sym typeface="Calibri"/>
                        </a:rPr>
                        <a:t>Auth and token vault</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Catalyst Functions, Zoho OAuth self client</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Refresh handling, per org isolation, read only scopes hard coded</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2</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365750">
                <a:tc>
                  <a:txBody>
                    <a:bodyPr/>
                    <a:lstStyle/>
                    <a:p>
                      <a:pPr indent="0" lvl="0" marL="0" marR="0" rtl="0" algn="l">
                        <a:spcBef>
                          <a:spcPts val="0"/>
                        </a:spcBef>
                        <a:spcAft>
                          <a:spcPts val="0"/>
                        </a:spcAft>
                        <a:buClr>
                          <a:srgbClr val="1B1F24"/>
                        </a:buClr>
                        <a:buSzPts val="939"/>
                        <a:buFont typeface="Calibri"/>
                        <a:buNone/>
                      </a:pPr>
                      <a:r>
                        <a:rPr b="1" lang="en-US" sz="940" u="none" cap="none" strike="noStrike">
                          <a:solidFill>
                            <a:srgbClr val="1B1F24"/>
                          </a:solidFill>
                          <a:latin typeface="Calibri"/>
                          <a:ea typeface="Calibri"/>
                          <a:cs typeface="Calibri"/>
                          <a:sym typeface="Calibri"/>
                        </a:rPr>
                        <a:t>Metadata and user map</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CRM v8 metadata APIs, Desk and Books settings APIs, users and roles</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Modules, fields, layouts, stages, picklists, profiles, workflows, teams</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3</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B1F24"/>
                        </a:buClr>
                        <a:buSzPts val="939"/>
                        <a:buFont typeface="Calibri"/>
                        <a:buNone/>
                      </a:pPr>
                      <a:r>
                        <a:rPr b="1" lang="en-US" sz="940" u="none" cap="none" strike="noStrike">
                          <a:solidFill>
                            <a:srgbClr val="1B1F24"/>
                          </a:solidFill>
                          <a:latin typeface="Calibri"/>
                          <a:ea typeface="Calibri"/>
                          <a:cs typeface="Calibri"/>
                          <a:sym typeface="Calibri"/>
                        </a:rPr>
                        <a:t>Record collector</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Bulk Read API, COQL with pagination, date bounded queries</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Watermark resume, credit budgeter, created and modified capture, back off on throttle</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4</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365750">
                <a:tc>
                  <a:txBody>
                    <a:bodyPr/>
                    <a:lstStyle/>
                    <a:p>
                      <a:pPr indent="0" lvl="0" marL="0" marR="0" rtl="0" algn="l">
                        <a:spcBef>
                          <a:spcPts val="0"/>
                        </a:spcBef>
                        <a:spcAft>
                          <a:spcPts val="0"/>
                        </a:spcAft>
                        <a:buClr>
                          <a:srgbClr val="1B1F24"/>
                        </a:buClr>
                        <a:buSzPts val="939"/>
                        <a:buFont typeface="Calibri"/>
                        <a:buNone/>
                      </a:pPr>
                      <a:r>
                        <a:rPr b="1" lang="en-US" sz="940" u="none" cap="none" strike="noStrike">
                          <a:solidFill>
                            <a:srgbClr val="1B1F24"/>
                          </a:solidFill>
                          <a:latin typeface="Calibri"/>
                          <a:ea typeface="Calibri"/>
                          <a:cs typeface="Calibri"/>
                          <a:sym typeface="Calibri"/>
                        </a:rPr>
                        <a:t>Staging store</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Catalyst Data Store, Stratus for bulk files</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Counts, IDs, states and dimension keys retained. Field values discarded after evaluation</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2</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B1F24"/>
                        </a:buClr>
                        <a:buSzPts val="939"/>
                        <a:buFont typeface="Calibri"/>
                        <a:buNone/>
                      </a:pPr>
                      <a:r>
                        <a:rPr b="1" lang="en-US" sz="940" u="none" cap="none" strike="noStrike">
                          <a:solidFill>
                            <a:srgbClr val="1B1F24"/>
                          </a:solidFill>
                          <a:latin typeface="Calibri"/>
                          <a:ea typeface="Calibri"/>
                          <a:cs typeface="Calibri"/>
                          <a:sym typeface="Calibri"/>
                        </a:rPr>
                        <a:t>Rule engine and state model</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Node on Catalyst AppSail, JSON rule definitions</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Roughly 70 rules at launch, stage aware, extensible by delivery without a release</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7</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365750">
                <a:tc>
                  <a:txBody>
                    <a:bodyPr/>
                    <a:lstStyle/>
                    <a:p>
                      <a:pPr indent="0" lvl="0" marL="0" marR="0" rtl="0" algn="l">
                        <a:spcBef>
                          <a:spcPts val="0"/>
                        </a:spcBef>
                        <a:spcAft>
                          <a:spcPts val="0"/>
                        </a:spcAft>
                        <a:buClr>
                          <a:srgbClr val="1B1F24"/>
                        </a:buClr>
                        <a:buSzPts val="939"/>
                        <a:buFont typeface="Calibri"/>
                        <a:buNone/>
                      </a:pPr>
                      <a:r>
                        <a:rPr b="1" lang="en-US" sz="940" u="none" cap="none" strike="noStrike">
                          <a:solidFill>
                            <a:srgbClr val="1B1F24"/>
                          </a:solidFill>
                          <a:latin typeface="Calibri"/>
                          <a:ea typeface="Calibri"/>
                          <a:cs typeface="Calibri"/>
                          <a:sym typeface="Calibri"/>
                        </a:rPr>
                        <a:t>Plausibility pack</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Node, set level pattern analysis</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Velocity, repeated values, dummy patterns, impossible sequences, burst detection</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3</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B1F24"/>
                        </a:buClr>
                        <a:buSzPts val="939"/>
                        <a:buFont typeface="Calibri"/>
                        <a:buNone/>
                      </a:pPr>
                      <a:r>
                        <a:rPr b="1" lang="en-US" sz="940" u="none" cap="none" strike="noStrike">
                          <a:solidFill>
                            <a:srgbClr val="1B1F24"/>
                          </a:solidFill>
                          <a:latin typeface="Calibri"/>
                          <a:ea typeface="Calibri"/>
                          <a:cs typeface="Calibri"/>
                          <a:sym typeface="Calibri"/>
                        </a:rPr>
                        <a:t>Aggregation cube</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Catalyst Data Store with pre aggregated slices</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Module, user and time dimensions. The component that makes any filter instant</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4</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365750">
                <a:tc>
                  <a:txBody>
                    <a:bodyPr/>
                    <a:lstStyle/>
                    <a:p>
                      <a:pPr indent="0" lvl="0" marL="0" marR="0" rtl="0" algn="l">
                        <a:spcBef>
                          <a:spcPts val="0"/>
                        </a:spcBef>
                        <a:spcAft>
                          <a:spcPts val="0"/>
                        </a:spcAft>
                        <a:buClr>
                          <a:srgbClr val="1B1F24"/>
                        </a:buClr>
                        <a:buSzPts val="939"/>
                        <a:buFont typeface="Calibri"/>
                        <a:buNone/>
                      </a:pPr>
                      <a:r>
                        <a:rPr b="1" lang="en-US" sz="940" u="none" cap="none" strike="noStrike">
                          <a:solidFill>
                            <a:srgbClr val="1B1F24"/>
                          </a:solidFill>
                          <a:latin typeface="Calibri"/>
                          <a:ea typeface="Calibri"/>
                          <a:cs typeface="Calibri"/>
                          <a:sym typeface="Calibri"/>
                        </a:rPr>
                        <a:t>Command centre and lens UIs</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React on Catalyst AppSail</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Shared filter bar, command centre, matrix, users, trend, record explorer</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6</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B1F24"/>
                        </a:buClr>
                        <a:buSzPts val="939"/>
                        <a:buFont typeface="Calibri"/>
                        <a:buNone/>
                      </a:pPr>
                      <a:r>
                        <a:rPr b="1" lang="en-US" sz="940" u="none" cap="none" strike="noStrike">
                          <a:solidFill>
                            <a:srgbClr val="1B1F24"/>
                          </a:solidFill>
                          <a:latin typeface="Calibri"/>
                          <a:ea typeface="Calibri"/>
                          <a:cs typeface="Calibri"/>
                          <a:sym typeface="Calibri"/>
                        </a:rPr>
                        <a:t>Action centre</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Node, Zoho write APIs, snapshot store</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Preview, execute, snapshot and rollback for the mechanical fix library</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39"/>
                        <a:buFont typeface="Calibri"/>
                        <a:buNone/>
                      </a:pPr>
                      <a:r>
                        <a:rPr lang="en-US" sz="940" u="none" cap="none" strike="noStrike">
                          <a:solidFill>
                            <a:srgbClr val="1B1F24"/>
                          </a:solidFill>
                          <a:latin typeface="Calibri"/>
                          <a:ea typeface="Calibri"/>
                          <a:cs typeface="Calibri"/>
                          <a:sym typeface="Calibri"/>
                        </a:rPr>
                        <a:t>4</a:t>
                      </a:r>
                      <a:endParaRPr sz="94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bl>
          </a:graphicData>
        </a:graphic>
      </p:graphicFrame>
      <p:sp>
        <p:nvSpPr>
          <p:cNvPr id="1734" name="Google Shape;1734;p28"/>
          <p:cNvSpPr/>
          <p:nvPr/>
        </p:nvSpPr>
        <p:spPr>
          <a:xfrm>
            <a:off x="566928" y="5468112"/>
            <a:ext cx="2613584" cy="896112"/>
          </a:xfrm>
          <a:prstGeom prst="roundRect">
            <a:avLst>
              <a:gd fmla="val 9184"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8"/>
          <p:cNvSpPr/>
          <p:nvPr/>
        </p:nvSpPr>
        <p:spPr>
          <a:xfrm>
            <a:off x="731520" y="5577840"/>
            <a:ext cx="22844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900"/>
              <a:buFont typeface="Cambria"/>
              <a:buNone/>
            </a:pPr>
            <a:r>
              <a:rPr b="1" i="0" lang="en-US" sz="1900" u="none" cap="none" strike="noStrike">
                <a:solidFill>
                  <a:srgbClr val="046B73"/>
                </a:solidFill>
                <a:latin typeface="Cambria"/>
                <a:ea typeface="Cambria"/>
                <a:cs typeface="Cambria"/>
                <a:sym typeface="Cambria"/>
              </a:rPr>
              <a:t>35 days</a:t>
            </a:r>
            <a:endParaRPr b="0" i="0" sz="1900" u="none" cap="none" strike="noStrike">
              <a:solidFill>
                <a:schemeClr val="dk1"/>
              </a:solidFill>
              <a:latin typeface="Calibri"/>
              <a:ea typeface="Calibri"/>
              <a:cs typeface="Calibri"/>
              <a:sym typeface="Calibri"/>
            </a:endParaRPr>
          </a:p>
        </p:txBody>
      </p:sp>
      <p:sp>
        <p:nvSpPr>
          <p:cNvPr id="1736" name="Google Shape;1736;p28"/>
          <p:cNvSpPr/>
          <p:nvPr/>
        </p:nvSpPr>
        <p:spPr>
          <a:xfrm>
            <a:off x="731520" y="5925312"/>
            <a:ext cx="2284400" cy="34747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Core build effort, one developer</a:t>
            </a:r>
            <a:endParaRPr b="0" i="0" sz="1100" u="none" cap="none" strike="noStrike">
              <a:solidFill>
                <a:schemeClr val="dk1"/>
              </a:solidFill>
              <a:latin typeface="Calibri"/>
              <a:ea typeface="Calibri"/>
              <a:cs typeface="Calibri"/>
              <a:sym typeface="Calibri"/>
            </a:endParaRPr>
          </a:p>
        </p:txBody>
      </p:sp>
      <p:sp>
        <p:nvSpPr>
          <p:cNvPr id="1737" name="Google Shape;1737;p28"/>
          <p:cNvSpPr/>
          <p:nvPr/>
        </p:nvSpPr>
        <p:spPr>
          <a:xfrm>
            <a:off x="3381680" y="5468112"/>
            <a:ext cx="2613584" cy="896112"/>
          </a:xfrm>
          <a:prstGeom prst="roundRect">
            <a:avLst>
              <a:gd fmla="val 9184"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8"/>
          <p:cNvSpPr/>
          <p:nvPr/>
        </p:nvSpPr>
        <p:spPr>
          <a:xfrm>
            <a:off x="3546272" y="5577840"/>
            <a:ext cx="22844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900"/>
              <a:buFont typeface="Cambria"/>
              <a:buNone/>
            </a:pPr>
            <a:r>
              <a:rPr b="1" i="0" lang="en-US" sz="1900" u="none" cap="none" strike="noStrike">
                <a:solidFill>
                  <a:srgbClr val="046B73"/>
                </a:solidFill>
                <a:latin typeface="Cambria"/>
                <a:ea typeface="Cambria"/>
                <a:cs typeface="Cambria"/>
                <a:sym typeface="Cambria"/>
              </a:rPr>
              <a:t>7 weeks</a:t>
            </a:r>
            <a:endParaRPr b="0" i="0" sz="1900" u="none" cap="none" strike="noStrike">
              <a:solidFill>
                <a:schemeClr val="dk1"/>
              </a:solidFill>
              <a:latin typeface="Calibri"/>
              <a:ea typeface="Calibri"/>
              <a:cs typeface="Calibri"/>
              <a:sym typeface="Calibri"/>
            </a:endParaRPr>
          </a:p>
        </p:txBody>
      </p:sp>
      <p:sp>
        <p:nvSpPr>
          <p:cNvPr id="1739" name="Google Shape;1739;p28"/>
          <p:cNvSpPr/>
          <p:nvPr/>
        </p:nvSpPr>
        <p:spPr>
          <a:xfrm>
            <a:off x="3546272" y="5925312"/>
            <a:ext cx="2284400" cy="34747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Calendar time including test, template and pricing</a:t>
            </a:r>
            <a:endParaRPr b="0" i="0" sz="1100" u="none" cap="none" strike="noStrike">
              <a:solidFill>
                <a:schemeClr val="dk1"/>
              </a:solidFill>
              <a:latin typeface="Calibri"/>
              <a:ea typeface="Calibri"/>
              <a:cs typeface="Calibri"/>
              <a:sym typeface="Calibri"/>
            </a:endParaRPr>
          </a:p>
        </p:txBody>
      </p:sp>
      <p:sp>
        <p:nvSpPr>
          <p:cNvPr id="1740" name="Google Shape;1740;p28"/>
          <p:cNvSpPr/>
          <p:nvPr/>
        </p:nvSpPr>
        <p:spPr>
          <a:xfrm>
            <a:off x="6196432" y="5468112"/>
            <a:ext cx="2613584" cy="896112"/>
          </a:xfrm>
          <a:prstGeom prst="roundRect">
            <a:avLst>
              <a:gd fmla="val 9184"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8"/>
          <p:cNvSpPr/>
          <p:nvPr/>
        </p:nvSpPr>
        <p:spPr>
          <a:xfrm>
            <a:off x="6361024" y="5577840"/>
            <a:ext cx="22844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900"/>
              <a:buFont typeface="Cambria"/>
              <a:buNone/>
            </a:pPr>
            <a:r>
              <a:rPr b="1" i="0" lang="en-US" sz="1900" u="none" cap="none" strike="noStrike">
                <a:solidFill>
                  <a:srgbClr val="046B73"/>
                </a:solidFill>
                <a:latin typeface="Cambria"/>
                <a:ea typeface="Cambria"/>
                <a:cs typeface="Cambria"/>
                <a:sym typeface="Cambria"/>
              </a:rPr>
              <a:t>70 rules</a:t>
            </a:r>
            <a:endParaRPr b="0" i="0" sz="1900" u="none" cap="none" strike="noStrike">
              <a:solidFill>
                <a:schemeClr val="dk1"/>
              </a:solidFill>
              <a:latin typeface="Calibri"/>
              <a:ea typeface="Calibri"/>
              <a:cs typeface="Calibri"/>
              <a:sym typeface="Calibri"/>
            </a:endParaRPr>
          </a:p>
        </p:txBody>
      </p:sp>
      <p:sp>
        <p:nvSpPr>
          <p:cNvPr id="1742" name="Google Shape;1742;p28"/>
          <p:cNvSpPr/>
          <p:nvPr/>
        </p:nvSpPr>
        <p:spPr>
          <a:xfrm>
            <a:off x="6361024" y="5925312"/>
            <a:ext cx="2284400" cy="34747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Shipped at launch, extensible without a release</a:t>
            </a:r>
            <a:endParaRPr b="0" i="0" sz="1100" u="none" cap="none" strike="noStrike">
              <a:solidFill>
                <a:schemeClr val="dk1"/>
              </a:solidFill>
              <a:latin typeface="Calibri"/>
              <a:ea typeface="Calibri"/>
              <a:cs typeface="Calibri"/>
              <a:sym typeface="Calibri"/>
            </a:endParaRPr>
          </a:p>
        </p:txBody>
      </p:sp>
      <p:sp>
        <p:nvSpPr>
          <p:cNvPr id="1743" name="Google Shape;1743;p28"/>
          <p:cNvSpPr/>
          <p:nvPr/>
        </p:nvSpPr>
        <p:spPr>
          <a:xfrm>
            <a:off x="9011183" y="5468112"/>
            <a:ext cx="2613584" cy="896112"/>
          </a:xfrm>
          <a:prstGeom prst="roundRect">
            <a:avLst>
              <a:gd fmla="val 9184"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8"/>
          <p:cNvSpPr/>
          <p:nvPr/>
        </p:nvSpPr>
        <p:spPr>
          <a:xfrm>
            <a:off x="9175775" y="5577840"/>
            <a:ext cx="228440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900"/>
              <a:buFont typeface="Cambria"/>
              <a:buNone/>
            </a:pPr>
            <a:r>
              <a:rPr b="1" i="0" lang="en-US" sz="1900" u="none" cap="none" strike="noStrike">
                <a:solidFill>
                  <a:srgbClr val="046B73"/>
                </a:solidFill>
                <a:latin typeface="Cambria"/>
                <a:ea typeface="Cambria"/>
                <a:cs typeface="Cambria"/>
                <a:sym typeface="Cambria"/>
              </a:rPr>
              <a:t>3 lenses</a:t>
            </a:r>
            <a:endParaRPr b="0" i="0" sz="1900" u="none" cap="none" strike="noStrike">
              <a:solidFill>
                <a:schemeClr val="dk1"/>
              </a:solidFill>
              <a:latin typeface="Calibri"/>
              <a:ea typeface="Calibri"/>
              <a:cs typeface="Calibri"/>
              <a:sym typeface="Calibri"/>
            </a:endParaRPr>
          </a:p>
        </p:txBody>
      </p:sp>
      <p:sp>
        <p:nvSpPr>
          <p:cNvPr id="1745" name="Google Shape;1745;p28"/>
          <p:cNvSpPr/>
          <p:nvPr/>
        </p:nvSpPr>
        <p:spPr>
          <a:xfrm>
            <a:off x="9175775" y="5925312"/>
            <a:ext cx="2284400" cy="34747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Module, user and time over one record set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A30"/>
        </a:solidFill>
      </p:bgPr>
    </p:bg>
    <p:spTree>
      <p:nvGrpSpPr>
        <p:cNvPr id="1750" name="Shape 1750"/>
        <p:cNvGrpSpPr/>
        <p:nvPr/>
      </p:nvGrpSpPr>
      <p:grpSpPr>
        <a:xfrm>
          <a:off x="0" y="0"/>
          <a:ext cx="0" cy="0"/>
          <a:chOff x="0" y="0"/>
          <a:chExt cx="0" cy="0"/>
        </a:xfrm>
      </p:grpSpPr>
      <p:sp>
        <p:nvSpPr>
          <p:cNvPr id="1751" name="Google Shape;1751;p29"/>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Definition of done</a:t>
            </a:r>
            <a:endParaRPr b="0" i="0" sz="3000" u="none" cap="none" strike="noStrike">
              <a:solidFill>
                <a:schemeClr val="dk1"/>
              </a:solidFill>
              <a:latin typeface="Calibri"/>
              <a:ea typeface="Calibri"/>
              <a:cs typeface="Calibri"/>
              <a:sym typeface="Calibri"/>
            </a:endParaRPr>
          </a:p>
        </p:txBody>
      </p:sp>
      <p:sp>
        <p:nvSpPr>
          <p:cNvPr id="1752" name="Google Shape;1752;p29"/>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4E6"/>
              </a:buClr>
              <a:buSzPts val="1350"/>
              <a:buFont typeface="Calibri"/>
              <a:buNone/>
            </a:pPr>
            <a:r>
              <a:rPr b="0" i="1" lang="en-US" sz="1350" u="none" cap="none" strike="noStrike">
                <a:solidFill>
                  <a:srgbClr val="CFE4E6"/>
                </a:solidFill>
                <a:latin typeface="Calibri"/>
                <a:ea typeface="Calibri"/>
                <a:cs typeface="Calibri"/>
                <a:sym typeface="Calibri"/>
              </a:rPr>
              <a:t>Working code is not done. No accelerator is announced internally until all eight of these exist.</a:t>
            </a:r>
            <a:endParaRPr b="0" i="0" sz="1350" u="none" cap="none" strike="noStrike">
              <a:solidFill>
                <a:schemeClr val="dk1"/>
              </a:solidFill>
              <a:latin typeface="Calibri"/>
              <a:ea typeface="Calibri"/>
              <a:cs typeface="Calibri"/>
              <a:sym typeface="Calibri"/>
            </a:endParaRPr>
          </a:p>
        </p:txBody>
      </p:sp>
      <p:sp>
        <p:nvSpPr>
          <p:cNvPr id="1753" name="Google Shape;1753;p29"/>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B8BD"/>
              </a:buClr>
              <a:buSzPts val="950"/>
              <a:buFont typeface="Calibri"/>
              <a:buNone/>
            </a:pPr>
            <a:r>
              <a:rPr b="0" i="0" lang="en-US" sz="950" u="none" cap="none" strike="noStrike">
                <a:solidFill>
                  <a:srgbClr val="7FB8BD"/>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754" name="Google Shape;1754;p29"/>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FB8BD"/>
              </a:buClr>
              <a:buSzPts val="950"/>
              <a:buFont typeface="Calibri"/>
              <a:buNone/>
            </a:pPr>
            <a:r>
              <a:rPr b="0" i="0" lang="en-US" sz="950" u="none" cap="none" strike="noStrike">
                <a:solidFill>
                  <a:srgbClr val="7FB8BD"/>
                </a:solidFill>
                <a:latin typeface="Calibri"/>
                <a:ea typeface="Calibri"/>
                <a:cs typeface="Calibri"/>
                <a:sym typeface="Calibri"/>
              </a:rPr>
              <a:t>29</a:t>
            </a:r>
            <a:endParaRPr b="0" i="0" sz="950" u="none" cap="none" strike="noStrike">
              <a:solidFill>
                <a:schemeClr val="dk1"/>
              </a:solidFill>
              <a:latin typeface="Calibri"/>
              <a:ea typeface="Calibri"/>
              <a:cs typeface="Calibri"/>
              <a:sym typeface="Calibri"/>
            </a:endParaRPr>
          </a:p>
        </p:txBody>
      </p:sp>
      <p:sp>
        <p:nvSpPr>
          <p:cNvPr id="1755" name="Google Shape;1755;p29"/>
          <p:cNvSpPr/>
          <p:nvPr/>
        </p:nvSpPr>
        <p:spPr>
          <a:xfrm>
            <a:off x="566928" y="1499616"/>
            <a:ext cx="2599868" cy="2011680"/>
          </a:xfrm>
          <a:prstGeom prst="roundRect">
            <a:avLst>
              <a:gd fmla="val 4091"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9"/>
          <p:cNvSpPr/>
          <p:nvPr/>
        </p:nvSpPr>
        <p:spPr>
          <a:xfrm>
            <a:off x="786384" y="1682496"/>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29"/>
          <p:cNvSpPr/>
          <p:nvPr/>
        </p:nvSpPr>
        <p:spPr>
          <a:xfrm>
            <a:off x="786384" y="1682496"/>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758" name="Google Shape;1758;p29"/>
          <p:cNvSpPr/>
          <p:nvPr/>
        </p:nvSpPr>
        <p:spPr>
          <a:xfrm>
            <a:off x="786384" y="2194560"/>
            <a:ext cx="2160956"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Seeded demo org</a:t>
            </a:r>
            <a:endParaRPr b="0" i="0" sz="1500" u="none" cap="none" strike="noStrike">
              <a:solidFill>
                <a:schemeClr val="dk1"/>
              </a:solidFill>
              <a:latin typeface="Calibri"/>
              <a:ea typeface="Calibri"/>
              <a:cs typeface="Calibri"/>
              <a:sym typeface="Calibri"/>
            </a:endParaRPr>
          </a:p>
        </p:txBody>
      </p:sp>
      <p:sp>
        <p:nvSpPr>
          <p:cNvPr id="1759" name="Google Shape;1759;p29"/>
          <p:cNvSpPr/>
          <p:nvPr/>
        </p:nvSpPr>
        <p:spPr>
          <a:xfrm>
            <a:off x="786384" y="2688336"/>
            <a:ext cx="216095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FE4E6"/>
              </a:buClr>
              <a:buSzPts val="1100"/>
              <a:buFont typeface="Calibri"/>
              <a:buNone/>
            </a:pPr>
            <a:r>
              <a:rPr b="0" i="0" lang="en-US" sz="1100" u="none" cap="none" strike="noStrike">
                <a:solidFill>
                  <a:srgbClr val="CFE4E6"/>
                </a:solidFill>
                <a:latin typeface="Calibri"/>
                <a:ea typeface="Calibri"/>
                <a:cs typeface="Calibri"/>
                <a:sym typeface="Calibri"/>
              </a:rPr>
              <a:t>Planted defects including suspicious patterns and a fake user set, so the demo never needs a live client.</a:t>
            </a:r>
            <a:endParaRPr b="0" i="0" sz="1100" u="none" cap="none" strike="noStrike">
              <a:solidFill>
                <a:schemeClr val="dk1"/>
              </a:solidFill>
              <a:latin typeface="Calibri"/>
              <a:ea typeface="Calibri"/>
              <a:cs typeface="Calibri"/>
              <a:sym typeface="Calibri"/>
            </a:endParaRPr>
          </a:p>
        </p:txBody>
      </p:sp>
      <p:sp>
        <p:nvSpPr>
          <p:cNvPr id="1760" name="Google Shape;1760;p29"/>
          <p:cNvSpPr/>
          <p:nvPr/>
        </p:nvSpPr>
        <p:spPr>
          <a:xfrm>
            <a:off x="3386252" y="1499616"/>
            <a:ext cx="2599868" cy="2011680"/>
          </a:xfrm>
          <a:prstGeom prst="roundRect">
            <a:avLst>
              <a:gd fmla="val 4091"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9"/>
          <p:cNvSpPr/>
          <p:nvPr/>
        </p:nvSpPr>
        <p:spPr>
          <a:xfrm>
            <a:off x="3605708" y="1682496"/>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9"/>
          <p:cNvSpPr/>
          <p:nvPr/>
        </p:nvSpPr>
        <p:spPr>
          <a:xfrm>
            <a:off x="3605708" y="1682496"/>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763" name="Google Shape;1763;p29"/>
          <p:cNvSpPr/>
          <p:nvPr/>
        </p:nvSpPr>
        <p:spPr>
          <a:xfrm>
            <a:off x="3605708" y="2194560"/>
            <a:ext cx="2160956"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Twenty minute script</a:t>
            </a:r>
            <a:endParaRPr b="0" i="0" sz="1500" u="none" cap="none" strike="noStrike">
              <a:solidFill>
                <a:schemeClr val="dk1"/>
              </a:solidFill>
              <a:latin typeface="Calibri"/>
              <a:ea typeface="Calibri"/>
              <a:cs typeface="Calibri"/>
              <a:sym typeface="Calibri"/>
            </a:endParaRPr>
          </a:p>
        </p:txBody>
      </p:sp>
      <p:sp>
        <p:nvSpPr>
          <p:cNvPr id="1764" name="Google Shape;1764;p29"/>
          <p:cNvSpPr/>
          <p:nvPr/>
        </p:nvSpPr>
        <p:spPr>
          <a:xfrm>
            <a:off x="3605708" y="2688336"/>
            <a:ext cx="216095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FE4E6"/>
              </a:buClr>
              <a:buSzPts val="1100"/>
              <a:buFont typeface="Calibri"/>
              <a:buNone/>
            </a:pPr>
            <a:r>
              <a:rPr b="0" i="0" lang="en-US" sz="1100" u="none" cap="none" strike="noStrike">
                <a:solidFill>
                  <a:srgbClr val="CFE4E6"/>
                </a:solidFill>
                <a:latin typeface="Calibri"/>
                <a:ea typeface="Calibri"/>
                <a:cs typeface="Calibri"/>
                <a:sym typeface="Calibri"/>
              </a:rPr>
              <a:t>Org score, then the matrix, then the user view, then the trend. In that order, every time.</a:t>
            </a:r>
            <a:endParaRPr b="0" i="0" sz="1100" u="none" cap="none" strike="noStrike">
              <a:solidFill>
                <a:schemeClr val="dk1"/>
              </a:solidFill>
              <a:latin typeface="Calibri"/>
              <a:ea typeface="Calibri"/>
              <a:cs typeface="Calibri"/>
              <a:sym typeface="Calibri"/>
            </a:endParaRPr>
          </a:p>
        </p:txBody>
      </p:sp>
      <p:sp>
        <p:nvSpPr>
          <p:cNvPr id="1765" name="Google Shape;1765;p29"/>
          <p:cNvSpPr/>
          <p:nvPr/>
        </p:nvSpPr>
        <p:spPr>
          <a:xfrm>
            <a:off x="6205576" y="1499616"/>
            <a:ext cx="2599868" cy="2011680"/>
          </a:xfrm>
          <a:prstGeom prst="roundRect">
            <a:avLst>
              <a:gd fmla="val 4091"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9"/>
          <p:cNvSpPr/>
          <p:nvPr/>
        </p:nvSpPr>
        <p:spPr>
          <a:xfrm>
            <a:off x="6425032" y="1682496"/>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29"/>
          <p:cNvSpPr/>
          <p:nvPr/>
        </p:nvSpPr>
        <p:spPr>
          <a:xfrm>
            <a:off x="6425032" y="1682496"/>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768" name="Google Shape;1768;p29"/>
          <p:cNvSpPr/>
          <p:nvPr/>
        </p:nvSpPr>
        <p:spPr>
          <a:xfrm>
            <a:off x="6425032" y="2194560"/>
            <a:ext cx="2160956"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Sample report</a:t>
            </a:r>
            <a:endParaRPr b="0" i="0" sz="1500" u="none" cap="none" strike="noStrike">
              <a:solidFill>
                <a:schemeClr val="dk1"/>
              </a:solidFill>
              <a:latin typeface="Calibri"/>
              <a:ea typeface="Calibri"/>
              <a:cs typeface="Calibri"/>
              <a:sym typeface="Calibri"/>
            </a:endParaRPr>
          </a:p>
        </p:txBody>
      </p:sp>
      <p:sp>
        <p:nvSpPr>
          <p:cNvPr id="1769" name="Google Shape;1769;p29"/>
          <p:cNvSpPr/>
          <p:nvPr/>
        </p:nvSpPr>
        <p:spPr>
          <a:xfrm>
            <a:off x="6425032" y="2688336"/>
            <a:ext cx="216095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FE4E6"/>
              </a:buClr>
              <a:buSzPts val="1100"/>
              <a:buFont typeface="Calibri"/>
              <a:buNone/>
            </a:pPr>
            <a:r>
              <a:rPr b="0" i="0" lang="en-US" sz="1100" u="none" cap="none" strike="noStrike">
                <a:solidFill>
                  <a:srgbClr val="CFE4E6"/>
                </a:solidFill>
                <a:latin typeface="Calibri"/>
                <a:ea typeface="Calibri"/>
                <a:cs typeface="Calibri"/>
                <a:sym typeface="Calibri"/>
              </a:rPr>
              <a:t>A written anonymised report covering all three lenses, emailable to a prospect before any scan.</a:t>
            </a:r>
            <a:endParaRPr b="0" i="0" sz="1100" u="none" cap="none" strike="noStrike">
              <a:solidFill>
                <a:schemeClr val="dk1"/>
              </a:solidFill>
              <a:latin typeface="Calibri"/>
              <a:ea typeface="Calibri"/>
              <a:cs typeface="Calibri"/>
              <a:sym typeface="Calibri"/>
            </a:endParaRPr>
          </a:p>
        </p:txBody>
      </p:sp>
      <p:sp>
        <p:nvSpPr>
          <p:cNvPr id="1770" name="Google Shape;1770;p29"/>
          <p:cNvSpPr/>
          <p:nvPr/>
        </p:nvSpPr>
        <p:spPr>
          <a:xfrm>
            <a:off x="9024899" y="1499616"/>
            <a:ext cx="2599868" cy="2011680"/>
          </a:xfrm>
          <a:prstGeom prst="roundRect">
            <a:avLst>
              <a:gd fmla="val 4091"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9"/>
          <p:cNvSpPr/>
          <p:nvPr/>
        </p:nvSpPr>
        <p:spPr>
          <a:xfrm>
            <a:off x="9244355" y="1682496"/>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9"/>
          <p:cNvSpPr/>
          <p:nvPr/>
        </p:nvSpPr>
        <p:spPr>
          <a:xfrm>
            <a:off x="9244355" y="1682496"/>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773" name="Google Shape;1773;p29"/>
          <p:cNvSpPr/>
          <p:nvPr/>
        </p:nvSpPr>
        <p:spPr>
          <a:xfrm>
            <a:off x="9244355" y="2194560"/>
            <a:ext cx="2160956"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Pricing sheet</a:t>
            </a:r>
            <a:endParaRPr b="0" i="0" sz="1500" u="none" cap="none" strike="noStrike">
              <a:solidFill>
                <a:schemeClr val="dk1"/>
              </a:solidFill>
              <a:latin typeface="Calibri"/>
              <a:ea typeface="Calibri"/>
              <a:cs typeface="Calibri"/>
              <a:sym typeface="Calibri"/>
            </a:endParaRPr>
          </a:p>
        </p:txBody>
      </p:sp>
      <p:sp>
        <p:nvSpPr>
          <p:cNvPr id="1774" name="Google Shape;1774;p29"/>
          <p:cNvSpPr/>
          <p:nvPr/>
        </p:nvSpPr>
        <p:spPr>
          <a:xfrm>
            <a:off x="9244355" y="2688336"/>
            <a:ext cx="216095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FE4E6"/>
              </a:buClr>
              <a:buSzPts val="1100"/>
              <a:buFont typeface="Calibri"/>
              <a:buNone/>
            </a:pPr>
            <a:r>
              <a:rPr b="0" i="0" lang="en-US" sz="1100" u="none" cap="none" strike="noStrike">
                <a:solidFill>
                  <a:srgbClr val="CFE4E6"/>
                </a:solidFill>
                <a:latin typeface="Calibri"/>
                <a:ea typeface="Calibri"/>
                <a:cs typeface="Calibri"/>
                <a:sym typeface="Calibri"/>
              </a:rPr>
              <a:t>Free pre sales scan, fixed price audit in three org size bands, monthly monitoring rate.</a:t>
            </a:r>
            <a:endParaRPr b="0" i="0" sz="1100" u="none" cap="none" strike="noStrike">
              <a:solidFill>
                <a:schemeClr val="dk1"/>
              </a:solidFill>
              <a:latin typeface="Calibri"/>
              <a:ea typeface="Calibri"/>
              <a:cs typeface="Calibri"/>
              <a:sym typeface="Calibri"/>
            </a:endParaRPr>
          </a:p>
        </p:txBody>
      </p:sp>
      <p:sp>
        <p:nvSpPr>
          <p:cNvPr id="1775" name="Google Shape;1775;p29"/>
          <p:cNvSpPr/>
          <p:nvPr/>
        </p:nvSpPr>
        <p:spPr>
          <a:xfrm>
            <a:off x="566928" y="3730752"/>
            <a:ext cx="2599868" cy="2011680"/>
          </a:xfrm>
          <a:prstGeom prst="roundRect">
            <a:avLst>
              <a:gd fmla="val 4091"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9"/>
          <p:cNvSpPr/>
          <p:nvPr/>
        </p:nvSpPr>
        <p:spPr>
          <a:xfrm>
            <a:off x="786384" y="3913632"/>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9"/>
          <p:cNvSpPr/>
          <p:nvPr/>
        </p:nvSpPr>
        <p:spPr>
          <a:xfrm>
            <a:off x="786384" y="3913632"/>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1778" name="Google Shape;1778;p29"/>
          <p:cNvSpPr/>
          <p:nvPr/>
        </p:nvSpPr>
        <p:spPr>
          <a:xfrm>
            <a:off x="786384" y="4425696"/>
            <a:ext cx="2160956"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SOW template</a:t>
            </a:r>
            <a:endParaRPr b="0" i="0" sz="1500" u="none" cap="none" strike="noStrike">
              <a:solidFill>
                <a:schemeClr val="dk1"/>
              </a:solidFill>
              <a:latin typeface="Calibri"/>
              <a:ea typeface="Calibri"/>
              <a:cs typeface="Calibri"/>
              <a:sym typeface="Calibri"/>
            </a:endParaRPr>
          </a:p>
        </p:txBody>
      </p:sp>
      <p:sp>
        <p:nvSpPr>
          <p:cNvPr id="1779" name="Google Shape;1779;p29"/>
          <p:cNvSpPr/>
          <p:nvPr/>
        </p:nvSpPr>
        <p:spPr>
          <a:xfrm>
            <a:off x="786384" y="4919472"/>
            <a:ext cx="216095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FE4E6"/>
              </a:buClr>
              <a:buSzPts val="1100"/>
              <a:buFont typeface="Calibri"/>
              <a:buNone/>
            </a:pPr>
            <a:r>
              <a:rPr b="0" i="0" lang="en-US" sz="1100" u="none" cap="none" strike="noStrike">
                <a:solidFill>
                  <a:srgbClr val="CFE4E6"/>
                </a:solidFill>
                <a:latin typeface="Calibri"/>
                <a:ea typeface="Calibri"/>
                <a:cs typeface="Calibri"/>
                <a:sym typeface="Calibri"/>
              </a:rPr>
              <a:t>Scope, exclusions, the three waves, and the score guarantee tied to wave three being delivered.</a:t>
            </a:r>
            <a:endParaRPr b="0" i="0" sz="1100" u="none" cap="none" strike="noStrike">
              <a:solidFill>
                <a:schemeClr val="dk1"/>
              </a:solidFill>
              <a:latin typeface="Calibri"/>
              <a:ea typeface="Calibri"/>
              <a:cs typeface="Calibri"/>
              <a:sym typeface="Calibri"/>
            </a:endParaRPr>
          </a:p>
        </p:txBody>
      </p:sp>
      <p:sp>
        <p:nvSpPr>
          <p:cNvPr id="1780" name="Google Shape;1780;p29"/>
          <p:cNvSpPr/>
          <p:nvPr/>
        </p:nvSpPr>
        <p:spPr>
          <a:xfrm>
            <a:off x="3386252" y="3730752"/>
            <a:ext cx="2599868" cy="2011680"/>
          </a:xfrm>
          <a:prstGeom prst="roundRect">
            <a:avLst>
              <a:gd fmla="val 4091"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29"/>
          <p:cNvSpPr/>
          <p:nvPr/>
        </p:nvSpPr>
        <p:spPr>
          <a:xfrm>
            <a:off x="3605708" y="3913632"/>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9"/>
          <p:cNvSpPr/>
          <p:nvPr/>
        </p:nvSpPr>
        <p:spPr>
          <a:xfrm>
            <a:off x="3605708" y="3913632"/>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1783" name="Google Shape;1783;p29"/>
          <p:cNvSpPr/>
          <p:nvPr/>
        </p:nvSpPr>
        <p:spPr>
          <a:xfrm>
            <a:off x="3605708" y="4425696"/>
            <a:ext cx="2160956"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User view protocol</a:t>
            </a:r>
            <a:endParaRPr b="0" i="0" sz="1500" u="none" cap="none" strike="noStrike">
              <a:solidFill>
                <a:schemeClr val="dk1"/>
              </a:solidFill>
              <a:latin typeface="Calibri"/>
              <a:ea typeface="Calibri"/>
              <a:cs typeface="Calibri"/>
              <a:sym typeface="Calibri"/>
            </a:endParaRPr>
          </a:p>
        </p:txBody>
      </p:sp>
      <p:sp>
        <p:nvSpPr>
          <p:cNvPr id="1784" name="Google Shape;1784;p29"/>
          <p:cNvSpPr/>
          <p:nvPr/>
        </p:nvSpPr>
        <p:spPr>
          <a:xfrm>
            <a:off x="3605708" y="4919472"/>
            <a:ext cx="216095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FE4E6"/>
              </a:buClr>
              <a:buSzPts val="1100"/>
              <a:buFont typeface="Calibri"/>
              <a:buNone/>
            </a:pPr>
            <a:r>
              <a:rPr b="0" i="0" lang="en-US" sz="1100" u="none" cap="none" strike="noStrike">
                <a:solidFill>
                  <a:srgbClr val="CFE4E6"/>
                </a:solidFill>
                <a:latin typeface="Calibri"/>
                <a:ea typeface="Calibri"/>
                <a:cs typeface="Calibri"/>
                <a:sym typeface="Calibri"/>
              </a:rPr>
              <a:t>A written rule for how the user lens is presented to a client, so it never becomes a disciplinary weapon.</a:t>
            </a:r>
            <a:endParaRPr b="0" i="0" sz="1100" u="none" cap="none" strike="noStrike">
              <a:solidFill>
                <a:schemeClr val="dk1"/>
              </a:solidFill>
              <a:latin typeface="Calibri"/>
              <a:ea typeface="Calibri"/>
              <a:cs typeface="Calibri"/>
              <a:sym typeface="Calibri"/>
            </a:endParaRPr>
          </a:p>
        </p:txBody>
      </p:sp>
      <p:sp>
        <p:nvSpPr>
          <p:cNvPr id="1785" name="Google Shape;1785;p29"/>
          <p:cNvSpPr/>
          <p:nvPr/>
        </p:nvSpPr>
        <p:spPr>
          <a:xfrm>
            <a:off x="6205576" y="3730752"/>
            <a:ext cx="2599868" cy="2011680"/>
          </a:xfrm>
          <a:prstGeom prst="roundRect">
            <a:avLst>
              <a:gd fmla="val 4091"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29"/>
          <p:cNvSpPr/>
          <p:nvPr/>
        </p:nvSpPr>
        <p:spPr>
          <a:xfrm>
            <a:off x="6425032" y="3913632"/>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29"/>
          <p:cNvSpPr/>
          <p:nvPr/>
        </p:nvSpPr>
        <p:spPr>
          <a:xfrm>
            <a:off x="6425032" y="3913632"/>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7</a:t>
            </a:r>
            <a:endParaRPr b="0" i="0" sz="1300" u="none" cap="none" strike="noStrike">
              <a:solidFill>
                <a:schemeClr val="dk1"/>
              </a:solidFill>
              <a:latin typeface="Calibri"/>
              <a:ea typeface="Calibri"/>
              <a:cs typeface="Calibri"/>
              <a:sym typeface="Calibri"/>
            </a:endParaRPr>
          </a:p>
        </p:txBody>
      </p:sp>
      <p:sp>
        <p:nvSpPr>
          <p:cNvPr id="1788" name="Google Shape;1788;p29"/>
          <p:cNvSpPr/>
          <p:nvPr/>
        </p:nvSpPr>
        <p:spPr>
          <a:xfrm>
            <a:off x="6425032" y="4425696"/>
            <a:ext cx="2160956"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Runbook</a:t>
            </a:r>
            <a:endParaRPr b="0" i="0" sz="1500" u="none" cap="none" strike="noStrike">
              <a:solidFill>
                <a:schemeClr val="dk1"/>
              </a:solidFill>
              <a:latin typeface="Calibri"/>
              <a:ea typeface="Calibri"/>
              <a:cs typeface="Calibri"/>
              <a:sym typeface="Calibri"/>
            </a:endParaRPr>
          </a:p>
        </p:txBody>
      </p:sp>
      <p:sp>
        <p:nvSpPr>
          <p:cNvPr id="1789" name="Google Shape;1789;p29"/>
          <p:cNvSpPr/>
          <p:nvPr/>
        </p:nvSpPr>
        <p:spPr>
          <a:xfrm>
            <a:off x="6425032" y="4919472"/>
            <a:ext cx="216095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FE4E6"/>
              </a:buClr>
              <a:buSzPts val="1100"/>
              <a:buFont typeface="Calibri"/>
              <a:buNone/>
            </a:pPr>
            <a:r>
              <a:rPr b="0" i="0" lang="en-US" sz="1100" u="none" cap="none" strike="noStrike">
                <a:solidFill>
                  <a:srgbClr val="CFE4E6"/>
                </a:solidFill>
                <a:latin typeface="Calibri"/>
                <a:ea typeface="Calibri"/>
                <a:cs typeface="Calibri"/>
                <a:sym typeface="Calibri"/>
              </a:rPr>
              <a:t>Onboarding an org, throttling, rolling back a bad rule, halting a running action.</a:t>
            </a:r>
            <a:endParaRPr b="0" i="0" sz="1100" u="none" cap="none" strike="noStrike">
              <a:solidFill>
                <a:schemeClr val="dk1"/>
              </a:solidFill>
              <a:latin typeface="Calibri"/>
              <a:ea typeface="Calibri"/>
              <a:cs typeface="Calibri"/>
              <a:sym typeface="Calibri"/>
            </a:endParaRPr>
          </a:p>
        </p:txBody>
      </p:sp>
      <p:sp>
        <p:nvSpPr>
          <p:cNvPr id="1790" name="Google Shape;1790;p29"/>
          <p:cNvSpPr/>
          <p:nvPr/>
        </p:nvSpPr>
        <p:spPr>
          <a:xfrm>
            <a:off x="9024899" y="3730752"/>
            <a:ext cx="2599868" cy="2011680"/>
          </a:xfrm>
          <a:prstGeom prst="roundRect">
            <a:avLst>
              <a:gd fmla="val 4091"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9"/>
          <p:cNvSpPr/>
          <p:nvPr/>
        </p:nvSpPr>
        <p:spPr>
          <a:xfrm>
            <a:off x="9244355" y="3913632"/>
            <a:ext cx="384048" cy="384048"/>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9"/>
          <p:cNvSpPr/>
          <p:nvPr/>
        </p:nvSpPr>
        <p:spPr>
          <a:xfrm>
            <a:off x="9244355" y="3913632"/>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8</a:t>
            </a:r>
            <a:endParaRPr b="0" i="0" sz="1300" u="none" cap="none" strike="noStrike">
              <a:solidFill>
                <a:schemeClr val="dk1"/>
              </a:solidFill>
              <a:latin typeface="Calibri"/>
              <a:ea typeface="Calibri"/>
              <a:cs typeface="Calibri"/>
              <a:sym typeface="Calibri"/>
            </a:endParaRPr>
          </a:p>
        </p:txBody>
      </p:sp>
      <p:sp>
        <p:nvSpPr>
          <p:cNvPr id="1793" name="Google Shape;1793;p29"/>
          <p:cNvSpPr/>
          <p:nvPr/>
        </p:nvSpPr>
        <p:spPr>
          <a:xfrm>
            <a:off x="9244355" y="4425696"/>
            <a:ext cx="2160956"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Handover</a:t>
            </a:r>
            <a:endParaRPr b="0" i="0" sz="1500" u="none" cap="none" strike="noStrike">
              <a:solidFill>
                <a:schemeClr val="dk1"/>
              </a:solidFill>
              <a:latin typeface="Calibri"/>
              <a:ea typeface="Calibri"/>
              <a:cs typeface="Calibri"/>
              <a:sym typeface="Calibri"/>
            </a:endParaRPr>
          </a:p>
        </p:txBody>
      </p:sp>
      <p:sp>
        <p:nvSpPr>
          <p:cNvPr id="1794" name="Google Shape;1794;p29"/>
          <p:cNvSpPr/>
          <p:nvPr/>
        </p:nvSpPr>
        <p:spPr>
          <a:xfrm>
            <a:off x="9244355" y="4919472"/>
            <a:ext cx="216095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CFE4E6"/>
              </a:buClr>
              <a:buSzPts val="1100"/>
              <a:buFont typeface="Calibri"/>
              <a:buNone/>
            </a:pPr>
            <a:r>
              <a:rPr b="0" i="0" lang="en-US" sz="1100" u="none" cap="none" strike="noStrike">
                <a:solidFill>
                  <a:srgbClr val="CFE4E6"/>
                </a:solidFill>
                <a:latin typeface="Calibri"/>
                <a:ea typeface="Calibri"/>
                <a:cs typeface="Calibri"/>
                <a:sym typeface="Calibri"/>
              </a:rPr>
              <a:t>A second person can run, tune and support it. One owner is a single point of failure.</a:t>
            </a:r>
            <a:endParaRPr b="0" i="0" sz="1100" u="none" cap="none" strike="noStrike">
              <a:solidFill>
                <a:schemeClr val="dk1"/>
              </a:solidFill>
              <a:latin typeface="Calibri"/>
              <a:ea typeface="Calibri"/>
              <a:cs typeface="Calibri"/>
              <a:sym typeface="Calibri"/>
            </a:endParaRPr>
          </a:p>
        </p:txBody>
      </p:sp>
      <p:sp>
        <p:nvSpPr>
          <p:cNvPr id="1795" name="Google Shape;1795;p29"/>
          <p:cNvSpPr/>
          <p:nvPr/>
        </p:nvSpPr>
        <p:spPr>
          <a:xfrm>
            <a:off x="566928" y="5852160"/>
            <a:ext cx="11057839" cy="384048"/>
          </a:xfrm>
          <a:prstGeom prst="roundRect">
            <a:avLst>
              <a:gd fmla="val 16667" name="adj"/>
            </a:avLst>
          </a:prstGeom>
          <a:solidFill>
            <a:srgbClr val="0E3C44"/>
          </a:solidFill>
          <a:ln cap="flat" cmpd="sng" w="9525">
            <a:solidFill>
              <a:srgbClr val="3FC1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9"/>
          <p:cNvSpPr/>
          <p:nvPr/>
        </p:nvSpPr>
        <p:spPr>
          <a:xfrm>
            <a:off x="713232" y="5852160"/>
            <a:ext cx="10765231"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Item 6 is new and it is not optional. The user lens is the most powerful and the most dangerous screen we have ever built for a client.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1" name="Shape 1801"/>
        <p:cNvGrpSpPr/>
        <p:nvPr/>
      </p:nvGrpSpPr>
      <p:grpSpPr>
        <a:xfrm>
          <a:off x="0" y="0"/>
          <a:ext cx="0" cy="0"/>
          <a:chOff x="0" y="0"/>
          <a:chExt cx="0" cy="0"/>
        </a:xfrm>
      </p:grpSpPr>
      <p:sp>
        <p:nvSpPr>
          <p:cNvPr id="1802" name="Google Shape;1802;p30"/>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How it earns</a:t>
            </a:r>
            <a:endParaRPr b="0" i="0" sz="3000" u="none" cap="none" strike="noStrike">
              <a:solidFill>
                <a:schemeClr val="dk1"/>
              </a:solidFill>
              <a:latin typeface="Calibri"/>
              <a:ea typeface="Calibri"/>
              <a:cs typeface="Calibri"/>
              <a:sym typeface="Calibri"/>
            </a:endParaRPr>
          </a:p>
        </p:txBody>
      </p:sp>
      <p:sp>
        <p:nvSpPr>
          <p:cNvPr id="1803" name="Google Shape;1803;p30"/>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The scan itself is not the product. It is the door.</a:t>
            </a:r>
            <a:endParaRPr b="0" i="0" sz="1350" u="none" cap="none" strike="noStrike">
              <a:solidFill>
                <a:schemeClr val="dk1"/>
              </a:solidFill>
              <a:latin typeface="Calibri"/>
              <a:ea typeface="Calibri"/>
              <a:cs typeface="Calibri"/>
              <a:sym typeface="Calibri"/>
            </a:endParaRPr>
          </a:p>
        </p:txBody>
      </p:sp>
      <p:sp>
        <p:nvSpPr>
          <p:cNvPr id="1804" name="Google Shape;1804;p30"/>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805" name="Google Shape;1805;p30"/>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30</a:t>
            </a:r>
            <a:endParaRPr b="0" i="0" sz="950" u="none" cap="none" strike="noStrike">
              <a:solidFill>
                <a:schemeClr val="dk1"/>
              </a:solidFill>
              <a:latin typeface="Calibri"/>
              <a:ea typeface="Calibri"/>
              <a:cs typeface="Calibri"/>
              <a:sym typeface="Calibri"/>
            </a:endParaRPr>
          </a:p>
        </p:txBody>
      </p:sp>
      <p:sp>
        <p:nvSpPr>
          <p:cNvPr id="1806" name="Google Shape;1806;p30"/>
          <p:cNvSpPr/>
          <p:nvPr/>
        </p:nvSpPr>
        <p:spPr>
          <a:xfrm>
            <a:off x="566928" y="1691640"/>
            <a:ext cx="2094525" cy="1645920"/>
          </a:xfrm>
          <a:prstGeom prst="roundRect">
            <a:avLst>
              <a:gd fmla="val 4444"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0"/>
          <p:cNvSpPr/>
          <p:nvPr/>
        </p:nvSpPr>
        <p:spPr>
          <a:xfrm>
            <a:off x="694944" y="1783080"/>
            <a:ext cx="1838493"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000"/>
              <a:buFont typeface="Calibri"/>
              <a:buNone/>
            </a:pPr>
            <a:r>
              <a:rPr b="1" i="0" lang="en-US" sz="1000" u="none" cap="none" strike="noStrike">
                <a:solidFill>
                  <a:srgbClr val="046B73"/>
                </a:solidFill>
                <a:latin typeface="Calibri"/>
                <a:ea typeface="Calibri"/>
                <a:cs typeface="Calibri"/>
                <a:sym typeface="Calibri"/>
              </a:rPr>
              <a:t>01</a:t>
            </a:r>
            <a:endParaRPr b="0" i="0" sz="1000" u="none" cap="none" strike="noStrike">
              <a:solidFill>
                <a:schemeClr val="dk1"/>
              </a:solidFill>
              <a:latin typeface="Calibri"/>
              <a:ea typeface="Calibri"/>
              <a:cs typeface="Calibri"/>
              <a:sym typeface="Calibri"/>
            </a:endParaRPr>
          </a:p>
        </p:txBody>
      </p:sp>
      <p:sp>
        <p:nvSpPr>
          <p:cNvPr id="1808" name="Google Shape;1808;p30"/>
          <p:cNvSpPr/>
          <p:nvPr/>
        </p:nvSpPr>
        <p:spPr>
          <a:xfrm>
            <a:off x="694944" y="2039112"/>
            <a:ext cx="1838493" cy="402336"/>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B1F24"/>
              </a:buClr>
              <a:buSzPts val="1250"/>
              <a:buFont typeface="Cambria"/>
              <a:buNone/>
            </a:pPr>
            <a:r>
              <a:rPr b="1" i="0" lang="en-US" sz="1250" u="none" cap="none" strike="noStrike">
                <a:solidFill>
                  <a:srgbClr val="1B1F24"/>
                </a:solidFill>
                <a:latin typeface="Cambria"/>
                <a:ea typeface="Cambria"/>
                <a:cs typeface="Cambria"/>
                <a:sym typeface="Cambria"/>
              </a:rPr>
              <a:t>Free scan</a:t>
            </a:r>
            <a:endParaRPr b="0" i="0" sz="1250" u="none" cap="none" strike="noStrike">
              <a:solidFill>
                <a:schemeClr val="dk1"/>
              </a:solidFill>
              <a:latin typeface="Calibri"/>
              <a:ea typeface="Calibri"/>
              <a:cs typeface="Calibri"/>
              <a:sym typeface="Calibri"/>
            </a:endParaRPr>
          </a:p>
        </p:txBody>
      </p:sp>
      <p:sp>
        <p:nvSpPr>
          <p:cNvPr id="1809" name="Google Shape;1809;p30"/>
          <p:cNvSpPr/>
          <p:nvPr/>
        </p:nvSpPr>
        <p:spPr>
          <a:xfrm>
            <a:off x="694944" y="2441448"/>
            <a:ext cx="1838493" cy="7863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980"/>
              <a:buFont typeface="Calibri"/>
              <a:buNone/>
            </a:pPr>
            <a:r>
              <a:rPr b="0" i="0" lang="en-US" sz="980" u="none" cap="none" strike="noStrike">
                <a:solidFill>
                  <a:srgbClr val="6B7280"/>
                </a:solidFill>
                <a:latin typeface="Calibri"/>
                <a:ea typeface="Calibri"/>
                <a:cs typeface="Calibri"/>
                <a:sym typeface="Calibri"/>
              </a:rPr>
              <a:t>Ninety day sample run, 45 minutes, delivered in the meeting. Costs us one consultant hour.</a:t>
            </a:r>
            <a:endParaRPr b="0" i="0" sz="980" u="none" cap="none" strike="noStrike">
              <a:solidFill>
                <a:schemeClr val="dk1"/>
              </a:solidFill>
              <a:latin typeface="Calibri"/>
              <a:ea typeface="Calibri"/>
              <a:cs typeface="Calibri"/>
              <a:sym typeface="Calibri"/>
            </a:endParaRPr>
          </a:p>
        </p:txBody>
      </p:sp>
      <p:sp>
        <p:nvSpPr>
          <p:cNvPr id="1810" name="Google Shape;1810;p30"/>
          <p:cNvSpPr/>
          <p:nvPr/>
        </p:nvSpPr>
        <p:spPr>
          <a:xfrm rot="5400000">
            <a:off x="2675169" y="2446020"/>
            <a:ext cx="118872" cy="137160"/>
          </a:xfrm>
          <a:prstGeom prst="triangle">
            <a:avLst>
              <a:gd fmla="val 5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30"/>
          <p:cNvSpPr/>
          <p:nvPr/>
        </p:nvSpPr>
        <p:spPr>
          <a:xfrm>
            <a:off x="2807757" y="1691640"/>
            <a:ext cx="2094525" cy="1645920"/>
          </a:xfrm>
          <a:prstGeom prst="roundRect">
            <a:avLst>
              <a:gd fmla="val 4444"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30"/>
          <p:cNvSpPr/>
          <p:nvPr/>
        </p:nvSpPr>
        <p:spPr>
          <a:xfrm>
            <a:off x="2935773" y="1783080"/>
            <a:ext cx="1838493"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000"/>
              <a:buFont typeface="Calibri"/>
              <a:buNone/>
            </a:pPr>
            <a:r>
              <a:rPr b="1" i="0" lang="en-US" sz="1000" u="none" cap="none" strike="noStrike">
                <a:solidFill>
                  <a:srgbClr val="046B73"/>
                </a:solidFill>
                <a:latin typeface="Calibri"/>
                <a:ea typeface="Calibri"/>
                <a:cs typeface="Calibri"/>
                <a:sym typeface="Calibri"/>
              </a:rPr>
              <a:t>02</a:t>
            </a:r>
            <a:endParaRPr b="0" i="0" sz="1000" u="none" cap="none" strike="noStrike">
              <a:solidFill>
                <a:schemeClr val="dk1"/>
              </a:solidFill>
              <a:latin typeface="Calibri"/>
              <a:ea typeface="Calibri"/>
              <a:cs typeface="Calibri"/>
              <a:sym typeface="Calibri"/>
            </a:endParaRPr>
          </a:p>
        </p:txBody>
      </p:sp>
      <p:sp>
        <p:nvSpPr>
          <p:cNvPr id="1813" name="Google Shape;1813;p30"/>
          <p:cNvSpPr/>
          <p:nvPr/>
        </p:nvSpPr>
        <p:spPr>
          <a:xfrm>
            <a:off x="2935773" y="2039112"/>
            <a:ext cx="1838493" cy="402336"/>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B1F24"/>
              </a:buClr>
              <a:buSzPts val="1250"/>
              <a:buFont typeface="Cambria"/>
              <a:buNone/>
            </a:pPr>
            <a:r>
              <a:rPr b="1" i="0" lang="en-US" sz="1250" u="none" cap="none" strike="noStrike">
                <a:solidFill>
                  <a:srgbClr val="1B1F24"/>
                </a:solidFill>
                <a:latin typeface="Cambria"/>
                <a:ea typeface="Cambria"/>
                <a:cs typeface="Cambria"/>
                <a:sym typeface="Cambria"/>
              </a:rPr>
              <a:t>Paid audit</a:t>
            </a:r>
            <a:endParaRPr b="0" i="0" sz="1250" u="none" cap="none" strike="noStrike">
              <a:solidFill>
                <a:schemeClr val="dk1"/>
              </a:solidFill>
              <a:latin typeface="Calibri"/>
              <a:ea typeface="Calibri"/>
              <a:cs typeface="Calibri"/>
              <a:sym typeface="Calibri"/>
            </a:endParaRPr>
          </a:p>
        </p:txBody>
      </p:sp>
      <p:sp>
        <p:nvSpPr>
          <p:cNvPr id="1814" name="Google Shape;1814;p30"/>
          <p:cNvSpPr/>
          <p:nvPr/>
        </p:nvSpPr>
        <p:spPr>
          <a:xfrm>
            <a:off x="2935773" y="2441448"/>
            <a:ext cx="1838493" cy="7863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980"/>
              <a:buFont typeface="Calibri"/>
              <a:buNone/>
            </a:pPr>
            <a:r>
              <a:rPr b="0" i="0" lang="en-US" sz="980" u="none" cap="none" strike="noStrike">
                <a:solidFill>
                  <a:srgbClr val="6B7280"/>
                </a:solidFill>
                <a:latin typeface="Calibri"/>
                <a:ea typeface="Calibri"/>
                <a:cs typeface="Calibri"/>
                <a:sym typeface="Calibri"/>
              </a:rPr>
              <a:t>Full history, all three lenses, written report, walkthrough. Fixed price by org size band.</a:t>
            </a:r>
            <a:endParaRPr b="0" i="0" sz="980" u="none" cap="none" strike="noStrike">
              <a:solidFill>
                <a:schemeClr val="dk1"/>
              </a:solidFill>
              <a:latin typeface="Calibri"/>
              <a:ea typeface="Calibri"/>
              <a:cs typeface="Calibri"/>
              <a:sym typeface="Calibri"/>
            </a:endParaRPr>
          </a:p>
        </p:txBody>
      </p:sp>
      <p:sp>
        <p:nvSpPr>
          <p:cNvPr id="1815" name="Google Shape;1815;p30"/>
          <p:cNvSpPr/>
          <p:nvPr/>
        </p:nvSpPr>
        <p:spPr>
          <a:xfrm rot="5400000">
            <a:off x="4915997" y="2446020"/>
            <a:ext cx="118872" cy="137160"/>
          </a:xfrm>
          <a:prstGeom prst="triangle">
            <a:avLst>
              <a:gd fmla="val 5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30"/>
          <p:cNvSpPr/>
          <p:nvPr/>
        </p:nvSpPr>
        <p:spPr>
          <a:xfrm>
            <a:off x="5048585" y="1691640"/>
            <a:ext cx="2094525" cy="1645920"/>
          </a:xfrm>
          <a:prstGeom prst="roundRect">
            <a:avLst>
              <a:gd fmla="val 4444"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0"/>
          <p:cNvSpPr/>
          <p:nvPr/>
        </p:nvSpPr>
        <p:spPr>
          <a:xfrm>
            <a:off x="5176601" y="1783080"/>
            <a:ext cx="1838493"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000"/>
              <a:buFont typeface="Calibri"/>
              <a:buNone/>
            </a:pPr>
            <a:r>
              <a:rPr b="1" i="0" lang="en-US" sz="1000" u="none" cap="none" strike="noStrike">
                <a:solidFill>
                  <a:srgbClr val="046B73"/>
                </a:solidFill>
                <a:latin typeface="Calibri"/>
                <a:ea typeface="Calibri"/>
                <a:cs typeface="Calibri"/>
                <a:sym typeface="Calibri"/>
              </a:rPr>
              <a:t>03</a:t>
            </a:r>
            <a:endParaRPr b="0" i="0" sz="1000" u="none" cap="none" strike="noStrike">
              <a:solidFill>
                <a:schemeClr val="dk1"/>
              </a:solidFill>
              <a:latin typeface="Calibri"/>
              <a:ea typeface="Calibri"/>
              <a:cs typeface="Calibri"/>
              <a:sym typeface="Calibri"/>
            </a:endParaRPr>
          </a:p>
        </p:txBody>
      </p:sp>
      <p:sp>
        <p:nvSpPr>
          <p:cNvPr id="1818" name="Google Shape;1818;p30"/>
          <p:cNvSpPr/>
          <p:nvPr/>
        </p:nvSpPr>
        <p:spPr>
          <a:xfrm>
            <a:off x="5176601" y="2039112"/>
            <a:ext cx="1838493" cy="402336"/>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B1F24"/>
              </a:buClr>
              <a:buSzPts val="1250"/>
              <a:buFont typeface="Cambria"/>
              <a:buNone/>
            </a:pPr>
            <a:r>
              <a:rPr b="1" i="0" lang="en-US" sz="1250" u="none" cap="none" strike="noStrike">
                <a:solidFill>
                  <a:srgbClr val="1B1F24"/>
                </a:solidFill>
                <a:latin typeface="Cambria"/>
                <a:ea typeface="Cambria"/>
                <a:cs typeface="Cambria"/>
                <a:sym typeface="Cambria"/>
              </a:rPr>
              <a:t>Wave 1 and 2</a:t>
            </a:r>
            <a:endParaRPr b="0" i="0" sz="1250" u="none" cap="none" strike="noStrike">
              <a:solidFill>
                <a:schemeClr val="dk1"/>
              </a:solidFill>
              <a:latin typeface="Calibri"/>
              <a:ea typeface="Calibri"/>
              <a:cs typeface="Calibri"/>
              <a:sym typeface="Calibri"/>
            </a:endParaRPr>
          </a:p>
        </p:txBody>
      </p:sp>
      <p:sp>
        <p:nvSpPr>
          <p:cNvPr id="1819" name="Google Shape;1819;p30"/>
          <p:cNvSpPr/>
          <p:nvPr/>
        </p:nvSpPr>
        <p:spPr>
          <a:xfrm>
            <a:off x="5176601" y="2441448"/>
            <a:ext cx="1838493" cy="7863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980"/>
              <a:buFont typeface="Calibri"/>
              <a:buNone/>
            </a:pPr>
            <a:r>
              <a:rPr b="0" i="0" lang="en-US" sz="980" u="none" cap="none" strike="noStrike">
                <a:solidFill>
                  <a:srgbClr val="6B7280"/>
                </a:solidFill>
                <a:latin typeface="Calibri"/>
                <a:ea typeface="Calibri"/>
                <a:cs typeface="Calibri"/>
                <a:sym typeface="Calibri"/>
              </a:rPr>
              <a:t>Mechanical and assisted remediation, priced from measured record counts. The largest line.</a:t>
            </a:r>
            <a:endParaRPr b="0" i="0" sz="980" u="none" cap="none" strike="noStrike">
              <a:solidFill>
                <a:schemeClr val="dk1"/>
              </a:solidFill>
              <a:latin typeface="Calibri"/>
              <a:ea typeface="Calibri"/>
              <a:cs typeface="Calibri"/>
              <a:sym typeface="Calibri"/>
            </a:endParaRPr>
          </a:p>
        </p:txBody>
      </p:sp>
      <p:sp>
        <p:nvSpPr>
          <p:cNvPr id="1820" name="Google Shape;1820;p30"/>
          <p:cNvSpPr/>
          <p:nvPr/>
        </p:nvSpPr>
        <p:spPr>
          <a:xfrm rot="5400000">
            <a:off x="7156826" y="2446020"/>
            <a:ext cx="118872" cy="137160"/>
          </a:xfrm>
          <a:prstGeom prst="triangle">
            <a:avLst>
              <a:gd fmla="val 5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0"/>
          <p:cNvSpPr/>
          <p:nvPr/>
        </p:nvSpPr>
        <p:spPr>
          <a:xfrm>
            <a:off x="7289414" y="1691640"/>
            <a:ext cx="2094525" cy="1645920"/>
          </a:xfrm>
          <a:prstGeom prst="roundRect">
            <a:avLst>
              <a:gd fmla="val 4444"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0"/>
          <p:cNvSpPr/>
          <p:nvPr/>
        </p:nvSpPr>
        <p:spPr>
          <a:xfrm>
            <a:off x="7417430" y="1783080"/>
            <a:ext cx="1838493"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000"/>
              <a:buFont typeface="Calibri"/>
              <a:buNone/>
            </a:pPr>
            <a:r>
              <a:rPr b="1" i="0" lang="en-US" sz="1000" u="none" cap="none" strike="noStrike">
                <a:solidFill>
                  <a:srgbClr val="046B73"/>
                </a:solidFill>
                <a:latin typeface="Calibri"/>
                <a:ea typeface="Calibri"/>
                <a:cs typeface="Calibri"/>
                <a:sym typeface="Calibri"/>
              </a:rPr>
              <a:t>04</a:t>
            </a:r>
            <a:endParaRPr b="0" i="0" sz="1000" u="none" cap="none" strike="noStrike">
              <a:solidFill>
                <a:schemeClr val="dk1"/>
              </a:solidFill>
              <a:latin typeface="Calibri"/>
              <a:ea typeface="Calibri"/>
              <a:cs typeface="Calibri"/>
              <a:sym typeface="Calibri"/>
            </a:endParaRPr>
          </a:p>
        </p:txBody>
      </p:sp>
      <p:sp>
        <p:nvSpPr>
          <p:cNvPr id="1823" name="Google Shape;1823;p30"/>
          <p:cNvSpPr/>
          <p:nvPr/>
        </p:nvSpPr>
        <p:spPr>
          <a:xfrm>
            <a:off x="7417430" y="2039112"/>
            <a:ext cx="1838493" cy="402336"/>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B1F24"/>
              </a:buClr>
              <a:buSzPts val="1250"/>
              <a:buFont typeface="Cambria"/>
              <a:buNone/>
            </a:pPr>
            <a:r>
              <a:rPr b="1" i="0" lang="en-US" sz="1250" u="none" cap="none" strike="noStrike">
                <a:solidFill>
                  <a:srgbClr val="1B1F24"/>
                </a:solidFill>
                <a:latin typeface="Cambria"/>
                <a:ea typeface="Cambria"/>
                <a:cs typeface="Cambria"/>
                <a:sym typeface="Cambria"/>
              </a:rPr>
              <a:t>Wave 3</a:t>
            </a:r>
            <a:endParaRPr b="0" i="0" sz="1250" u="none" cap="none" strike="noStrike">
              <a:solidFill>
                <a:schemeClr val="dk1"/>
              </a:solidFill>
              <a:latin typeface="Calibri"/>
              <a:ea typeface="Calibri"/>
              <a:cs typeface="Calibri"/>
              <a:sym typeface="Calibri"/>
            </a:endParaRPr>
          </a:p>
        </p:txBody>
      </p:sp>
      <p:sp>
        <p:nvSpPr>
          <p:cNvPr id="1824" name="Google Shape;1824;p30"/>
          <p:cNvSpPr/>
          <p:nvPr/>
        </p:nvSpPr>
        <p:spPr>
          <a:xfrm>
            <a:off x="7417430" y="2441448"/>
            <a:ext cx="1838493" cy="7863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980"/>
              <a:buFont typeface="Calibri"/>
              <a:buNone/>
            </a:pPr>
            <a:r>
              <a:rPr b="0" i="0" lang="en-US" sz="980" u="none" cap="none" strike="noStrike">
                <a:solidFill>
                  <a:srgbClr val="6B7280"/>
                </a:solidFill>
                <a:latin typeface="Calibri"/>
                <a:ea typeface="Calibri"/>
                <a:cs typeface="Calibri"/>
                <a:sym typeface="Calibri"/>
              </a:rPr>
              <a:t>Prevention controls configured. Required fields, masks, duplicate guard, plausibility, SLAs.</a:t>
            </a:r>
            <a:endParaRPr b="0" i="0" sz="980" u="none" cap="none" strike="noStrike">
              <a:solidFill>
                <a:schemeClr val="dk1"/>
              </a:solidFill>
              <a:latin typeface="Calibri"/>
              <a:ea typeface="Calibri"/>
              <a:cs typeface="Calibri"/>
              <a:sym typeface="Calibri"/>
            </a:endParaRPr>
          </a:p>
        </p:txBody>
      </p:sp>
      <p:sp>
        <p:nvSpPr>
          <p:cNvPr id="1825" name="Google Shape;1825;p30"/>
          <p:cNvSpPr/>
          <p:nvPr/>
        </p:nvSpPr>
        <p:spPr>
          <a:xfrm rot="5400000">
            <a:off x="9397655" y="2446020"/>
            <a:ext cx="118872" cy="137160"/>
          </a:xfrm>
          <a:prstGeom prst="triangle">
            <a:avLst>
              <a:gd fmla="val 50000"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0"/>
          <p:cNvSpPr/>
          <p:nvPr/>
        </p:nvSpPr>
        <p:spPr>
          <a:xfrm>
            <a:off x="9530243" y="1691640"/>
            <a:ext cx="2094525" cy="1645920"/>
          </a:xfrm>
          <a:prstGeom prst="roundRect">
            <a:avLst>
              <a:gd fmla="val 4444"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0"/>
          <p:cNvSpPr/>
          <p:nvPr/>
        </p:nvSpPr>
        <p:spPr>
          <a:xfrm>
            <a:off x="9658259" y="1783080"/>
            <a:ext cx="1838493"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46B73"/>
              </a:buClr>
              <a:buSzPts val="1000"/>
              <a:buFont typeface="Calibri"/>
              <a:buNone/>
            </a:pPr>
            <a:r>
              <a:rPr b="1" i="0" lang="en-US" sz="1000" u="none" cap="none" strike="noStrike">
                <a:solidFill>
                  <a:srgbClr val="046B73"/>
                </a:solidFill>
                <a:latin typeface="Calibri"/>
                <a:ea typeface="Calibri"/>
                <a:cs typeface="Calibri"/>
                <a:sym typeface="Calibri"/>
              </a:rPr>
              <a:t>05</a:t>
            </a:r>
            <a:endParaRPr b="0" i="0" sz="1000" u="none" cap="none" strike="noStrike">
              <a:solidFill>
                <a:schemeClr val="dk1"/>
              </a:solidFill>
              <a:latin typeface="Calibri"/>
              <a:ea typeface="Calibri"/>
              <a:cs typeface="Calibri"/>
              <a:sym typeface="Calibri"/>
            </a:endParaRPr>
          </a:p>
        </p:txBody>
      </p:sp>
      <p:sp>
        <p:nvSpPr>
          <p:cNvPr id="1828" name="Google Shape;1828;p30"/>
          <p:cNvSpPr/>
          <p:nvPr/>
        </p:nvSpPr>
        <p:spPr>
          <a:xfrm>
            <a:off x="9658259" y="2039112"/>
            <a:ext cx="1838493" cy="402336"/>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B1F24"/>
              </a:buClr>
              <a:buSzPts val="1250"/>
              <a:buFont typeface="Cambria"/>
              <a:buNone/>
            </a:pPr>
            <a:r>
              <a:rPr b="1" i="0" lang="en-US" sz="1250" u="none" cap="none" strike="noStrike">
                <a:solidFill>
                  <a:srgbClr val="1B1F24"/>
                </a:solidFill>
                <a:latin typeface="Cambria"/>
                <a:ea typeface="Cambria"/>
                <a:cs typeface="Cambria"/>
                <a:sym typeface="Cambria"/>
              </a:rPr>
              <a:t>Monitoring</a:t>
            </a:r>
            <a:endParaRPr b="0" i="0" sz="1250" u="none" cap="none" strike="noStrike">
              <a:solidFill>
                <a:schemeClr val="dk1"/>
              </a:solidFill>
              <a:latin typeface="Calibri"/>
              <a:ea typeface="Calibri"/>
              <a:cs typeface="Calibri"/>
              <a:sym typeface="Calibri"/>
            </a:endParaRPr>
          </a:p>
        </p:txBody>
      </p:sp>
      <p:sp>
        <p:nvSpPr>
          <p:cNvPr id="1829" name="Google Shape;1829;p30"/>
          <p:cNvSpPr/>
          <p:nvPr/>
        </p:nvSpPr>
        <p:spPr>
          <a:xfrm>
            <a:off x="9658259" y="2441448"/>
            <a:ext cx="1838493" cy="7863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B7280"/>
              </a:buClr>
              <a:buSzPts val="980"/>
              <a:buFont typeface="Calibri"/>
              <a:buNone/>
            </a:pPr>
            <a:r>
              <a:rPr b="0" i="0" lang="en-US" sz="980" u="none" cap="none" strike="noStrike">
                <a:solidFill>
                  <a:srgbClr val="6B7280"/>
                </a:solidFill>
                <a:latin typeface="Calibri"/>
                <a:ea typeface="Calibri"/>
                <a:cs typeface="Calibri"/>
                <a:sym typeface="Calibri"/>
              </a:rPr>
              <a:t>Monthly scan, delta report, alerts on any floor breach. Annual contract, renews on a number they watch.</a:t>
            </a:r>
            <a:endParaRPr b="0" i="0" sz="980" u="none" cap="none" strike="noStrike">
              <a:solidFill>
                <a:schemeClr val="dk1"/>
              </a:solidFill>
              <a:latin typeface="Calibri"/>
              <a:ea typeface="Calibri"/>
              <a:cs typeface="Calibri"/>
              <a:sym typeface="Calibri"/>
            </a:endParaRPr>
          </a:p>
        </p:txBody>
      </p:sp>
      <p:sp>
        <p:nvSpPr>
          <p:cNvPr id="1830" name="Google Shape;1830;p30"/>
          <p:cNvSpPr/>
          <p:nvPr/>
        </p:nvSpPr>
        <p:spPr>
          <a:xfrm>
            <a:off x="566928" y="3657600"/>
            <a:ext cx="3539642" cy="2103120"/>
          </a:xfrm>
          <a:prstGeom prst="roundRect">
            <a:avLst>
              <a:gd fmla="val 3913"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0"/>
          <p:cNvSpPr/>
          <p:nvPr/>
        </p:nvSpPr>
        <p:spPr>
          <a:xfrm>
            <a:off x="786384" y="3840480"/>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What we charge for</a:t>
            </a:r>
            <a:endParaRPr b="0" i="0" sz="1500" u="none" cap="none" strike="noStrike">
              <a:solidFill>
                <a:schemeClr val="dk1"/>
              </a:solidFill>
              <a:latin typeface="Calibri"/>
              <a:ea typeface="Calibri"/>
              <a:cs typeface="Calibri"/>
              <a:sym typeface="Calibri"/>
            </a:endParaRPr>
          </a:p>
        </p:txBody>
      </p:sp>
      <p:sp>
        <p:nvSpPr>
          <p:cNvPr id="1832" name="Google Shape;1832;p30"/>
          <p:cNvSpPr/>
          <p:nvPr/>
        </p:nvSpPr>
        <p:spPr>
          <a:xfrm>
            <a:off x="786384" y="4334256"/>
            <a:ext cx="3100730" cy="126187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The audit, the remediation and the monitoring. Never the first scan. Charging for the diagnosis is how you lose the treatment, and the diagnosis costs us almost nothing to produce.</a:t>
            </a:r>
            <a:endParaRPr b="0" i="0" sz="1150" u="none" cap="none" strike="noStrike">
              <a:solidFill>
                <a:schemeClr val="dk1"/>
              </a:solidFill>
              <a:latin typeface="Calibri"/>
              <a:ea typeface="Calibri"/>
              <a:cs typeface="Calibri"/>
              <a:sym typeface="Calibri"/>
            </a:endParaRPr>
          </a:p>
        </p:txBody>
      </p:sp>
      <p:sp>
        <p:nvSpPr>
          <p:cNvPr id="1833" name="Google Shape;1833;p30"/>
          <p:cNvSpPr/>
          <p:nvPr/>
        </p:nvSpPr>
        <p:spPr>
          <a:xfrm>
            <a:off x="4326026" y="3657600"/>
            <a:ext cx="3539642" cy="2103120"/>
          </a:xfrm>
          <a:prstGeom prst="roundRect">
            <a:avLst>
              <a:gd fmla="val 3913"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30"/>
          <p:cNvSpPr/>
          <p:nvPr/>
        </p:nvSpPr>
        <p:spPr>
          <a:xfrm>
            <a:off x="4545482" y="3840480"/>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Why the user lens sells</a:t>
            </a:r>
            <a:endParaRPr b="0" i="0" sz="1500" u="none" cap="none" strike="noStrike">
              <a:solidFill>
                <a:schemeClr val="dk1"/>
              </a:solidFill>
              <a:latin typeface="Calibri"/>
              <a:ea typeface="Calibri"/>
              <a:cs typeface="Calibri"/>
              <a:sym typeface="Calibri"/>
            </a:endParaRPr>
          </a:p>
        </p:txBody>
      </p:sp>
      <p:sp>
        <p:nvSpPr>
          <p:cNvPr id="1835" name="Google Shape;1835;p30"/>
          <p:cNvSpPr/>
          <p:nvPr/>
        </p:nvSpPr>
        <p:spPr>
          <a:xfrm>
            <a:off x="4545482" y="4334256"/>
            <a:ext cx="3100730" cy="126187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A domain score is an IT conversation. Two named users creating sixty one percent of the bad records is a sales management conversation, and sales management has a budget that IT does not.</a:t>
            </a:r>
            <a:endParaRPr b="0" i="0" sz="1150" u="none" cap="none" strike="noStrike">
              <a:solidFill>
                <a:schemeClr val="dk1"/>
              </a:solidFill>
              <a:latin typeface="Calibri"/>
              <a:ea typeface="Calibri"/>
              <a:cs typeface="Calibri"/>
              <a:sym typeface="Calibri"/>
            </a:endParaRPr>
          </a:p>
        </p:txBody>
      </p:sp>
      <p:sp>
        <p:nvSpPr>
          <p:cNvPr id="1836" name="Google Shape;1836;p30"/>
          <p:cNvSpPr/>
          <p:nvPr/>
        </p:nvSpPr>
        <p:spPr>
          <a:xfrm>
            <a:off x="8085125" y="3657600"/>
            <a:ext cx="3539642" cy="2103120"/>
          </a:xfrm>
          <a:prstGeom prst="roundRect">
            <a:avLst>
              <a:gd fmla="val 3913" name="adj"/>
            </a:avLst>
          </a:prstGeom>
          <a:solidFill>
            <a:srgbClr val="F4F6F8"/>
          </a:solidFill>
          <a:ln cap="flat" cmpd="sng" w="9525">
            <a:solidFill>
              <a:srgbClr val="DCDF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0"/>
          <p:cNvSpPr/>
          <p:nvPr/>
        </p:nvSpPr>
        <p:spPr>
          <a:xfrm>
            <a:off x="8304581" y="3840480"/>
            <a:ext cx="3100730" cy="45720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1B1F24"/>
              </a:buClr>
              <a:buSzPts val="1500"/>
              <a:buFont typeface="Cambria"/>
              <a:buNone/>
            </a:pPr>
            <a:r>
              <a:rPr b="1" i="0" lang="en-US" sz="1500" u="none" cap="none" strike="noStrike">
                <a:solidFill>
                  <a:srgbClr val="1B1F24"/>
                </a:solidFill>
                <a:latin typeface="Cambria"/>
                <a:ea typeface="Cambria"/>
                <a:cs typeface="Cambria"/>
                <a:sym typeface="Cambria"/>
              </a:rPr>
              <a:t>Where the margin is</a:t>
            </a:r>
            <a:endParaRPr b="0" i="0" sz="1500" u="none" cap="none" strike="noStrike">
              <a:solidFill>
                <a:schemeClr val="dk1"/>
              </a:solidFill>
              <a:latin typeface="Calibri"/>
              <a:ea typeface="Calibri"/>
              <a:cs typeface="Calibri"/>
              <a:sym typeface="Calibri"/>
            </a:endParaRPr>
          </a:p>
        </p:txBody>
      </p:sp>
      <p:sp>
        <p:nvSpPr>
          <p:cNvPr id="1838" name="Google Shape;1838;p30"/>
          <p:cNvSpPr/>
          <p:nvPr/>
        </p:nvSpPr>
        <p:spPr>
          <a:xfrm>
            <a:off x="8304581" y="4334256"/>
            <a:ext cx="3100730" cy="126187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B7280"/>
              </a:buClr>
              <a:buSzPts val="1150"/>
              <a:buFont typeface="Calibri"/>
              <a:buNone/>
            </a:pPr>
            <a:r>
              <a:rPr b="0" i="0" lang="en-US" sz="1150" u="none" cap="none" strike="noStrike">
                <a:solidFill>
                  <a:srgbClr val="6B7280"/>
                </a:solidFill>
                <a:latin typeface="Calibri"/>
                <a:ea typeface="Calibri"/>
                <a:cs typeface="Calibri"/>
                <a:sym typeface="Calibri"/>
              </a:rPr>
              <a:t>Remediation, because the scan already told us the exact record counts. We quote a fixed price on measured volume instead of guessing, and the estimate risk falls to near zero.</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3" name="Shape 1843"/>
        <p:cNvGrpSpPr/>
        <p:nvPr/>
      </p:nvGrpSpPr>
      <p:grpSpPr>
        <a:xfrm>
          <a:off x="0" y="0"/>
          <a:ext cx="0" cy="0"/>
          <a:chOff x="0" y="0"/>
          <a:chExt cx="0" cy="0"/>
        </a:xfrm>
      </p:grpSpPr>
      <p:sp>
        <p:nvSpPr>
          <p:cNvPr id="1844" name="Google Shape;1844;p31"/>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1F24"/>
              </a:buClr>
              <a:buSzPts val="3000"/>
              <a:buFont typeface="Cambria"/>
              <a:buNone/>
            </a:pPr>
            <a:r>
              <a:rPr b="1" i="0" lang="en-US" sz="3000" u="none" cap="none" strike="noStrike">
                <a:solidFill>
                  <a:srgbClr val="1B1F24"/>
                </a:solidFill>
                <a:latin typeface="Cambria"/>
                <a:ea typeface="Cambria"/>
                <a:cs typeface="Cambria"/>
                <a:sym typeface="Cambria"/>
              </a:rPr>
              <a:t>Risks and how we handle them</a:t>
            </a:r>
            <a:endParaRPr b="0" i="0" sz="3000" u="none" cap="none" strike="noStrike">
              <a:solidFill>
                <a:schemeClr val="dk1"/>
              </a:solidFill>
              <a:latin typeface="Calibri"/>
              <a:ea typeface="Calibri"/>
              <a:cs typeface="Calibri"/>
              <a:sym typeface="Calibri"/>
            </a:endParaRPr>
          </a:p>
        </p:txBody>
      </p:sp>
      <p:sp>
        <p:nvSpPr>
          <p:cNvPr id="1845" name="Google Shape;1845;p31"/>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280"/>
              </a:buClr>
              <a:buSzPts val="1350"/>
              <a:buFont typeface="Calibri"/>
              <a:buNone/>
            </a:pPr>
            <a:r>
              <a:rPr b="0" i="1" lang="en-US" sz="1350" u="none" cap="none" strike="noStrike">
                <a:solidFill>
                  <a:srgbClr val="6B7280"/>
                </a:solidFill>
                <a:latin typeface="Calibri"/>
                <a:ea typeface="Calibri"/>
                <a:cs typeface="Calibri"/>
                <a:sym typeface="Calibri"/>
              </a:rPr>
              <a:t>Version two adds a new risk category. The user lens can damage a client relationship if it is handled badly.</a:t>
            </a:r>
            <a:endParaRPr b="0" i="0" sz="1350" u="none" cap="none" strike="noStrike">
              <a:solidFill>
                <a:schemeClr val="dk1"/>
              </a:solidFill>
              <a:latin typeface="Calibri"/>
              <a:ea typeface="Calibri"/>
              <a:cs typeface="Calibri"/>
              <a:sym typeface="Calibri"/>
            </a:endParaRPr>
          </a:p>
        </p:txBody>
      </p:sp>
      <p:sp>
        <p:nvSpPr>
          <p:cNvPr id="1846" name="Google Shape;1846;p31"/>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847" name="Google Shape;1847;p31"/>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2A9B2"/>
              </a:buClr>
              <a:buSzPts val="950"/>
              <a:buFont typeface="Calibri"/>
              <a:buNone/>
            </a:pPr>
            <a:r>
              <a:rPr b="0" i="0" lang="en-US" sz="950" u="none" cap="none" strike="noStrike">
                <a:solidFill>
                  <a:srgbClr val="A2A9B2"/>
                </a:solidFill>
                <a:latin typeface="Calibri"/>
                <a:ea typeface="Calibri"/>
                <a:cs typeface="Calibri"/>
                <a:sym typeface="Calibri"/>
              </a:rPr>
              <a:t>31</a:t>
            </a:r>
            <a:endParaRPr b="0" i="0" sz="950" u="none" cap="none" strike="noStrike">
              <a:solidFill>
                <a:schemeClr val="dk1"/>
              </a:solidFill>
              <a:latin typeface="Calibri"/>
              <a:ea typeface="Calibri"/>
              <a:cs typeface="Calibri"/>
              <a:sym typeface="Calibri"/>
            </a:endParaRPr>
          </a:p>
        </p:txBody>
      </p:sp>
      <p:graphicFrame>
        <p:nvGraphicFramePr>
          <p:cNvPr id="1848" name="Google Shape;1848;p31"/>
          <p:cNvGraphicFramePr/>
          <p:nvPr/>
        </p:nvGraphicFramePr>
        <p:xfrm>
          <a:off x="566928" y="1517904"/>
          <a:ext cx="3000000" cy="3000000"/>
        </p:xfrm>
        <a:graphic>
          <a:graphicData uri="http://schemas.openxmlformats.org/drawingml/2006/table">
            <a:tbl>
              <a:tblPr>
                <a:noFill/>
                <a:tableStyleId>{B0F36C2E-0004-4DC9-A81D-5D709A412D0E}</a:tableStyleId>
              </a:tblPr>
              <a:tblGrid>
                <a:gridCol w="2194550"/>
                <a:gridCol w="3840475"/>
                <a:gridCol w="5020050"/>
              </a:tblGrid>
              <a:tr h="603500">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Risk</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What it looks like</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c>
                  <a:txBody>
                    <a:bodyPr/>
                    <a:lstStyle/>
                    <a:p>
                      <a:pPr indent="0" lvl="0" marL="0" marR="0" rtl="0" algn="l">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How we handle it</a:t>
                      </a:r>
                      <a:endParaRPr sz="115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046B73"/>
                    </a:solidFill>
                  </a:tcPr>
                </a:tc>
              </a:tr>
              <a:tr h="6035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The user lens becomes a weapon</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A client uses the ranking in a performance review. Word spreads, reps stop creating records, and the client loses more data than we cleaned.</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Coaching bands rather than ranks, movement shown before position, a written presentation protocol, and we say the sentence out loud in every walkthrough. If a client insists on using it punitively, we withhold the individual view and supply team level only.</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6035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A false suspicious flag</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The tool accuses a named user of fabricating records. Twenty are checked and six are legitimate. The damage is personal and permanent.</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Plausibility rules validated against the seeded org, confidence stated on every flag, minimum burst size before a flag, and the reason always shown so it is verified with us rather than after us.</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6035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Scan degrades a production org</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Bulk Read jobs saturate the credit pool and the client cannot use CRM during business hours.</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Hard credit ceiling per run, date bounded extraction, throttle back off, sandbox first where available, and full scans scheduled outside working hours by default.</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r h="6035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An action centre write goes wrong</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A mechanical fix normalises nine thousand phone numbers incorrectly and there is no way back.</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Preview before every write showing exact before and after values, snapshot taken before the first API call, one click rollback for ninety days, and no action runs without an explicit confirmation.</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FFFFF"/>
                    </a:solidFill>
                  </a:tcPr>
                </a:tc>
              </a:tr>
              <a:tr h="603500">
                <a:tc>
                  <a:txBody>
                    <a:bodyPr/>
                    <a:lstStyle/>
                    <a:p>
                      <a:pPr indent="0" lvl="0" marL="0" marR="0" rtl="0" algn="l">
                        <a:spcBef>
                          <a:spcPts val="0"/>
                        </a:spcBef>
                        <a:spcAft>
                          <a:spcPts val="0"/>
                        </a:spcAft>
                        <a:buClr>
                          <a:srgbClr val="1B1F24"/>
                        </a:buClr>
                        <a:buSzPts val="920"/>
                        <a:buFont typeface="Calibri"/>
                        <a:buNone/>
                      </a:pPr>
                      <a:r>
                        <a:rPr b="1" lang="en-US" sz="920" u="none" cap="none" strike="noStrike">
                          <a:solidFill>
                            <a:srgbClr val="1B1F24"/>
                          </a:solidFill>
                          <a:latin typeface="Calibri"/>
                          <a:ea typeface="Calibri"/>
                          <a:cs typeface="Calibri"/>
                          <a:sym typeface="Calibri"/>
                        </a:rPr>
                        <a:t>We become the data processor</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The client asks who is accountable for the extracted records under the DPDP Act.</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c>
                  <a:txBody>
                    <a:bodyPr/>
                    <a:lstStyle/>
                    <a:p>
                      <a:pPr indent="0" lvl="0" marL="0" marR="0" rtl="0" algn="l">
                        <a:spcBef>
                          <a:spcPts val="0"/>
                        </a:spcBef>
                        <a:spcAft>
                          <a:spcPts val="0"/>
                        </a:spcAft>
                        <a:buClr>
                          <a:srgbClr val="1B1F24"/>
                        </a:buClr>
                        <a:buSzPts val="920"/>
                        <a:buFont typeface="Calibri"/>
                        <a:buNone/>
                      </a:pPr>
                      <a:r>
                        <a:rPr lang="en-US" sz="920" u="none" cap="none" strike="noStrike">
                          <a:solidFill>
                            <a:srgbClr val="1B1F24"/>
                          </a:solidFill>
                          <a:latin typeface="Calibri"/>
                          <a:ea typeface="Calibri"/>
                          <a:cs typeface="Calibri"/>
                          <a:sym typeface="Calibri"/>
                        </a:rPr>
                        <a:t>Field values discarded after evaluation. Only identifiers, states and dimension keys persist, all inside the client region. Documented before the first scan, not after.</a:t>
                      </a:r>
                      <a:endParaRPr sz="920" u="none" cap="none" strike="noStrike">
                        <a:latin typeface="Calibri"/>
                        <a:ea typeface="Calibri"/>
                        <a:cs typeface="Calibri"/>
                        <a:sym typeface="Calibri"/>
                      </a:endParaRPr>
                    </a:p>
                  </a:txBody>
                  <a:tcPr marT="54875" marB="54875" marR="91450" marL="91450" anchor="ctr">
                    <a:lnL cap="flat" cmpd="sng" w="9525">
                      <a:solidFill>
                        <a:srgbClr val="DCDFE3"/>
                      </a:solidFill>
                      <a:prstDash val="solid"/>
                      <a:round/>
                      <a:headEnd len="sm" w="sm" type="none"/>
                      <a:tailEnd len="sm" w="sm" type="none"/>
                    </a:lnL>
                    <a:lnR cap="flat" cmpd="sng" w="9525">
                      <a:solidFill>
                        <a:srgbClr val="DCDFE3"/>
                      </a:solidFill>
                      <a:prstDash val="solid"/>
                      <a:round/>
                      <a:headEnd len="sm" w="sm" type="none"/>
                      <a:tailEnd len="sm" w="sm" type="none"/>
                    </a:lnR>
                    <a:lnT cap="flat" cmpd="sng" w="9525">
                      <a:solidFill>
                        <a:srgbClr val="DCDFE3"/>
                      </a:solidFill>
                      <a:prstDash val="solid"/>
                      <a:round/>
                      <a:headEnd len="sm" w="sm" type="none"/>
                      <a:tailEnd len="sm" w="sm" type="none"/>
                    </a:lnT>
                    <a:lnB cap="flat" cmpd="sng" w="9525">
                      <a:solidFill>
                        <a:srgbClr val="DCDFE3"/>
                      </a:solidFill>
                      <a:prstDash val="solid"/>
                      <a:round/>
                      <a:headEnd len="sm" w="sm" type="none"/>
                      <a:tailEnd len="sm" w="sm" type="none"/>
                    </a:lnB>
                    <a:solidFill>
                      <a:srgbClr val="F4F6F8"/>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2A30"/>
        </a:solidFill>
      </p:bgPr>
    </p:bg>
    <p:spTree>
      <p:nvGrpSpPr>
        <p:cNvPr id="1853" name="Shape 1853"/>
        <p:cNvGrpSpPr/>
        <p:nvPr/>
      </p:nvGrpSpPr>
      <p:grpSpPr>
        <a:xfrm>
          <a:off x="0" y="0"/>
          <a:ext cx="0" cy="0"/>
          <a:chOff x="0" y="0"/>
          <a:chExt cx="0" cy="0"/>
        </a:xfrm>
      </p:grpSpPr>
      <p:sp>
        <p:nvSpPr>
          <p:cNvPr id="1854" name="Google Shape;1854;p32"/>
          <p:cNvSpPr/>
          <p:nvPr/>
        </p:nvSpPr>
        <p:spPr>
          <a:xfrm>
            <a:off x="566928" y="402336"/>
            <a:ext cx="9960559"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The next fourteen days</a:t>
            </a:r>
            <a:endParaRPr b="0" i="0" sz="3000" u="none" cap="none" strike="noStrike">
              <a:solidFill>
                <a:schemeClr val="dk1"/>
              </a:solidFill>
              <a:latin typeface="Calibri"/>
              <a:ea typeface="Calibri"/>
              <a:cs typeface="Calibri"/>
              <a:sym typeface="Calibri"/>
            </a:endParaRPr>
          </a:p>
        </p:txBody>
      </p:sp>
      <p:sp>
        <p:nvSpPr>
          <p:cNvPr id="1855" name="Google Shape;1855;p32"/>
          <p:cNvSpPr/>
          <p:nvPr/>
        </p:nvSpPr>
        <p:spPr>
          <a:xfrm>
            <a:off x="566928" y="941832"/>
            <a:ext cx="9960559"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4E6"/>
              </a:buClr>
              <a:buSzPts val="1350"/>
              <a:buFont typeface="Calibri"/>
              <a:buNone/>
            </a:pPr>
            <a:r>
              <a:rPr b="0" i="1" lang="en-US" sz="1350" u="none" cap="none" strike="noStrike">
                <a:solidFill>
                  <a:srgbClr val="CFE4E6"/>
                </a:solidFill>
                <a:latin typeface="Calibri"/>
                <a:ea typeface="Calibri"/>
                <a:cs typeface="Calibri"/>
                <a:sym typeface="Calibri"/>
              </a:rPr>
              <a:t>Nothing here needs budget approval or a new hire.</a:t>
            </a:r>
            <a:endParaRPr b="0" i="0" sz="1350" u="none" cap="none" strike="noStrike">
              <a:solidFill>
                <a:schemeClr val="dk1"/>
              </a:solidFill>
              <a:latin typeface="Calibri"/>
              <a:ea typeface="Calibri"/>
              <a:cs typeface="Calibri"/>
              <a:sym typeface="Calibri"/>
            </a:endParaRPr>
          </a:p>
        </p:txBody>
      </p:sp>
      <p:sp>
        <p:nvSpPr>
          <p:cNvPr id="1856" name="Google Shape;1856;p32"/>
          <p:cNvSpPr/>
          <p:nvPr/>
        </p:nvSpPr>
        <p:spPr>
          <a:xfrm>
            <a:off x="566928" y="6345936"/>
            <a:ext cx="10143439"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B8BD"/>
              </a:buClr>
              <a:buSzPts val="950"/>
              <a:buFont typeface="Calibri"/>
              <a:buNone/>
            </a:pPr>
            <a:r>
              <a:rPr b="0" i="0" lang="en-US" sz="950" u="none" cap="none" strike="noStrike">
                <a:solidFill>
                  <a:srgbClr val="7FB8BD"/>
                </a:solidFill>
                <a:latin typeface="Calibri"/>
                <a:ea typeface="Calibri"/>
                <a:cs typeface="Calibri"/>
                <a:sym typeface="Calibri"/>
              </a:rPr>
              <a:t>FI Digital  |  Accelerator 01  |  Zoho Data Health Scanner  ·  v2</a:t>
            </a:r>
            <a:endParaRPr b="0" i="0" sz="950" u="none" cap="none" strike="noStrike">
              <a:solidFill>
                <a:schemeClr val="dk1"/>
              </a:solidFill>
              <a:latin typeface="Calibri"/>
              <a:ea typeface="Calibri"/>
              <a:cs typeface="Calibri"/>
              <a:sym typeface="Calibri"/>
            </a:endParaRPr>
          </a:p>
        </p:txBody>
      </p:sp>
      <p:sp>
        <p:nvSpPr>
          <p:cNvPr id="1857" name="Google Shape;1857;p32"/>
          <p:cNvSpPr/>
          <p:nvPr/>
        </p:nvSpPr>
        <p:spPr>
          <a:xfrm>
            <a:off x="11076127" y="6345936"/>
            <a:ext cx="548640" cy="2560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7FB8BD"/>
              </a:buClr>
              <a:buSzPts val="950"/>
              <a:buFont typeface="Calibri"/>
              <a:buNone/>
            </a:pPr>
            <a:r>
              <a:rPr b="0" i="0" lang="en-US" sz="950" u="none" cap="none" strike="noStrike">
                <a:solidFill>
                  <a:srgbClr val="7FB8BD"/>
                </a:solidFill>
                <a:latin typeface="Calibri"/>
                <a:ea typeface="Calibri"/>
                <a:cs typeface="Calibri"/>
                <a:sym typeface="Calibri"/>
              </a:rPr>
              <a:t>32</a:t>
            </a:r>
            <a:endParaRPr b="0" i="0" sz="950" u="none" cap="none" strike="noStrike">
              <a:solidFill>
                <a:schemeClr val="dk1"/>
              </a:solidFill>
              <a:latin typeface="Calibri"/>
              <a:ea typeface="Calibri"/>
              <a:cs typeface="Calibri"/>
              <a:sym typeface="Calibri"/>
            </a:endParaRPr>
          </a:p>
        </p:txBody>
      </p:sp>
      <p:sp>
        <p:nvSpPr>
          <p:cNvPr id="1858" name="Google Shape;1858;p32"/>
          <p:cNvSpPr/>
          <p:nvPr/>
        </p:nvSpPr>
        <p:spPr>
          <a:xfrm>
            <a:off x="566928" y="1627632"/>
            <a:ext cx="11057839" cy="640080"/>
          </a:xfrm>
          <a:prstGeom prst="roundRect">
            <a:avLst>
              <a:gd fmla="val 10000"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32"/>
          <p:cNvSpPr/>
          <p:nvPr/>
        </p:nvSpPr>
        <p:spPr>
          <a:xfrm>
            <a:off x="713232" y="1764792"/>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32"/>
          <p:cNvSpPr/>
          <p:nvPr/>
        </p:nvSpPr>
        <p:spPr>
          <a:xfrm>
            <a:off x="713232" y="1764792"/>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861" name="Google Shape;1861;p32"/>
          <p:cNvSpPr/>
          <p:nvPr/>
        </p:nvSpPr>
        <p:spPr>
          <a:xfrm>
            <a:off x="1188720" y="1673352"/>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Day 1 to 2</a:t>
            </a:r>
            <a:endParaRPr b="0" i="0" sz="1300" u="none" cap="none" strike="noStrike">
              <a:solidFill>
                <a:schemeClr val="dk1"/>
              </a:solidFill>
              <a:latin typeface="Calibri"/>
              <a:ea typeface="Calibri"/>
              <a:cs typeface="Calibri"/>
              <a:sym typeface="Calibri"/>
            </a:endParaRPr>
          </a:p>
        </p:txBody>
      </p:sp>
      <p:sp>
        <p:nvSpPr>
          <p:cNvPr id="1862" name="Google Shape;1862;p32"/>
          <p:cNvSpPr/>
          <p:nvPr/>
        </p:nvSpPr>
        <p:spPr>
          <a:xfrm>
            <a:off x="3246120" y="1673352"/>
            <a:ext cx="8195767"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FE4E6"/>
              </a:buClr>
              <a:buSzPts val="1150"/>
              <a:buFont typeface="Calibri"/>
              <a:buNone/>
            </a:pPr>
            <a:r>
              <a:rPr b="0" i="0" lang="en-US" sz="1150" u="none" cap="none" strike="noStrike">
                <a:solidFill>
                  <a:srgbClr val="CFE4E6"/>
                </a:solidFill>
                <a:latin typeface="Calibri"/>
                <a:ea typeface="Calibri"/>
                <a:cs typeface="Calibri"/>
                <a:sym typeface="Calibri"/>
              </a:rPr>
              <a:t>Assign the owner and the review gate. Agree the six record states and the nine domain weights in a single one hour session with delivery present.</a:t>
            </a:r>
            <a:endParaRPr b="0" i="0" sz="1150" u="none" cap="none" strike="noStrike">
              <a:solidFill>
                <a:schemeClr val="dk1"/>
              </a:solidFill>
              <a:latin typeface="Calibri"/>
              <a:ea typeface="Calibri"/>
              <a:cs typeface="Calibri"/>
              <a:sym typeface="Calibri"/>
            </a:endParaRPr>
          </a:p>
        </p:txBody>
      </p:sp>
      <p:sp>
        <p:nvSpPr>
          <p:cNvPr id="1863" name="Google Shape;1863;p32"/>
          <p:cNvSpPr/>
          <p:nvPr/>
        </p:nvSpPr>
        <p:spPr>
          <a:xfrm>
            <a:off x="566928" y="2377440"/>
            <a:ext cx="11057839" cy="640080"/>
          </a:xfrm>
          <a:prstGeom prst="roundRect">
            <a:avLst>
              <a:gd fmla="val 10000"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32"/>
          <p:cNvSpPr/>
          <p:nvPr/>
        </p:nvSpPr>
        <p:spPr>
          <a:xfrm>
            <a:off x="713232" y="2514600"/>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32"/>
          <p:cNvSpPr/>
          <p:nvPr/>
        </p:nvSpPr>
        <p:spPr>
          <a:xfrm>
            <a:off x="713232" y="2514600"/>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866" name="Google Shape;1866;p32"/>
          <p:cNvSpPr/>
          <p:nvPr/>
        </p:nvSpPr>
        <p:spPr>
          <a:xfrm>
            <a:off x="1188720" y="2423160"/>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Day 3 to 5</a:t>
            </a:r>
            <a:endParaRPr b="0" i="0" sz="1300" u="none" cap="none" strike="noStrike">
              <a:solidFill>
                <a:schemeClr val="dk1"/>
              </a:solidFill>
              <a:latin typeface="Calibri"/>
              <a:ea typeface="Calibri"/>
              <a:cs typeface="Calibri"/>
              <a:sym typeface="Calibri"/>
            </a:endParaRPr>
          </a:p>
        </p:txBody>
      </p:sp>
      <p:sp>
        <p:nvSpPr>
          <p:cNvPr id="1867" name="Google Shape;1867;p32"/>
          <p:cNvSpPr/>
          <p:nvPr/>
        </p:nvSpPr>
        <p:spPr>
          <a:xfrm>
            <a:off x="3246120" y="2423160"/>
            <a:ext cx="8195767"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FE4E6"/>
              </a:buClr>
              <a:buSzPts val="1150"/>
              <a:buFont typeface="Calibri"/>
              <a:buNone/>
            </a:pPr>
            <a:r>
              <a:rPr b="0" i="0" lang="en-US" sz="1150" u="none" cap="none" strike="noStrike">
                <a:solidFill>
                  <a:srgbClr val="CFE4E6"/>
                </a:solidFill>
                <a:latin typeface="Calibri"/>
                <a:ea typeface="Calibri"/>
                <a:cs typeface="Calibri"/>
                <a:sym typeface="Calibri"/>
              </a:rPr>
              <a:t>Build the seeded test org. Planted format defects, planted duplicates, planted suspicious bursts and a fake user set. This is the acceptance harness, so it comes before any code.</a:t>
            </a:r>
            <a:endParaRPr b="0" i="0" sz="1150" u="none" cap="none" strike="noStrike">
              <a:solidFill>
                <a:schemeClr val="dk1"/>
              </a:solidFill>
              <a:latin typeface="Calibri"/>
              <a:ea typeface="Calibri"/>
              <a:cs typeface="Calibri"/>
              <a:sym typeface="Calibri"/>
            </a:endParaRPr>
          </a:p>
        </p:txBody>
      </p:sp>
      <p:sp>
        <p:nvSpPr>
          <p:cNvPr id="1868" name="Google Shape;1868;p32"/>
          <p:cNvSpPr/>
          <p:nvPr/>
        </p:nvSpPr>
        <p:spPr>
          <a:xfrm>
            <a:off x="566928" y="3127248"/>
            <a:ext cx="11057839" cy="640080"/>
          </a:xfrm>
          <a:prstGeom prst="roundRect">
            <a:avLst>
              <a:gd fmla="val 10000"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32"/>
          <p:cNvSpPr/>
          <p:nvPr/>
        </p:nvSpPr>
        <p:spPr>
          <a:xfrm>
            <a:off x="713232" y="3264408"/>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32"/>
          <p:cNvSpPr/>
          <p:nvPr/>
        </p:nvSpPr>
        <p:spPr>
          <a:xfrm>
            <a:off x="713232" y="3264408"/>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871" name="Google Shape;1871;p32"/>
          <p:cNvSpPr/>
          <p:nvPr/>
        </p:nvSpPr>
        <p:spPr>
          <a:xfrm>
            <a:off x="1188720" y="3172968"/>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Day 6 to 10</a:t>
            </a:r>
            <a:endParaRPr b="0" i="0" sz="1300" u="none" cap="none" strike="noStrike">
              <a:solidFill>
                <a:schemeClr val="dk1"/>
              </a:solidFill>
              <a:latin typeface="Calibri"/>
              <a:ea typeface="Calibri"/>
              <a:cs typeface="Calibri"/>
              <a:sym typeface="Calibri"/>
            </a:endParaRPr>
          </a:p>
        </p:txBody>
      </p:sp>
      <p:sp>
        <p:nvSpPr>
          <p:cNvPr id="1872" name="Google Shape;1872;p32"/>
          <p:cNvSpPr/>
          <p:nvPr/>
        </p:nvSpPr>
        <p:spPr>
          <a:xfrm>
            <a:off x="3246120" y="3172968"/>
            <a:ext cx="8195767"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FE4E6"/>
              </a:buClr>
              <a:buSzPts val="1150"/>
              <a:buFont typeface="Calibri"/>
              <a:buNone/>
            </a:pPr>
            <a:r>
              <a:rPr b="0" i="0" lang="en-US" sz="1150" u="none" cap="none" strike="noStrike">
                <a:solidFill>
                  <a:srgbClr val="CFE4E6"/>
                </a:solidFill>
                <a:latin typeface="Calibri"/>
                <a:ea typeface="Calibri"/>
                <a:cs typeface="Calibri"/>
                <a:sym typeface="Calibri"/>
              </a:rPr>
              <a:t>Sprint 1. Access layer and collector working against two internal orgs, with date bounded extraction proven from day one rather than retrofitted.</a:t>
            </a:r>
            <a:endParaRPr b="0" i="0" sz="1150" u="none" cap="none" strike="noStrike">
              <a:solidFill>
                <a:schemeClr val="dk1"/>
              </a:solidFill>
              <a:latin typeface="Calibri"/>
              <a:ea typeface="Calibri"/>
              <a:cs typeface="Calibri"/>
              <a:sym typeface="Calibri"/>
            </a:endParaRPr>
          </a:p>
        </p:txBody>
      </p:sp>
      <p:sp>
        <p:nvSpPr>
          <p:cNvPr id="1873" name="Google Shape;1873;p32"/>
          <p:cNvSpPr/>
          <p:nvPr/>
        </p:nvSpPr>
        <p:spPr>
          <a:xfrm>
            <a:off x="566928" y="3877056"/>
            <a:ext cx="11057839" cy="640080"/>
          </a:xfrm>
          <a:prstGeom prst="roundRect">
            <a:avLst>
              <a:gd fmla="val 10000"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2"/>
          <p:cNvSpPr/>
          <p:nvPr/>
        </p:nvSpPr>
        <p:spPr>
          <a:xfrm>
            <a:off x="713232" y="4014216"/>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2"/>
          <p:cNvSpPr/>
          <p:nvPr/>
        </p:nvSpPr>
        <p:spPr>
          <a:xfrm>
            <a:off x="713232" y="4014216"/>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876" name="Google Shape;1876;p32"/>
          <p:cNvSpPr/>
          <p:nvPr/>
        </p:nvSpPr>
        <p:spPr>
          <a:xfrm>
            <a:off x="1188720" y="3922776"/>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Day 11 to 12</a:t>
            </a:r>
            <a:endParaRPr b="0" i="0" sz="1300" u="none" cap="none" strike="noStrike">
              <a:solidFill>
                <a:schemeClr val="dk1"/>
              </a:solidFill>
              <a:latin typeface="Calibri"/>
              <a:ea typeface="Calibri"/>
              <a:cs typeface="Calibri"/>
              <a:sym typeface="Calibri"/>
            </a:endParaRPr>
          </a:p>
        </p:txBody>
      </p:sp>
      <p:sp>
        <p:nvSpPr>
          <p:cNvPr id="1877" name="Google Shape;1877;p32"/>
          <p:cNvSpPr/>
          <p:nvPr/>
        </p:nvSpPr>
        <p:spPr>
          <a:xfrm>
            <a:off x="3246120" y="3922776"/>
            <a:ext cx="8195767"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FE4E6"/>
              </a:buClr>
              <a:buSzPts val="1150"/>
              <a:buFont typeface="Calibri"/>
              <a:buNone/>
            </a:pPr>
            <a:r>
              <a:rPr b="0" i="0" lang="en-US" sz="1150" u="none" cap="none" strike="noStrike">
                <a:solidFill>
                  <a:srgbClr val="CFE4E6"/>
                </a:solidFill>
                <a:latin typeface="Calibri"/>
                <a:ea typeface="Calibri"/>
                <a:cs typeface="Calibri"/>
                <a:sym typeface="Calibri"/>
              </a:rPr>
              <a:t>Write the rule catalogue as a document. Seventy rules, each with a definition, a state, a severity, a fix mechanism and a prevention control, reviewed by delivery before anyone writes an evaluator.</a:t>
            </a:r>
            <a:endParaRPr b="0" i="0" sz="1150" u="none" cap="none" strike="noStrike">
              <a:solidFill>
                <a:schemeClr val="dk1"/>
              </a:solidFill>
              <a:latin typeface="Calibri"/>
              <a:ea typeface="Calibri"/>
              <a:cs typeface="Calibri"/>
              <a:sym typeface="Calibri"/>
            </a:endParaRPr>
          </a:p>
        </p:txBody>
      </p:sp>
      <p:sp>
        <p:nvSpPr>
          <p:cNvPr id="1878" name="Google Shape;1878;p32"/>
          <p:cNvSpPr/>
          <p:nvPr/>
        </p:nvSpPr>
        <p:spPr>
          <a:xfrm>
            <a:off x="566928" y="4626864"/>
            <a:ext cx="11057839" cy="640080"/>
          </a:xfrm>
          <a:prstGeom prst="roundRect">
            <a:avLst>
              <a:gd fmla="val 10000" name="adj"/>
            </a:avLst>
          </a:prstGeom>
          <a:solidFill>
            <a:srgbClr val="0E3C44"/>
          </a:solidFill>
          <a:ln cap="flat" cmpd="sng" w="9525">
            <a:solidFill>
              <a:srgbClr val="0E3C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2"/>
          <p:cNvSpPr/>
          <p:nvPr/>
        </p:nvSpPr>
        <p:spPr>
          <a:xfrm>
            <a:off x="713232" y="4764024"/>
            <a:ext cx="365760" cy="365760"/>
          </a:xfrm>
          <a:prstGeom prst="ellipse">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32"/>
          <p:cNvSpPr/>
          <p:nvPr/>
        </p:nvSpPr>
        <p:spPr>
          <a:xfrm>
            <a:off x="713232" y="4764024"/>
            <a:ext cx="3657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1881" name="Google Shape;1881;p32"/>
          <p:cNvSpPr/>
          <p:nvPr/>
        </p:nvSpPr>
        <p:spPr>
          <a:xfrm>
            <a:off x="1188720" y="4672584"/>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i="0" lang="en-US" sz="1300" u="none" cap="none" strike="noStrike">
                <a:solidFill>
                  <a:srgbClr val="FFFFFF"/>
                </a:solidFill>
                <a:latin typeface="Cambria"/>
                <a:ea typeface="Cambria"/>
                <a:cs typeface="Cambria"/>
                <a:sym typeface="Cambria"/>
              </a:rPr>
              <a:t>Day 13 to 14</a:t>
            </a:r>
            <a:endParaRPr b="0" i="0" sz="1300" u="none" cap="none" strike="noStrike">
              <a:solidFill>
                <a:schemeClr val="dk1"/>
              </a:solidFill>
              <a:latin typeface="Calibri"/>
              <a:ea typeface="Calibri"/>
              <a:cs typeface="Calibri"/>
              <a:sym typeface="Calibri"/>
            </a:endParaRPr>
          </a:p>
        </p:txBody>
      </p:sp>
      <p:sp>
        <p:nvSpPr>
          <p:cNvPr id="1882" name="Google Shape;1882;p32"/>
          <p:cNvSpPr/>
          <p:nvPr/>
        </p:nvSpPr>
        <p:spPr>
          <a:xfrm>
            <a:off x="3246120" y="4672584"/>
            <a:ext cx="8195767"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FE4E6"/>
              </a:buClr>
              <a:buSzPts val="1150"/>
              <a:buFont typeface="Calibri"/>
              <a:buNone/>
            </a:pPr>
            <a:r>
              <a:rPr b="0" i="0" lang="en-US" sz="1150" u="none" cap="none" strike="noStrike">
                <a:solidFill>
                  <a:srgbClr val="CFE4E6"/>
                </a:solidFill>
                <a:latin typeface="Calibri"/>
                <a:ea typeface="Calibri"/>
                <a:cs typeface="Calibri"/>
                <a:sym typeface="Calibri"/>
              </a:rPr>
              <a:t>First review gate. Confirm the cube design, because every screen in version two depends on it and changing it later means rebuilding all six.</a:t>
            </a:r>
            <a:endParaRPr b="0" i="0" sz="1150" u="none" cap="none" strike="noStrike">
              <a:solidFill>
                <a:schemeClr val="dk1"/>
              </a:solidFill>
              <a:latin typeface="Calibri"/>
              <a:ea typeface="Calibri"/>
              <a:cs typeface="Calibri"/>
              <a:sym typeface="Calibri"/>
            </a:endParaRPr>
          </a:p>
        </p:txBody>
      </p:sp>
      <p:sp>
        <p:nvSpPr>
          <p:cNvPr id="1883" name="Google Shape;1883;p32"/>
          <p:cNvSpPr/>
          <p:nvPr/>
        </p:nvSpPr>
        <p:spPr>
          <a:xfrm>
            <a:off x="566928" y="5468112"/>
            <a:ext cx="11057839" cy="603504"/>
          </a:xfrm>
          <a:prstGeom prst="roundRect">
            <a:avLst>
              <a:gd fmla="val 10606" name="adj"/>
            </a:avLst>
          </a:prstGeom>
          <a:solidFill>
            <a:srgbClr val="046B73"/>
          </a:solidFill>
          <a:ln cap="flat" cmpd="sng" w="12700">
            <a:solidFill>
              <a:srgbClr val="046B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32"/>
          <p:cNvSpPr/>
          <p:nvPr/>
        </p:nvSpPr>
        <p:spPr>
          <a:xfrm>
            <a:off x="749808" y="5468112"/>
            <a:ext cx="10692079"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One decision needed now: who owns this, and who is the review gate. Everything else follows from that.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2026-08-07T06:26:31Z</dcterms:created>
  <dc:creator>Fristine Infotech Pvt. Ltd. (FI Digital)</dc:creator>
</cp:coreProperties>
</file>